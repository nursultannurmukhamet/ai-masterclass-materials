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a54e614ae964939" /><Relationship Type="http://schemas.openxmlformats.org/officeDocument/2006/relationships/extended-properties" Target="/docProps/app.xml" Id="Ra04814dc87e545cf" /><Relationship Type="http://schemas.openxmlformats.org/officeDocument/2006/relationships/officeDocument" Target="/ppt/presentation.xml" Id="Rc03c9f8e13334df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7dc338ea3ca49e0"/>
  </p:sldMasterIdLst>
  <p:notesMasterIdLst>
    <p:notesMasterId xmlns:r="http://schemas.openxmlformats.org/officeDocument/2006/relationships" r:id="R2f49bee5c4514934"/>
  </p:notesMasterIdLst>
  <p:sldIdLst>
    <p:sldId xmlns:r="http://schemas.openxmlformats.org/officeDocument/2006/relationships" id="256" r:id="Rb6f6f33d7a3945c2"/>
    <p:sldId xmlns:r="http://schemas.openxmlformats.org/officeDocument/2006/relationships" id="257" r:id="R37e6957bd3164f6a"/>
    <p:sldId xmlns:r="http://schemas.openxmlformats.org/officeDocument/2006/relationships" id="258" r:id="Rf621940158054d37"/>
    <p:sldId xmlns:r="http://schemas.openxmlformats.org/officeDocument/2006/relationships" id="259" r:id="R9550d134ebff43c8"/>
    <p:sldId xmlns:r="http://schemas.openxmlformats.org/officeDocument/2006/relationships" id="260" r:id="Rc68aa0653d0c42a7"/>
    <p:sldId xmlns:r="http://schemas.openxmlformats.org/officeDocument/2006/relationships" id="261" r:id="R4efc9daf9f724473"/>
    <p:sldId xmlns:r="http://schemas.openxmlformats.org/officeDocument/2006/relationships" id="262" r:id="R7674f3e1a8d84e29"/>
    <p:sldId xmlns:r="http://schemas.openxmlformats.org/officeDocument/2006/relationships" id="263" r:id="Rea94074b26924a6f"/>
    <p:sldId xmlns:r="http://schemas.openxmlformats.org/officeDocument/2006/relationships" id="264" r:id="Rd1eb0ca736b641d3"/>
    <p:sldId xmlns:r="http://schemas.openxmlformats.org/officeDocument/2006/relationships" id="265" r:id="R7d0c0f0e4aaa4c92"/>
    <p:sldId xmlns:r="http://schemas.openxmlformats.org/officeDocument/2006/relationships" id="266" r:id="R486cf885a4854bd2"/>
    <p:sldId xmlns:r="http://schemas.openxmlformats.org/officeDocument/2006/relationships" id="267" r:id="Re2b6843124274f90"/>
    <p:sldId xmlns:r="http://schemas.openxmlformats.org/officeDocument/2006/relationships" id="268" r:id="Rebf5996a5f454a19"/>
    <p:sldId xmlns:r="http://schemas.openxmlformats.org/officeDocument/2006/relationships" id="269" r:id="R84a8db22864f47e4"/>
    <p:sldId xmlns:r="http://schemas.openxmlformats.org/officeDocument/2006/relationships" id="270" r:id="R657cdcb636c54d4a"/>
    <p:sldId xmlns:r="http://schemas.openxmlformats.org/officeDocument/2006/relationships" id="271" r:id="Rd46984a0db3f4e48"/>
    <p:sldId xmlns:r="http://schemas.openxmlformats.org/officeDocument/2006/relationships" id="272" r:id="Rb5101d459ad342e9"/>
    <p:sldId xmlns:r="http://schemas.openxmlformats.org/officeDocument/2006/relationships" id="273" r:id="R2d2aaba2ed054a2a"/>
    <p:sldId xmlns:r="http://schemas.openxmlformats.org/officeDocument/2006/relationships" id="274" r:id="Rabedc5381eba44cb"/>
    <p:sldId xmlns:r="http://schemas.openxmlformats.org/officeDocument/2006/relationships" id="275" r:id="Rbb66402695c44872"/>
    <p:sldId xmlns:r="http://schemas.openxmlformats.org/officeDocument/2006/relationships" id="276" r:id="Rb9667516f9f84cd8"/>
    <p:sldId xmlns:r="http://schemas.openxmlformats.org/officeDocument/2006/relationships" id="277" r:id="R00779c688c9f4096"/>
    <p:sldId xmlns:r="http://schemas.openxmlformats.org/officeDocument/2006/relationships" id="278" r:id="R67379a36758148d1"/>
    <p:sldId xmlns:r="http://schemas.openxmlformats.org/officeDocument/2006/relationships" id="279" r:id="R853d015933134134"/>
    <p:sldId xmlns:r="http://schemas.openxmlformats.org/officeDocument/2006/relationships" id="280" r:id="R2f9b1a9071734d8f"/>
    <p:sldId xmlns:r="http://schemas.openxmlformats.org/officeDocument/2006/relationships" id="281" r:id="R2e126cef43ac4ac4"/>
    <p:sldId xmlns:r="http://schemas.openxmlformats.org/officeDocument/2006/relationships" id="282" r:id="R85300109f4da48c7"/>
    <p:sldId xmlns:r="http://schemas.openxmlformats.org/officeDocument/2006/relationships" id="283" r:id="R3c5ee21f022845ff"/>
    <p:sldId xmlns:r="http://schemas.openxmlformats.org/officeDocument/2006/relationships" id="284" r:id="R8d736bbbac6e47b2"/>
    <p:sldId xmlns:r="http://schemas.openxmlformats.org/officeDocument/2006/relationships" id="285" r:id="R7b4512ce64b24d03"/>
    <p:sldId xmlns:r="http://schemas.openxmlformats.org/officeDocument/2006/relationships" id="286" r:id="Rb28322cd59954327"/>
    <p:sldId xmlns:r="http://schemas.openxmlformats.org/officeDocument/2006/relationships" id="287" r:id="R744b0acbbc2e400a"/>
    <p:sldId xmlns:r="http://schemas.openxmlformats.org/officeDocument/2006/relationships" id="288" r:id="Rd070d06f67414a31"/>
    <p:sldId xmlns:r="http://schemas.openxmlformats.org/officeDocument/2006/relationships" id="289" r:id="R0016246a98d347d5"/>
    <p:sldId xmlns:r="http://schemas.openxmlformats.org/officeDocument/2006/relationships" id="290" r:id="R5025bdc576614a1c"/>
    <p:sldId xmlns:r="http://schemas.openxmlformats.org/officeDocument/2006/relationships" id="291" r:id="R7aaa68af9bf54656"/>
    <p:sldId xmlns:r="http://schemas.openxmlformats.org/officeDocument/2006/relationships" id="292" r:id="R5ec74ec5416a43ae"/>
    <p:sldId xmlns:r="http://schemas.openxmlformats.org/officeDocument/2006/relationships" id="293" r:id="R58011040c3d245ec"/>
    <p:sldId xmlns:r="http://schemas.openxmlformats.org/officeDocument/2006/relationships" id="294" r:id="R1068510edcb04e7b"/>
    <p:sldId xmlns:r="http://schemas.openxmlformats.org/officeDocument/2006/relationships" id="295" r:id="Rdea3d6b329c544dd"/>
    <p:sldId xmlns:r="http://schemas.openxmlformats.org/officeDocument/2006/relationships" id="296" r:id="R80a885b0413143a9"/>
    <p:sldId xmlns:r="http://schemas.openxmlformats.org/officeDocument/2006/relationships" id="297" r:id="R015ca69b98a44838"/>
    <p:sldId xmlns:r="http://schemas.openxmlformats.org/officeDocument/2006/relationships" id="298" r:id="R3b737857345643b2"/>
    <p:sldId xmlns:r="http://schemas.openxmlformats.org/officeDocument/2006/relationships" id="299" r:id="Rfcb00fa2637340a9"/>
    <p:sldId xmlns:r="http://schemas.openxmlformats.org/officeDocument/2006/relationships" id="300" r:id="Ra48b54740fe64d44"/>
    <p:sldId xmlns:r="http://schemas.openxmlformats.org/officeDocument/2006/relationships" id="301" r:id="R5c73461077ae4ad7"/>
    <p:sldId xmlns:r="http://schemas.openxmlformats.org/officeDocument/2006/relationships" id="302" r:id="Rf725c2582e6a43d3"/>
    <p:sldId xmlns:r="http://schemas.openxmlformats.org/officeDocument/2006/relationships" id="303" r:id="Rfd3b65dc0a654dda"/>
    <p:sldId xmlns:r="http://schemas.openxmlformats.org/officeDocument/2006/relationships" id="304" r:id="Re5d2d6b1dafa4520"/>
    <p:sldId xmlns:r="http://schemas.openxmlformats.org/officeDocument/2006/relationships" id="305" r:id="R1955f492a1724493"/>
    <p:sldId xmlns:r="http://schemas.openxmlformats.org/officeDocument/2006/relationships" id="306" r:id="R83c7382d1f2c40de"/>
    <p:sldId xmlns:r="http://schemas.openxmlformats.org/officeDocument/2006/relationships" id="307" r:id="Rbb1775a8c3604564"/>
    <p:sldId xmlns:r="http://schemas.openxmlformats.org/officeDocument/2006/relationships" id="308" r:id="Rbff9c406e85447c7"/>
    <p:sldId xmlns:r="http://schemas.openxmlformats.org/officeDocument/2006/relationships" id="309" r:id="R7cabf9b3daee4d2d"/>
    <p:sldId xmlns:r="http://schemas.openxmlformats.org/officeDocument/2006/relationships" id="310" r:id="Rd8aa33d1c4204a2a"/>
    <p:sldId xmlns:r="http://schemas.openxmlformats.org/officeDocument/2006/relationships" id="311" r:id="R54f21d6674984f5e"/>
    <p:sldId xmlns:r="http://schemas.openxmlformats.org/officeDocument/2006/relationships" id="312" r:id="Rdd0b0970ca4c4d7b"/>
    <p:sldId xmlns:r="http://schemas.openxmlformats.org/officeDocument/2006/relationships" id="313" r:id="R6400b810c3b74ffe"/>
    <p:sldId xmlns:r="http://schemas.openxmlformats.org/officeDocument/2006/relationships" id="314" r:id="R7be82a9a5d32488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60c24e0596c40fb" /><Relationship Type="http://schemas.openxmlformats.org/officeDocument/2006/relationships/slideMaster" Target="/ppt/slideMasters/slideMaster1.xml" Id="Rf7dc338ea3ca49e0" /><Relationship Type="http://schemas.openxmlformats.org/officeDocument/2006/relationships/notesMaster" Target="/ppt/notesMasters/notesMaster1.xml" Id="R2f49bee5c4514934" /><Relationship Type="http://schemas.openxmlformats.org/officeDocument/2006/relationships/presProps" Target="/ppt/presProps.xml" Id="Rcf1b008dc61e4c6d" /><Relationship Type="http://schemas.openxmlformats.org/officeDocument/2006/relationships/viewProps" Target="/ppt/viewProps.xml" Id="R8cc4c547a6554fb1" /><Relationship Type="http://schemas.openxmlformats.org/officeDocument/2006/relationships/tableStyles" Target="/ppt/tableStyles.xml" Id="R7a1901deebcd4b73" /><Relationship Type="http://schemas.openxmlformats.org/officeDocument/2006/relationships/slide" Target="/ppt/slides/slide1.xml" Id="Rb6f6f33d7a3945c2" /><Relationship Type="http://schemas.openxmlformats.org/officeDocument/2006/relationships/slide" Target="/ppt/slides/slide2.xml" Id="R37e6957bd3164f6a" /><Relationship Type="http://schemas.openxmlformats.org/officeDocument/2006/relationships/slide" Target="/ppt/slides/slide3.xml" Id="Rf621940158054d37" /><Relationship Type="http://schemas.openxmlformats.org/officeDocument/2006/relationships/slide" Target="/ppt/slides/slide4.xml" Id="R9550d134ebff43c8" /><Relationship Type="http://schemas.openxmlformats.org/officeDocument/2006/relationships/slide" Target="/ppt/slides/slide5.xml" Id="Rc68aa0653d0c42a7" /><Relationship Type="http://schemas.openxmlformats.org/officeDocument/2006/relationships/slide" Target="/ppt/slides/slide6.xml" Id="R4efc9daf9f724473" /><Relationship Type="http://schemas.openxmlformats.org/officeDocument/2006/relationships/slide" Target="/ppt/slides/slide7.xml" Id="R7674f3e1a8d84e29" /><Relationship Type="http://schemas.openxmlformats.org/officeDocument/2006/relationships/slide" Target="/ppt/slides/slide8.xml" Id="Rea94074b26924a6f" /><Relationship Type="http://schemas.openxmlformats.org/officeDocument/2006/relationships/slide" Target="/ppt/slides/slide9.xml" Id="Rd1eb0ca736b641d3" /><Relationship Type="http://schemas.openxmlformats.org/officeDocument/2006/relationships/slide" Target="/ppt/slides/slide10.xml" Id="R7d0c0f0e4aaa4c92" /><Relationship Type="http://schemas.openxmlformats.org/officeDocument/2006/relationships/slide" Target="/ppt/slides/slide11.xml" Id="R486cf885a4854bd2" /><Relationship Type="http://schemas.openxmlformats.org/officeDocument/2006/relationships/slide" Target="/ppt/slides/slide12.xml" Id="Re2b6843124274f90" /><Relationship Type="http://schemas.openxmlformats.org/officeDocument/2006/relationships/slide" Target="/ppt/slides/slide13.xml" Id="Rebf5996a5f454a19" /><Relationship Type="http://schemas.openxmlformats.org/officeDocument/2006/relationships/slide" Target="/ppt/slides/slide14.xml" Id="R84a8db22864f47e4" /><Relationship Type="http://schemas.openxmlformats.org/officeDocument/2006/relationships/slide" Target="/ppt/slides/slide15.xml" Id="R657cdcb636c54d4a" /><Relationship Type="http://schemas.openxmlformats.org/officeDocument/2006/relationships/slide" Target="/ppt/slides/slide16.xml" Id="Rd46984a0db3f4e48" /><Relationship Type="http://schemas.openxmlformats.org/officeDocument/2006/relationships/slide" Target="/ppt/slides/slide17.xml" Id="Rb5101d459ad342e9" /><Relationship Type="http://schemas.openxmlformats.org/officeDocument/2006/relationships/slide" Target="/ppt/slides/slide18.xml" Id="R2d2aaba2ed054a2a" /><Relationship Type="http://schemas.openxmlformats.org/officeDocument/2006/relationships/slide" Target="/ppt/slides/slide19.xml" Id="Rabedc5381eba44cb" /><Relationship Type="http://schemas.openxmlformats.org/officeDocument/2006/relationships/slide" Target="/ppt/slides/slide20.xml" Id="Rbb66402695c44872" /><Relationship Type="http://schemas.openxmlformats.org/officeDocument/2006/relationships/slide" Target="/ppt/slides/slide21.xml" Id="Rb9667516f9f84cd8" /><Relationship Type="http://schemas.openxmlformats.org/officeDocument/2006/relationships/slide" Target="/ppt/slides/slide22.xml" Id="R00779c688c9f4096" /><Relationship Type="http://schemas.openxmlformats.org/officeDocument/2006/relationships/slide" Target="/ppt/slides/slide23.xml" Id="R67379a36758148d1" /><Relationship Type="http://schemas.openxmlformats.org/officeDocument/2006/relationships/slide" Target="/ppt/slides/slide24.xml" Id="R853d015933134134" /><Relationship Type="http://schemas.openxmlformats.org/officeDocument/2006/relationships/slide" Target="/ppt/slides/slide25.xml" Id="R2f9b1a9071734d8f" /><Relationship Type="http://schemas.openxmlformats.org/officeDocument/2006/relationships/slide" Target="/ppt/slides/slide26.xml" Id="R2e126cef43ac4ac4" /><Relationship Type="http://schemas.openxmlformats.org/officeDocument/2006/relationships/slide" Target="/ppt/slides/slide27.xml" Id="R85300109f4da48c7" /><Relationship Type="http://schemas.openxmlformats.org/officeDocument/2006/relationships/slide" Target="/ppt/slides/slide28.xml" Id="R3c5ee21f022845ff" /><Relationship Type="http://schemas.openxmlformats.org/officeDocument/2006/relationships/slide" Target="/ppt/slides/slide29.xml" Id="R8d736bbbac6e47b2" /><Relationship Type="http://schemas.openxmlformats.org/officeDocument/2006/relationships/slide" Target="/ppt/slides/slide30.xml" Id="R7b4512ce64b24d03" /><Relationship Type="http://schemas.openxmlformats.org/officeDocument/2006/relationships/slide" Target="/ppt/slides/slide31.xml" Id="Rb28322cd59954327" /><Relationship Type="http://schemas.openxmlformats.org/officeDocument/2006/relationships/slide" Target="/ppt/slides/slide32.xml" Id="R744b0acbbc2e400a" /><Relationship Type="http://schemas.openxmlformats.org/officeDocument/2006/relationships/slide" Target="/ppt/slides/slide33.xml" Id="Rd070d06f67414a31" /><Relationship Type="http://schemas.openxmlformats.org/officeDocument/2006/relationships/slide" Target="/ppt/slides/slide34.xml" Id="R0016246a98d347d5" /><Relationship Type="http://schemas.openxmlformats.org/officeDocument/2006/relationships/slide" Target="/ppt/slides/slide35.xml" Id="R5025bdc576614a1c" /><Relationship Type="http://schemas.openxmlformats.org/officeDocument/2006/relationships/slide" Target="/ppt/slides/slide36.xml" Id="R7aaa68af9bf54656" /><Relationship Type="http://schemas.openxmlformats.org/officeDocument/2006/relationships/slide" Target="/ppt/slides/slide37.xml" Id="R5ec74ec5416a43ae" /><Relationship Type="http://schemas.openxmlformats.org/officeDocument/2006/relationships/slide" Target="/ppt/slides/slide38.xml" Id="R58011040c3d245ec" /><Relationship Type="http://schemas.openxmlformats.org/officeDocument/2006/relationships/slide" Target="/ppt/slides/slide39.xml" Id="R1068510edcb04e7b" /><Relationship Type="http://schemas.openxmlformats.org/officeDocument/2006/relationships/slide" Target="/ppt/slides/slide40.xml" Id="Rdea3d6b329c544dd" /><Relationship Type="http://schemas.openxmlformats.org/officeDocument/2006/relationships/slide" Target="/ppt/slides/slide41.xml" Id="R80a885b0413143a9" /><Relationship Type="http://schemas.openxmlformats.org/officeDocument/2006/relationships/slide" Target="/ppt/slides/slide42.xml" Id="R015ca69b98a44838" /><Relationship Type="http://schemas.openxmlformats.org/officeDocument/2006/relationships/slide" Target="/ppt/slides/slide43.xml" Id="R3b737857345643b2" /><Relationship Type="http://schemas.openxmlformats.org/officeDocument/2006/relationships/slide" Target="/ppt/slides/slide44.xml" Id="Rfcb00fa2637340a9" /><Relationship Type="http://schemas.openxmlformats.org/officeDocument/2006/relationships/slide" Target="/ppt/slides/slide45.xml" Id="Ra48b54740fe64d44" /><Relationship Type="http://schemas.openxmlformats.org/officeDocument/2006/relationships/slide" Target="/ppt/slides/slide46.xml" Id="R5c73461077ae4ad7" /><Relationship Type="http://schemas.openxmlformats.org/officeDocument/2006/relationships/slide" Target="/ppt/slides/slide47.xml" Id="Rf725c2582e6a43d3" /><Relationship Type="http://schemas.openxmlformats.org/officeDocument/2006/relationships/slide" Target="/ppt/slides/slide48.xml" Id="Rfd3b65dc0a654dda" /><Relationship Type="http://schemas.openxmlformats.org/officeDocument/2006/relationships/slide" Target="/ppt/slides/slide49.xml" Id="Re5d2d6b1dafa4520" /><Relationship Type="http://schemas.openxmlformats.org/officeDocument/2006/relationships/slide" Target="/ppt/slides/slide50.xml" Id="R1955f492a1724493" /><Relationship Type="http://schemas.openxmlformats.org/officeDocument/2006/relationships/slide" Target="/ppt/slides/slide51.xml" Id="R83c7382d1f2c40de" /><Relationship Type="http://schemas.openxmlformats.org/officeDocument/2006/relationships/slide" Target="/ppt/slides/slide52.xml" Id="Rbb1775a8c3604564" /><Relationship Type="http://schemas.openxmlformats.org/officeDocument/2006/relationships/slide" Target="/ppt/slides/slide53.xml" Id="Rbff9c406e85447c7" /><Relationship Type="http://schemas.openxmlformats.org/officeDocument/2006/relationships/slide" Target="/ppt/slides/slide54.xml" Id="R7cabf9b3daee4d2d" /><Relationship Type="http://schemas.openxmlformats.org/officeDocument/2006/relationships/slide" Target="/ppt/slides/slide55.xml" Id="Rd8aa33d1c4204a2a" /><Relationship Type="http://schemas.openxmlformats.org/officeDocument/2006/relationships/slide" Target="/ppt/slides/slide56.xml" Id="R54f21d6674984f5e" /><Relationship Type="http://schemas.openxmlformats.org/officeDocument/2006/relationships/slide" Target="/ppt/slides/slide57.xml" Id="Rdd0b0970ca4c4d7b" /><Relationship Type="http://schemas.openxmlformats.org/officeDocument/2006/relationships/slide" Target="/ppt/slides/slide58.xml" Id="R6400b810c3b74ffe" /><Relationship Type="http://schemas.openxmlformats.org/officeDocument/2006/relationships/slide" Target="/ppt/slides/slide59.xml" Id="R7be82a9a5d32488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e2e53583c814b5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f9ebfbdb3894beb" /><Relationship Type="http://schemas.openxmlformats.org/officeDocument/2006/relationships/notesMaster" Target="/ppt/notesMasters/notesMaster1.xml" Id="Rcd6fe98138af448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5573db2b489495d" /><Relationship Type="http://schemas.openxmlformats.org/officeDocument/2006/relationships/notesMaster" Target="/ppt/notesMasters/notesMaster1.xml" Id="R9458d5e97ace4dd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0cf002fb8c040d1" /><Relationship Type="http://schemas.openxmlformats.org/officeDocument/2006/relationships/notesMaster" Target="/ppt/notesMasters/notesMaster1.xml" Id="Re0dfcbb202e7400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3f29e3bccad4efc" /><Relationship Type="http://schemas.openxmlformats.org/officeDocument/2006/relationships/notesMaster" Target="/ppt/notesMasters/notesMaster1.xml" Id="R7582b76f70a84c0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12985703e804b59" /><Relationship Type="http://schemas.openxmlformats.org/officeDocument/2006/relationships/notesMaster" Target="/ppt/notesMasters/notesMaster1.xml" Id="R3c34b0dae89a407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54cb5f37621490a" /><Relationship Type="http://schemas.openxmlformats.org/officeDocument/2006/relationships/notesMaster" Target="/ppt/notesMasters/notesMaster1.xml" Id="Ra89cf4f141ae405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2534fec3b364d25" /><Relationship Type="http://schemas.openxmlformats.org/officeDocument/2006/relationships/notesMaster" Target="/ppt/notesMasters/notesMaster1.xml" Id="R9ffd8e0795ee45c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e73d1d3b78f430a" /><Relationship Type="http://schemas.openxmlformats.org/officeDocument/2006/relationships/notesMaster" Target="/ppt/notesMasters/notesMaster1.xml" Id="Rdd3b833e24754e2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df3b886260b4ee0" /><Relationship Type="http://schemas.openxmlformats.org/officeDocument/2006/relationships/notesMaster" Target="/ppt/notesMasters/notesMaster1.xml" Id="Rb141b93124b14fa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ffddb097ea54d0b" /><Relationship Type="http://schemas.openxmlformats.org/officeDocument/2006/relationships/notesMaster" Target="/ppt/notesMasters/notesMaster1.xml" Id="R96af76503f93457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9288cc125ab455e" /><Relationship Type="http://schemas.openxmlformats.org/officeDocument/2006/relationships/notesMaster" Target="/ppt/notesMasters/notesMaster1.xml" Id="R69c8168be261438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6c0c4b490b14822" /><Relationship Type="http://schemas.openxmlformats.org/officeDocument/2006/relationships/notesMaster" Target="/ppt/notesMasters/notesMaster1.xml" Id="Rc095d2c907dd4b2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c7022d82200496e" /><Relationship Type="http://schemas.openxmlformats.org/officeDocument/2006/relationships/notesMaster" Target="/ppt/notesMasters/notesMaster1.xml" Id="Rc5cf9ee7362b4ab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19ce3f79cd142ab" /><Relationship Type="http://schemas.openxmlformats.org/officeDocument/2006/relationships/notesMaster" Target="/ppt/notesMasters/notesMaster1.xml" Id="Rb0a9f99bdc08478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604c27aa1ee4c7d" /><Relationship Type="http://schemas.openxmlformats.org/officeDocument/2006/relationships/notesMaster" Target="/ppt/notesMasters/notesMaster1.xml" Id="R8bfeee54252a46b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09782ca78394e1b" /><Relationship Type="http://schemas.openxmlformats.org/officeDocument/2006/relationships/notesMaster" Target="/ppt/notesMasters/notesMaster1.xml" Id="R6e82ffdd8a084f9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0e8eb33d13f4f11" /><Relationship Type="http://schemas.openxmlformats.org/officeDocument/2006/relationships/notesMaster" Target="/ppt/notesMasters/notesMaster1.xml" Id="Rbc1348bca79a4db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42ae2af7e1c451f" /><Relationship Type="http://schemas.openxmlformats.org/officeDocument/2006/relationships/notesMaster" Target="/ppt/notesMasters/notesMaster1.xml" Id="R5a13658f1513411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df35f0d72f44a3c" /><Relationship Type="http://schemas.openxmlformats.org/officeDocument/2006/relationships/notesMaster" Target="/ppt/notesMasters/notesMaster1.xml" Id="Rcb8fc9e98cba4dd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ace38082775439c" /><Relationship Type="http://schemas.openxmlformats.org/officeDocument/2006/relationships/notesMaster" Target="/ppt/notesMasters/notesMaster1.xml" Id="Rcc92bbcc0bad4da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0ebe90abdbd4e4a" /><Relationship Type="http://schemas.openxmlformats.org/officeDocument/2006/relationships/notesMaster" Target="/ppt/notesMasters/notesMaster1.xml" Id="R822031f3025b49e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b85d58bf7ca4c12" /><Relationship Type="http://schemas.openxmlformats.org/officeDocument/2006/relationships/notesMaster" Target="/ppt/notesMasters/notesMaster1.xml" Id="Raa10b07487784e9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01b0eb6a4bb042fe" /><Relationship Type="http://schemas.openxmlformats.org/officeDocument/2006/relationships/notesMaster" Target="/ppt/notesMasters/notesMaster1.xml" Id="R2d2763541cbb4f1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a637f055a834324" /><Relationship Type="http://schemas.openxmlformats.org/officeDocument/2006/relationships/notesMaster" Target="/ppt/notesMasters/notesMaster1.xml" Id="Rb003236bb8904ee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07f9ce00acc84de1" /><Relationship Type="http://schemas.openxmlformats.org/officeDocument/2006/relationships/notesMaster" Target="/ppt/notesMasters/notesMaster1.xml" Id="R34fb2b2d2c8947c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03eb1793972480e" /><Relationship Type="http://schemas.openxmlformats.org/officeDocument/2006/relationships/notesMaster" Target="/ppt/notesMasters/notesMaster1.xml" Id="Re1e809b2b5514cd9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031b30368f84c9f" /><Relationship Type="http://schemas.openxmlformats.org/officeDocument/2006/relationships/notesMaster" Target="/ppt/notesMasters/notesMaster1.xml" Id="R59913f92794d4f3d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7459d7539374284" /><Relationship Type="http://schemas.openxmlformats.org/officeDocument/2006/relationships/notesMaster" Target="/ppt/notesMasters/notesMaster1.xml" Id="Rcb3f42b30b6d4e2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18807563f49c45cb" /><Relationship Type="http://schemas.openxmlformats.org/officeDocument/2006/relationships/notesMaster" Target="/ppt/notesMasters/notesMaster1.xml" Id="R5dd5cb467aac448a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241308a4ec65413d" /><Relationship Type="http://schemas.openxmlformats.org/officeDocument/2006/relationships/notesMaster" Target="/ppt/notesMasters/notesMaster1.xml" Id="R77bb94994f3c4412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4c75f8e1fe81441e" /><Relationship Type="http://schemas.openxmlformats.org/officeDocument/2006/relationships/notesMaster" Target="/ppt/notesMasters/notesMaster1.xml" Id="R7eb4b236444747be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356788ae482e4e5c" /><Relationship Type="http://schemas.openxmlformats.org/officeDocument/2006/relationships/notesMaster" Target="/ppt/notesMasters/notesMaster1.xml" Id="R0a2e331952db48cb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8e0d3a5224164171" /><Relationship Type="http://schemas.openxmlformats.org/officeDocument/2006/relationships/notesMaster" Target="/ppt/notesMasters/notesMaster1.xml" Id="R5e08a6ff0fe8445f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ece09957a5b74937" /><Relationship Type="http://schemas.openxmlformats.org/officeDocument/2006/relationships/notesMaster" Target="/ppt/notesMasters/notesMaster1.xml" Id="R298e8e4c4c6e4fc0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c1a1463f5d214215" /><Relationship Type="http://schemas.openxmlformats.org/officeDocument/2006/relationships/notesMaster" Target="/ppt/notesMasters/notesMaster1.xml" Id="Ra5da2c0efffe46a6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2ac20c982d364683" /><Relationship Type="http://schemas.openxmlformats.org/officeDocument/2006/relationships/notesMaster" Target="/ppt/notesMasters/notesMaster1.xml" Id="R837a9e1729d84cef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b7f4fb4b6d924b11" /><Relationship Type="http://schemas.openxmlformats.org/officeDocument/2006/relationships/notesMaster" Target="/ppt/notesMasters/notesMaster1.xml" Id="Rd29069c6bd364bd4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1db6861ef0e0423b" /><Relationship Type="http://schemas.openxmlformats.org/officeDocument/2006/relationships/notesMaster" Target="/ppt/notesMasters/notesMaster1.xml" Id="R1362effe6dcf4cfc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d596f45a888546fc" /><Relationship Type="http://schemas.openxmlformats.org/officeDocument/2006/relationships/notesMaster" Target="/ppt/notesMasters/notesMaster1.xml" Id="R24efd55df66347b7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b227621168b24242" /><Relationship Type="http://schemas.openxmlformats.org/officeDocument/2006/relationships/notesMaster" Target="/ppt/notesMasters/notesMaster1.xml" Id="R63c136c095434a93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5e4e6892518a4a64" /><Relationship Type="http://schemas.openxmlformats.org/officeDocument/2006/relationships/notesMaster" Target="/ppt/notesMasters/notesMaster1.xml" Id="R1dba3b645cff4076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26b1899299ec47ba" /><Relationship Type="http://schemas.openxmlformats.org/officeDocument/2006/relationships/notesMaster" Target="/ppt/notesMasters/notesMaster1.xml" Id="Ra1cd21a5eee44d70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ee3a67f1c9db4b0e" /><Relationship Type="http://schemas.openxmlformats.org/officeDocument/2006/relationships/notesMaster" Target="/ppt/notesMasters/notesMaster1.xml" Id="Rc093ba7871f343e8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c3ddca567b344438" /><Relationship Type="http://schemas.openxmlformats.org/officeDocument/2006/relationships/notesMaster" Target="/ppt/notesMasters/notesMaster1.xml" Id="R7c54704bce30408c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93a2c1886275405d" /><Relationship Type="http://schemas.openxmlformats.org/officeDocument/2006/relationships/notesMaster" Target="/ppt/notesMasters/notesMaster1.xml" Id="Rddb7b20582aa483e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0cf9cdc5f42341f3" /><Relationship Type="http://schemas.openxmlformats.org/officeDocument/2006/relationships/notesMaster" Target="/ppt/notesMasters/notesMaster1.xml" Id="Rc0971e0a13554a97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9a55f5940a5e47df" /><Relationship Type="http://schemas.openxmlformats.org/officeDocument/2006/relationships/notesMaster" Target="/ppt/notesMasters/notesMaster1.xml" Id="R57959e3aad254ace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28f89a19379f4d9a" /><Relationship Type="http://schemas.openxmlformats.org/officeDocument/2006/relationships/notesMaster" Target="/ppt/notesMasters/notesMaster1.xml" Id="Rdca67956107d48f2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13a1a87869e64e7f" /><Relationship Type="http://schemas.openxmlformats.org/officeDocument/2006/relationships/notesMaster" Target="/ppt/notesMasters/notesMaster1.xml" Id="Rb76a81f054894711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ebb0012700854a71" /><Relationship Type="http://schemas.openxmlformats.org/officeDocument/2006/relationships/notesMaster" Target="/ppt/notesMasters/notesMaster1.xml" Id="R3aee4f9047a4416b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caf43a434a7f43ef" /><Relationship Type="http://schemas.openxmlformats.org/officeDocument/2006/relationships/notesMaster" Target="/ppt/notesMasters/notesMaster1.xml" Id="R533caaa8ace142f4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f833f69f46884975" /><Relationship Type="http://schemas.openxmlformats.org/officeDocument/2006/relationships/notesMaster" Target="/ppt/notesMasters/notesMaster1.xml" Id="Re9db150c26e7451d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f2ae75cb98664da6" /><Relationship Type="http://schemas.openxmlformats.org/officeDocument/2006/relationships/notesMaster" Target="/ppt/notesMasters/notesMaster1.xml" Id="R135506b851d84467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8c2eef38227140b3" /><Relationship Type="http://schemas.openxmlformats.org/officeDocument/2006/relationships/notesMaster" Target="/ppt/notesMasters/notesMaster1.xml" Id="R6906470777f343ef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b69e5a7e12dd4f57" /><Relationship Type="http://schemas.openxmlformats.org/officeDocument/2006/relationships/notesMaster" Target="/ppt/notesMasters/notesMaster1.xml" Id="Raf16e3695c174fea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1ff266dbc9c74036" /><Relationship Type="http://schemas.openxmlformats.org/officeDocument/2006/relationships/notesMaster" Target="/ppt/notesMasters/notesMaster1.xml" Id="R0d0b7bc76ede45ae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ceaa41eb5079479f" /><Relationship Type="http://schemas.openxmlformats.org/officeDocument/2006/relationships/notesMaster" Target="/ppt/notesMasters/notesMaster1.xml" Id="R0af79e1549e745e4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264329d0350c4069" /><Relationship Type="http://schemas.openxmlformats.org/officeDocument/2006/relationships/notesMaster" Target="/ppt/notesMasters/notesMaster1.xml" Id="Ra741aa0872d944a2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7512e2218bb34fde" /><Relationship Type="http://schemas.openxmlformats.org/officeDocument/2006/relationships/notesMaster" Target="/ppt/notesMasters/notesMaster1.xml" Id="R1d6ebd697e3e45f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Скопируйте запрос и вставьте в сервис. Адресат и отправитель не указаны, поэтому ИИ не должен их выдумывать.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cb817c34424aa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b459c0298624ef2" /><Relationship Type="http://schemas.openxmlformats.org/officeDocument/2006/relationships/slideLayout" Target="/ppt/slideLayouts/slideLayout1.xml" Id="R5e0f3eb0ee86438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e0f3eb0ee86438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879da298ee4ee2" /><Relationship Type="http://schemas.openxmlformats.org/officeDocument/2006/relationships/image" Target="/ppt/media/image.png" Id="R81828f4a1d39406f" /><Relationship Type="http://schemas.openxmlformats.org/officeDocument/2006/relationships/notesSlide" Target="/ppt/notesSlides/notesSlide1.xml" Id="R95d28807af8340f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5bc58e876d4495" /><Relationship Type="http://schemas.openxmlformats.org/officeDocument/2006/relationships/image" Target="/ppt/media/image.jpeg" Id="R545f21dc38a345c9" /><Relationship Type="http://schemas.openxmlformats.org/officeDocument/2006/relationships/notesSlide" Target="/ppt/notesSlides/notesSlide2.xml" Id="Ra0caafe7915842c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b6e08458fa4391" /><Relationship Type="http://schemas.openxmlformats.org/officeDocument/2006/relationships/notesSlide" Target="/ppt/notesSlides/notesSlide3.xml" Id="Reca008d12422473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9ef554149a467f" /><Relationship Type="http://schemas.openxmlformats.org/officeDocument/2006/relationships/notesSlide" Target="/ppt/notesSlides/notesSlide4.xml" Id="R33ea67cc9f7048f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ce169df6214bf3" /><Relationship Type="http://schemas.openxmlformats.org/officeDocument/2006/relationships/notesSlide" Target="/ppt/notesSlides/notesSlide5.xml" Id="R2132e8e66ff5446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bf7406c3554a64" /><Relationship Type="http://schemas.openxmlformats.org/officeDocument/2006/relationships/notesSlide" Target="/ppt/notesSlides/notesSlide6.xml" Id="R3de3b09f1af645d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c7c2a91a184529" /><Relationship Type="http://schemas.openxmlformats.org/officeDocument/2006/relationships/notesSlide" Target="/ppt/notesSlides/notesSlide7.xml" Id="Reac46fa807914f3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8ac2e578524a72" /><Relationship Type="http://schemas.openxmlformats.org/officeDocument/2006/relationships/notesSlide" Target="/ppt/notesSlides/notesSlide8.xml" Id="Rd811bf49a9574fc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8492cfadb74362" /><Relationship Type="http://schemas.openxmlformats.org/officeDocument/2006/relationships/image" Target="/ppt/media/image2.png" Id="Rcf6fe0e8c3b64c60" /><Relationship Type="http://schemas.openxmlformats.org/officeDocument/2006/relationships/image" Target="/ppt/media/image2.jpeg" Id="Radb8925cab034f26" /><Relationship Type="http://schemas.openxmlformats.org/officeDocument/2006/relationships/image" Target="/ppt/media/image3.jpeg" Id="Rf208266703834c71" /><Relationship Type="http://schemas.openxmlformats.org/officeDocument/2006/relationships/image" Target="/ppt/media/image4.jpeg" Id="R11659ec0236240b2" /><Relationship Type="http://schemas.openxmlformats.org/officeDocument/2006/relationships/notesSlide" Target="/ppt/notesSlides/notesSlide9.xml" Id="Rbca61c17879c4b6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f5a11298da4cc4" /><Relationship Type="http://schemas.openxmlformats.org/officeDocument/2006/relationships/image" Target="/ppt/media/image5.jpeg" Id="R848bad0ea27342e6" /><Relationship Type="http://schemas.openxmlformats.org/officeDocument/2006/relationships/notesSlide" Target="/ppt/notesSlides/notesSlide10.xml" Id="R1a46fb843fc14b6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d58f77f1714a2c" /><Relationship Type="http://schemas.openxmlformats.org/officeDocument/2006/relationships/notesSlide" Target="/ppt/notesSlides/notesSlide11.xml" Id="R75faf4fa6647458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605e0e359a48c7" /><Relationship Type="http://schemas.openxmlformats.org/officeDocument/2006/relationships/image" Target="/ppt/media/image3.png" Id="R0504db06c40f4431" /><Relationship Type="http://schemas.openxmlformats.org/officeDocument/2006/relationships/image" Target="/ppt/media/image4.png" Id="Rec7eff0ef0ee4a54" /><Relationship Type="http://schemas.openxmlformats.org/officeDocument/2006/relationships/notesSlide" Target="/ppt/notesSlides/notesSlide12.xml" Id="R2e0ec91c45b24ac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3f32aec14445bf" /><Relationship Type="http://schemas.openxmlformats.org/officeDocument/2006/relationships/notesSlide" Target="/ppt/notesSlides/notesSlide13.xml" Id="R33f2b1fb6f124d6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08a6e105804025" /><Relationship Type="http://schemas.openxmlformats.org/officeDocument/2006/relationships/notesSlide" Target="/ppt/notesSlides/notesSlide14.xml" Id="Rd49c6f31d002438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f34ac6244b46fd" /><Relationship Type="http://schemas.openxmlformats.org/officeDocument/2006/relationships/notesSlide" Target="/ppt/notesSlides/notesSlide15.xml" Id="Rf49ae2b5ceba4a3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c15add7b2f4eb8" /><Relationship Type="http://schemas.openxmlformats.org/officeDocument/2006/relationships/image" Target="/ppt/media/image6.jpeg" Id="R7ccd51b92b2f4c36" /><Relationship Type="http://schemas.openxmlformats.org/officeDocument/2006/relationships/notesSlide" Target="/ppt/notesSlides/notesSlide16.xml" Id="R4453c5dc23a34fa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378184eb954525" /><Relationship Type="http://schemas.openxmlformats.org/officeDocument/2006/relationships/image" Target="/ppt/media/image5.png" Id="Rc3ed70eb67664dcf" /><Relationship Type="http://schemas.openxmlformats.org/officeDocument/2006/relationships/notesSlide" Target="/ppt/notesSlides/notesSlide17.xml" Id="R65b912ca7c754a3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8e47cbc866452f" /><Relationship Type="http://schemas.openxmlformats.org/officeDocument/2006/relationships/image" Target="/ppt/media/image6.png" Id="R54cb4c97a23c492a" /><Relationship Type="http://schemas.openxmlformats.org/officeDocument/2006/relationships/notesSlide" Target="/ppt/notesSlides/notesSlide18.xml" Id="Rf062d8fd757948c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6ad5c622a0431f" /><Relationship Type="http://schemas.openxmlformats.org/officeDocument/2006/relationships/image" Target="/ppt/media/image7.jpeg" Id="Redaad447a9ac48ae" /><Relationship Type="http://schemas.openxmlformats.org/officeDocument/2006/relationships/notesSlide" Target="/ppt/notesSlides/notesSlide19.xml" Id="Rb8811297aaca448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833f7f55634f81" /><Relationship Type="http://schemas.openxmlformats.org/officeDocument/2006/relationships/notesSlide" Target="/ppt/notesSlides/notesSlide20.xml" Id="R2a47b6292885418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486b2a0c7140e0" /><Relationship Type="http://schemas.openxmlformats.org/officeDocument/2006/relationships/notesSlide" Target="/ppt/notesSlides/notesSlide21.xml" Id="Rf01a3e5bc886470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83ea628e984112" /><Relationship Type="http://schemas.openxmlformats.org/officeDocument/2006/relationships/image" Target="/ppt/media/image7.png" Id="Rd0ee1d064a3f4107" /><Relationship Type="http://schemas.openxmlformats.org/officeDocument/2006/relationships/notesSlide" Target="/ppt/notesSlides/notesSlide22.xml" Id="R9d56274c5d744819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91c109bb684c59" /><Relationship Type="http://schemas.openxmlformats.org/officeDocument/2006/relationships/notesSlide" Target="/ppt/notesSlides/notesSlide23.xml" Id="R0f92664d447d476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e50fa79a724d77" /><Relationship Type="http://schemas.openxmlformats.org/officeDocument/2006/relationships/notesSlide" Target="/ppt/notesSlides/notesSlide24.xml" Id="R84529982b4714d1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89815eedc54b1a" /><Relationship Type="http://schemas.openxmlformats.org/officeDocument/2006/relationships/image" Target="/ppt/media/image8.jpeg" Id="R70134308838544e6" /><Relationship Type="http://schemas.openxmlformats.org/officeDocument/2006/relationships/notesSlide" Target="/ppt/notesSlides/notesSlide25.xml" Id="R7e042fbe6d8a449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ecd7398fb64805" /><Relationship Type="http://schemas.openxmlformats.org/officeDocument/2006/relationships/notesSlide" Target="/ppt/notesSlides/notesSlide26.xml" Id="R7a207e8a6e91489c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73100baf574b2c" /><Relationship Type="http://schemas.openxmlformats.org/officeDocument/2006/relationships/notesSlide" Target="/ppt/notesSlides/notesSlide27.xml" Id="R0f5e972e1c424a5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d24b1b945e4c90" /><Relationship Type="http://schemas.openxmlformats.org/officeDocument/2006/relationships/notesSlide" Target="/ppt/notesSlides/notesSlide28.xml" Id="R154bcfc4d7e94e15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1559f7cc0f49d4" /><Relationship Type="http://schemas.openxmlformats.org/officeDocument/2006/relationships/notesSlide" Target="/ppt/notesSlides/notesSlide29.xml" Id="Rf4180173a67141b3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78bd0c29d14e5d" /><Relationship Type="http://schemas.openxmlformats.org/officeDocument/2006/relationships/image" Target="/ppt/media/image9.jpeg" Id="Rb2812f58d6a7460a" /><Relationship Type="http://schemas.openxmlformats.org/officeDocument/2006/relationships/notesSlide" Target="/ppt/notesSlides/notesSlide30.xml" Id="Rb91bb302cfab4e3d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27070c6cdd4798" /><Relationship Type="http://schemas.openxmlformats.org/officeDocument/2006/relationships/notesSlide" Target="/ppt/notesSlides/notesSlide31.xml" Id="R2ab8cd0a7c4547e7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6ed116afb74b59" /><Relationship Type="http://schemas.openxmlformats.org/officeDocument/2006/relationships/image" Target="/ppt/media/image8.png" Id="R5afd5ccb2441471d" /><Relationship Type="http://schemas.openxmlformats.org/officeDocument/2006/relationships/image" Target="/ppt/media/image9.png" Id="R2f1ade7ca37e462d" /><Relationship Type="http://schemas.openxmlformats.org/officeDocument/2006/relationships/notesSlide" Target="/ppt/notesSlides/notesSlide32.xml" Id="Rd664e51e80eb4a38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b9cf8405004ae6" /><Relationship Type="http://schemas.openxmlformats.org/officeDocument/2006/relationships/image" Target="/ppt/media/image10.png" Id="Rc8d7a20457dc42b6" /><Relationship Type="http://schemas.openxmlformats.org/officeDocument/2006/relationships/image" Target="/ppt/media/image11.png" Id="R80deaedf82fb4202" /><Relationship Type="http://schemas.openxmlformats.org/officeDocument/2006/relationships/notesSlide" Target="/ppt/notesSlides/notesSlide33.xml" Id="Rc93c6e0d793f4753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627976bf77447c" /><Relationship Type="http://schemas.openxmlformats.org/officeDocument/2006/relationships/image" Target="/ppt/media/image12.png" Id="R733c2488f910458d" /><Relationship Type="http://schemas.openxmlformats.org/officeDocument/2006/relationships/image" Target="/ppt/media/image13.png" Id="Rf67a74d0b6f14b8f" /><Relationship Type="http://schemas.openxmlformats.org/officeDocument/2006/relationships/notesSlide" Target="/ppt/notesSlides/notesSlide34.xml" Id="Ra3fcc70f7b6740f0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e13db4e5b542b3" /><Relationship Type="http://schemas.openxmlformats.org/officeDocument/2006/relationships/image" Target="/ppt/media/image10.jpeg" Id="R0472fccf84f1466f" /><Relationship Type="http://schemas.openxmlformats.org/officeDocument/2006/relationships/image" Target="/ppt/media/image14.png" Id="Rb3d4caf306bf454c" /><Relationship Type="http://schemas.openxmlformats.org/officeDocument/2006/relationships/notesSlide" Target="/ppt/notesSlides/notesSlide35.xml" Id="Rf92b5eb0e4eb44b1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787d19b6834aa0" /><Relationship Type="http://schemas.openxmlformats.org/officeDocument/2006/relationships/notesSlide" Target="/ppt/notesSlides/notesSlide36.xml" Id="R5c998c0ec49d4064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89a8a6c0a044a8" /><Relationship Type="http://schemas.openxmlformats.org/officeDocument/2006/relationships/notesSlide" Target="/ppt/notesSlides/notesSlide37.xml" Id="R785aee3e89514554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d7f0cb1562401a" /><Relationship Type="http://schemas.openxmlformats.org/officeDocument/2006/relationships/notesSlide" Target="/ppt/notesSlides/notesSlide38.xml" Id="Rb000b21ceefa4b20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c84beadbf945b9" /><Relationship Type="http://schemas.openxmlformats.org/officeDocument/2006/relationships/notesSlide" Target="/ppt/notesSlides/notesSlide39.xml" Id="Race971b95e1f4822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82ec6927a74b5f" /><Relationship Type="http://schemas.openxmlformats.org/officeDocument/2006/relationships/notesSlide" Target="/ppt/notesSlides/notesSlide40.xml" Id="R3e8dc41788fa4ce8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4e5a41eb504df5" /><Relationship Type="http://schemas.openxmlformats.org/officeDocument/2006/relationships/notesSlide" Target="/ppt/notesSlides/notesSlide41.xml" Id="R8be8a860d322499e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59668515d84d4c" /><Relationship Type="http://schemas.openxmlformats.org/officeDocument/2006/relationships/notesSlide" Target="/ppt/notesSlides/notesSlide42.xml" Id="R6260cbf8f87840f3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fa6f44801d4ac0" /><Relationship Type="http://schemas.openxmlformats.org/officeDocument/2006/relationships/image" Target="/ppt/media/image5.png" Id="R1b0f10b6797042d4" /><Relationship Type="http://schemas.openxmlformats.org/officeDocument/2006/relationships/notesSlide" Target="/ppt/notesSlides/notesSlide43.xml" Id="Rbac9b21eb0124c1e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1f40f1c4a74962" /><Relationship Type="http://schemas.openxmlformats.org/officeDocument/2006/relationships/notesSlide" Target="/ppt/notesSlides/notesSlide44.xml" Id="R841b765285b64d0b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6dbe5b87984bfd" /><Relationship Type="http://schemas.openxmlformats.org/officeDocument/2006/relationships/image" Target="/ppt/media/image7.jpeg" Id="R8137e34725634ea8" /><Relationship Type="http://schemas.openxmlformats.org/officeDocument/2006/relationships/notesSlide" Target="/ppt/notesSlides/notesSlide45.xml" Id="R500c448eaec549c6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fbb8abb35048ac" /><Relationship Type="http://schemas.openxmlformats.org/officeDocument/2006/relationships/notesSlide" Target="/ppt/notesSlides/notesSlide46.xml" Id="R48e88c270455478b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bd1f8de4004574" /><Relationship Type="http://schemas.openxmlformats.org/officeDocument/2006/relationships/notesSlide" Target="/ppt/notesSlides/notesSlide47.xml" Id="R10ad119718ed4fe0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59e17cfd9c4557" /><Relationship Type="http://schemas.openxmlformats.org/officeDocument/2006/relationships/notesSlide" Target="/ppt/notesSlides/notesSlide48.xml" Id="Rfdc6208fe4464982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534c53462e4423" /><Relationship Type="http://schemas.openxmlformats.org/officeDocument/2006/relationships/notesSlide" Target="/ppt/notesSlides/notesSlide49.xml" Id="R8b6084d721814372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832fdda14b470c" /><Relationship Type="http://schemas.openxmlformats.org/officeDocument/2006/relationships/image" Target="/ppt/media/image15.png" Id="Rc0ac43c56cf243c7" /><Relationship Type="http://schemas.openxmlformats.org/officeDocument/2006/relationships/notesSlide" Target="/ppt/notesSlides/notesSlide50.xml" Id="Rd80380771b8c4669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08a736faaa4891" /><Relationship Type="http://schemas.openxmlformats.org/officeDocument/2006/relationships/notesSlide" Target="/ppt/notesSlides/notesSlide51.xml" Id="R7b70ed34d84a4e24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a7b948369c458a" /><Relationship Type="http://schemas.openxmlformats.org/officeDocument/2006/relationships/notesSlide" Target="/ppt/notesSlides/notesSlide52.xml" Id="R4ddd6dd38a064540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e52325cfb64d89" /><Relationship Type="http://schemas.openxmlformats.org/officeDocument/2006/relationships/notesSlide" Target="/ppt/notesSlides/notesSlide53.xml" Id="R8bf67f9847834eae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96956a1002497c" /><Relationship Type="http://schemas.openxmlformats.org/officeDocument/2006/relationships/notesSlide" Target="/ppt/notesSlides/notesSlide54.xml" Id="R4c485bb26fbf48c0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8407b85c6e4c3d" /><Relationship Type="http://schemas.openxmlformats.org/officeDocument/2006/relationships/notesSlide" Target="/ppt/notesSlides/notesSlide55.xml" Id="R4b3ddf5f6b9d46eb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0dafc7b5374727" /><Relationship Type="http://schemas.openxmlformats.org/officeDocument/2006/relationships/notesSlide" Target="/ppt/notesSlides/notesSlide56.xml" Id="R1b8fcd433d1b4f89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172715abaf4117" /><Relationship Type="http://schemas.openxmlformats.org/officeDocument/2006/relationships/notesSlide" Target="/ppt/notesSlides/notesSlide57.xml" Id="R57355575712841a9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41d2bae7ff42e2" /><Relationship Type="http://schemas.openxmlformats.org/officeDocument/2006/relationships/notesSlide" Target="/ppt/notesSlides/notesSlide58.xml" Id="R23f8fe5956804b96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606634036b4161" /><Relationship Type="http://schemas.openxmlformats.org/officeDocument/2006/relationships/image" Target="/ppt/media/image16.png" Id="Rd9ab17b52d2b4ef3" /><Relationship Type="http://schemas.openxmlformats.org/officeDocument/2006/relationships/notesSlide" Target="/ppt/notesSlides/notesSlide59.xml" Id="Rc8a53469d5cb4db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E14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Рисунок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828f4a1d39406f"/>
          <a:srcRect xmlns:a="http://schemas.openxmlformats.org/drawingml/2006/main" l="24987" t="0" r="2498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0" y="0"/>
            <a:ext cx="6096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643BA72D-758C-442A-AE47-E52F8126B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2E15B234-DF74-4817-AE2B-7DEAC188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571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ИИ для повседневной жизни</a:t>
            </a:r>
          </a:p>
          <a:p xmlns:a="http://schemas.openxmlformats.org/drawingml/2006/main">
            <a:pPr algn="l"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и работы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0C1A9277-A497-4928-A747-6F47FA471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67125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endParaRPr sz="1650" b="0">
              <a:solidFill>
                <a:srgbClr val="B8F238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BB0BA5F5-7D5F-4EC7-94E5-F0A714568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57875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Шымкент · 21 сентября 2026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8DE10ADD-1DEC-4719-A363-244B5824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9938832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933CA0A1-E43F-4A87-BF11-B8B0A8755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A22B10B5-0F9D-4D60-8E3B-D4E022700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Знакомство с тренером</a:t>
            </a:r>
          </a:p>
        </p:txBody>
      </p:sp>
      <p:pic>
        <p:nvPicPr>
          <p:cNvPr id="18" name="Рисунок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5f21dc38a345c9"/>
          <a:srcRect xmlns:a="http://schemas.openxmlformats.org/drawingml/2006/main" l="0" t="71" r="0" b="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4850" y="1524000"/>
            <a:ext cx="3333750" cy="4438650"/>
          </a:xfrm>
          <a:prstGeom xmlns:a="http://schemas.openxmlformats.org/drawingml/2006/main" prst="roundRect">
            <a:avLst>
              <a:gd name="adj" fmla="val 5143"/>
            </a:avLst>
          </a:prstGeom>
        </p:spPr>
      </p:pic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61A23A4F-C32E-4D46-949E-A93884BBC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09750"/>
            <a:ext cx="609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Дүйсенбекқызы Жансая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6BB10E15-C921-4CC1-9CB6-A95657662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050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PhD · Assistant Professor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C7C70779-E210-4818-9E62-7E14311D5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05125"/>
            <a:ext cx="590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Исследователь и преподаватель в области искусственного интеллекта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69D8292E-6309-4A5C-8E90-F74F6430F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714750"/>
            <a:ext cx="266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4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553B08F7-F5B9-48CC-A38E-35134E0BA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714750"/>
            <a:ext cx="5829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NLP: обработка естественного языка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00748F8F-9487-4A2A-8D3A-AFD6D11EF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286250"/>
            <a:ext cx="266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4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F084DA95-E47A-4DCA-ABC3-FAA170294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286250"/>
            <a:ext cx="5829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ASR: автоматическое распознавание речи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CC60C5BC-40ED-416A-9411-8B49F4C6F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857750"/>
            <a:ext cx="266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4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63679A2E-567E-41B6-B9E5-ABD6E380F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857750"/>
            <a:ext cx="5829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Применение ИИ в образовании и работе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522F4EE0-BD53-40BF-B0B8-E7856B013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514885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19CB16B1-84C8-4A51-AA5B-50FC7EB4A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A8CEF73D-181D-4A6D-8C9D-60499933F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Результаты мастер-класса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AD7DD736-9B10-47D8-839B-FA8076ED9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76375"/>
            <a:ext cx="2667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ED106F33-0FEC-44A7-BE3E-D3C69D84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476375"/>
            <a:ext cx="99250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Безопасно и точно ставить задачи ИИ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9D6C70B4-B0FB-41CA-A649-2419CD305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95525"/>
            <a:ext cx="2667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B1417A51-485D-407A-BC7E-BAEE3143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95525"/>
            <a:ext cx="99250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Быстро готовить служебные письма и протоколы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7F6F3069-052E-4A11-A3B8-75923BF40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14675"/>
            <a:ext cx="2667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B8E51BEB-80EE-4F7C-BEBF-E1FF9E70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14675"/>
            <a:ext cx="99250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Находить проблемы в таблицах Excel и текстах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34C61D13-4620-4EA2-AE4F-1EDBCF95E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33825"/>
            <a:ext cx="2667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31E92607-A22C-4DAE-93D7-FC0E85B83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33825"/>
            <a:ext cx="99250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Проверять ответ и доводить его до рабочего результата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71537A96-2C33-4C7F-9749-FB260164E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52975"/>
            <a:ext cx="2667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5C08360B-0DE2-4E59-95DC-B9AC38F81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52975"/>
            <a:ext cx="99250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Получить готовый результат для одной своей задачи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B32BDB02-1407-4051-B4A1-AB20065C9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102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В конце каждый участник сохранит один конкретный результат работы.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552CE781-46D6-49DD-9B8A-0AD16B77D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1064397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1D608398-324B-46E9-90F5-734BBA8AF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7BF9C089-16CD-494C-AD51-93C60D403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Что такое искусственный интеллект?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B540EABE-CEA0-4ECB-BAC7-59FD12D3F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"/>
            <a:ext cx="1076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ИИ анализирует текст, изображения, звук и данные, затем готовит ответ или материал по заданию человека.</a:t>
            </a:r>
          </a:p>
        </p:txBody>
      </p:sp>
      <p:graphicFrame>
        <p:nvGraphicFramePr>
          <p:cNvPr id="11" name="Таблица 8"/>
          <p:cNvGraphicFramePr/>
          <p:nvPr/>
        </p:nvGraphicFramePr>
        <p:xfrm>
          <a:off xmlns:a="http://schemas.openxmlformats.org/drawingml/2006/main" x="704850" y="2714625"/>
          <a:ext xmlns:a="http://schemas.openxmlformats.org/drawingml/2006/main" cx="1076325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4000500"/>
                <a:gridCol w="4762500"/>
              </a:tblGrid>
              <a:tr h="5334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Исходные данные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Что делает ИИ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Результат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Текст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Анализирует смысл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Письмо, краткое содержание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Таблица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Находит закономерности и ошибки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Отчёт, список для проверки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Фото или файл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Распознаёт содержание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Объяснение, вопросы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Инструкция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Создаёт новый материал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Слайд, тест, план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</a:tbl>
          </a:graphicData>
        </a:graphic>
      </p:graphicFrame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0D2858F5-8F73-4E6B-A321-9993F73E9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58709703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Прямоугольник 19">
            <a:extLst xmlns:a="http://schemas.openxmlformats.org/drawingml/2006/main">
              <a:ext uri="{FF2B5EF4-FFF2-40B4-BE49-F238E27FC236}">
                <a16:creationId xmlns:a16="http://schemas.microsoft.com/office/drawing/2014/main" id="{E10DE011-6468-4337-8EB1-00FCF5BBC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D3EDB5E4-6454-4F18-AABB-96283C2B3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Порядок работы с ИИ</a:t>
            </a:r>
          </a:p>
        </p:txBody>
      </p:sp>
      <p:sp>
        <p:nvSpPr>
          <p:cNvPr id="3" name="Скругленный 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F8A607DB-DE59-4E29-A81A-3E3D569E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0"/>
            <a:ext cx="1809750" cy="1285875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1567A10F-56CF-48B9-AD67-88A4C9B68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288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1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C368A19B-F3F2-4B28-85C4-4F8AC1A9D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09875"/>
            <a:ext cx="142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Задача</a:t>
            </a:r>
          </a:p>
        </p:txBody>
      </p:sp>
      <p:sp>
        <p:nvSpPr>
          <p:cNvPr id="6" name="Скругленный 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8F102061-5B97-4FDD-BB23-115AF637F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286000"/>
            <a:ext cx="1809750" cy="1285875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C373FE9A-D819-4030-BF47-07EE1B5B4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4288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2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B5400E83-8D1B-46EE-8EB2-D6635679F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809875"/>
            <a:ext cx="142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539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Точный запрос</a:t>
            </a:r>
          </a:p>
        </p:txBody>
      </p:sp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41ED5F2-638F-4090-AEB3-B52B9D413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286000"/>
            <a:ext cx="1809750" cy="1285875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8739ECB3-D3E8-48F9-BDFA-476981F73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4288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3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ADC68703-354E-447D-98BB-2DAA1287B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809875"/>
            <a:ext cx="142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Ответ ИИ</a:t>
            </a:r>
          </a:p>
        </p:txBody>
      </p:sp>
      <p:sp>
        <p:nvSpPr>
          <p:cNvPr id="12" name="Скругленный 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5916A06A-CE47-441D-8B12-4FE0B80B4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286000"/>
            <a:ext cx="1809750" cy="1285875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4ED27876-2B88-4E18-9298-69B98E4EE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4288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4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F7D1A46C-8FC3-45FA-A25C-5C7977972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09875"/>
            <a:ext cx="142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539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Проверка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человеком</a:t>
            </a:r>
          </a:p>
        </p:txBody>
      </p:sp>
      <p:sp>
        <p:nvSpPr>
          <p:cNvPr id="15" name="Скругленный 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91CE7D0B-435B-4326-AF21-E67F85DED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286000"/>
            <a:ext cx="1809750" cy="1285875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B8F238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F0D41579-E93F-4520-9241-C6995D8CC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4288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5</a:t>
            </a:r>
          </a:p>
        </p:txBody>
      </p:sp>
      <p:sp>
        <p:nvSpPr>
          <p:cNvPr id="17" name="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8255BE04-823E-40AC-BEBF-FE776403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809875"/>
            <a:ext cx="142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539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Готовый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результат</a:t>
            </a:r>
          </a:p>
        </p:txBody>
      </p:sp>
      <p:sp>
        <p:nvSpPr>
          <p:cNvPr id="18" name="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CDA40FCB-53AB-4E0B-939F-3C417CC87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Окончательное решение и ответственность всегда остаются за человеком.</a:t>
            </a:r>
          </a:p>
        </p:txBody>
      </p:sp>
      <p:sp>
        <p:nvSpPr>
          <p:cNvPr id="19" name="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6D093622-3FA7-4480-80B4-0FE4329DD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20126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Прямоугольник 24">
            <a:extLst xmlns:a="http://schemas.openxmlformats.org/drawingml/2006/main">
              <a:ext uri="{FF2B5EF4-FFF2-40B4-BE49-F238E27FC236}">
                <a16:creationId xmlns:a16="http://schemas.microsoft.com/office/drawing/2014/main" id="{78E21AD7-1FA4-4E57-A840-66082F2E7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A2B15B0D-ABE5-4CE2-A879-28284AE4F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Возможности и ограничения ИИ</a:t>
            </a:r>
          </a:p>
        </p:txBody>
      </p:sp>
      <p:sp>
        <p:nvSpPr>
          <p:cNvPr id="3" name="Скругленный 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C8C4C8C7-0609-4F2E-931F-0026323C9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5095875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38988772-9F1D-4741-8C27-122D1BD85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1524000"/>
            <a:ext cx="5095875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581B31D6-3744-474F-B864-72B07CD2B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62125"/>
            <a:ext cx="428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Помогает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79B3CC9B-18DE-4172-A9A7-EA81E2D65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2667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4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98275D36-2371-4290-B327-A05966E53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333625"/>
            <a:ext cx="39243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Подготовить первый вариант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302BD26F-98F5-4D09-BFA3-BCBBB6064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28938"/>
            <a:ext cx="2667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4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6545B8DF-4C0E-4264-B2BC-3857F8DD5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928938"/>
            <a:ext cx="39243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Сократить длинный текст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24F026E1-493D-492B-8226-B53E1C68C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24250"/>
            <a:ext cx="2667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4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2A1D9836-64A3-415B-BFA7-596678E6F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524250"/>
            <a:ext cx="39243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Проанализировать таблицу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ACEAF729-4608-44D1-A7FE-51AE5C6B3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19563"/>
            <a:ext cx="2667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4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9C16195A-2CA8-42F5-9854-1A76C4E7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19563"/>
            <a:ext cx="39243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Изменить язык и стиль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71E175A8-934B-4A62-9CB5-027FEAC1A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762125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Не гарантирует</a:t>
            </a:r>
          </a:p>
        </p:txBody>
      </p:sp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A952AF69-0B49-442E-B730-3CC277C0D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333625"/>
            <a:ext cx="2667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4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6" name="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80D2FE3A-51CF-4E22-BD03-5D9211B30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333625"/>
            <a:ext cx="39243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Правильность каждого ответа</a:t>
            </a:r>
          </a:p>
        </p:txBody>
      </p:sp>
      <p:sp>
        <p:nvSpPr>
          <p:cNvPr id="17" name="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2DF96168-0922-498F-8C80-B28556BEC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928938"/>
            <a:ext cx="2667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4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8" name="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454FBF01-9BD9-446F-B871-A4D42C87C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928938"/>
            <a:ext cx="39243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Актуальность документа</a:t>
            </a:r>
          </a:p>
        </p:txBody>
      </p:sp>
      <p:sp>
        <p:nvSpPr>
          <p:cNvPr id="19" name="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F35AA23D-974F-450C-B7AC-DF4BAEC90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524250"/>
            <a:ext cx="2667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4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20" name="Прямоугольник 19">
            <a:extLst xmlns:a="http://schemas.openxmlformats.org/drawingml/2006/main">
              <a:ext uri="{FF2B5EF4-FFF2-40B4-BE49-F238E27FC236}">
                <a16:creationId xmlns:a16="http://schemas.microsoft.com/office/drawing/2014/main" id="{F391A7B1-3D93-48C5-A452-F9EA13C4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524250"/>
            <a:ext cx="39243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Соответствие требованиям компании</a:t>
            </a:r>
          </a:p>
        </p:txBody>
      </p:sp>
      <p:sp>
        <p:nvSpPr>
          <p:cNvPr id="21" name="Прямоугольник 20">
            <a:extLst xmlns:a="http://schemas.openxmlformats.org/drawingml/2006/main">
              <a:ext uri="{FF2B5EF4-FFF2-40B4-BE49-F238E27FC236}">
                <a16:creationId xmlns:a16="http://schemas.microsoft.com/office/drawing/2014/main" id="{0590512A-5B9C-49C6-82D0-1CA02CA11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119563"/>
            <a:ext cx="2667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4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22" name="Прямоугольник 21">
            <a:extLst xmlns:a="http://schemas.openxmlformats.org/drawingml/2006/main">
              <a:ext uri="{FF2B5EF4-FFF2-40B4-BE49-F238E27FC236}">
                <a16:creationId xmlns:a16="http://schemas.microsoft.com/office/drawing/2014/main" id="{2B371FDB-A1D7-4810-BF29-D3D5C215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119563"/>
            <a:ext cx="39243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Защиту конфиденциальных данных</a:t>
            </a:r>
          </a:p>
        </p:txBody>
      </p:sp>
      <p:sp>
        <p:nvSpPr>
          <p:cNvPr id="23" name="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2BD25BA1-6DD7-4BCB-B6B8-9CED69ABE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197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ИИ предложил. Человек проверил. Человек принял решение.</a:t>
            </a:r>
          </a:p>
        </p:txBody>
      </p:sp>
      <p:sp>
        <p:nvSpPr>
          <p:cNvPr id="24" name="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80948D10-B7AE-4FA7-91F3-9210FC0D8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46299445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E14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89A403DB-B128-442A-86C6-A08E0B5D7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БЕЗОПАСНОСТЬ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B05A50D9-D8FC-47B6-95D9-C9B1F05F1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Конфиденциальность и безопасность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C6893E68-39E6-4698-935A-305F8F765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"/>
            <a:ext cx="666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В открытый сервис ИИ не вводим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AB926FFF-33FB-49A8-A304-819E06BB7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00250"/>
            <a:ext cx="266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16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55E4E443-56E7-47ED-ADC7-A0C760CE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000250"/>
            <a:ext cx="9925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Служебные секреты и неопубликованные внутренние документы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148CBA3A-AD6D-4AF7-830E-F4761D059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67000"/>
            <a:ext cx="266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16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5A11275B-74DF-4473-8276-702447F92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67000"/>
            <a:ext cx="9925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Персональные данные, логины, пароли и контакты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716D2A45-82D8-40B8-8E88-D814625E6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33750"/>
            <a:ext cx="266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16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9268711D-8091-4A59-92F2-551AA2E8D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33750"/>
            <a:ext cx="9925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Точные схемы и уязвимости защищённых объектов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298A9384-4746-42EC-A994-CA49ED53B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66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16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E03CCA28-E884-4EC4-AE58-BF5E32033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00500"/>
            <a:ext cx="9925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Коммерческие договоры и закрытые финансовые сведения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A5443E7F-FB2E-42FD-AC66-B20D648F3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38750"/>
            <a:ext cx="1076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Правило: не отправляйте в открытый ИИ информацию, которую нельзя публиковать в интернете.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35CCA661-7432-4560-B2EE-17E1FD5F9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9645831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819CB081-E501-4826-8B06-9A648274D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БЕЗОПАСНОСТЬ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05CA10BB-1BB7-4CC2-BBE2-88C15ADEF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Безопасная подготовка данных</a:t>
            </a:r>
          </a:p>
        </p:txBody>
      </p:sp>
      <p:graphicFrame>
        <p:nvGraphicFramePr>
          <p:cNvPr id="10" name="Таблица 7"/>
          <p:cNvGraphicFramePr/>
          <p:nvPr/>
        </p:nvGraphicFramePr>
        <p:xfrm>
          <a:off xmlns:a="http://schemas.openxmlformats.org/drawingml/2006/main" x="704850" y="1571625"/>
          <a:ext xmlns:a="http://schemas.openxmlformats.org/drawingml/2006/main" cx="10763250" cy="3190878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953000"/>
                <a:gridCol w="5810250"/>
              </a:tblGrid>
              <a:tr h="531813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Небезопасный вариант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Безопасный учебный вариант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</a:tr>
              <a:tr h="53181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ФИО сотрудника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Сотрудник 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181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Реальный объект и адрес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Производственный объект №1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53181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Номер и сумма договора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Договор X, без суммы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181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Данные о реальной аварии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Вымышленная ситуация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53181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Полный документ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Только нужный отрывок без секретов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9CC95138-CE4E-40C2-A516-D0D9CA69E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38750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Сначала удалите лишние данные. Только потом отправляйте материал в ИИ.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AE4AEF5C-0C9D-4CF1-BFCF-B8CFB6C64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7544205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95B52D66-D5C8-4B44-8EFE-C16AAB8A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3133884B-FBD9-4E15-BDDB-68C386EFB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Какой сервис подходит для задачи?</a:t>
            </a:r>
          </a:p>
        </p:txBody>
      </p:sp>
      <p:graphicFrame>
        <p:nvGraphicFramePr>
          <p:cNvPr id="18" name="Таблица 7"/>
          <p:cNvGraphicFramePr/>
          <p:nvPr/>
        </p:nvGraphicFramePr>
        <p:xfrm>
          <a:off xmlns:a="http://schemas.openxmlformats.org/drawingml/2006/main" x="704850" y="1524000"/>
          <a:ext xmlns:a="http://schemas.openxmlformats.org/drawingml/2006/main" cx="10763251" cy="4191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13050"/>
                <a:gridCol w="3467057"/>
                <a:gridCol w="4483144"/>
              </a:tblGrid>
              <a:tr h="6985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Задача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 чего начать</a:t>
                      </a:r>
                      <a:endParaRPr sz="1125" b="1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  <a:endParaRPr sz="1125" b="1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</a:tr>
              <a:tr h="698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Письмо, план, объяснение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ChatGPT или Gemini</a:t>
                      </a:r>
                      <a:endParaRPr sz="105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  <a:endParaRPr sz="105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8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Анализ документов и файлов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Gemini или ChatGPT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  <a:endParaRPr sz="105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698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Веб-поиск с источниками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Perplexity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  <a:endParaRPr sz="105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8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Первый вариант слайдов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Gamma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  <a:endParaRPr sz="105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698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Анализ таблицы</a:t>
                      </a:r>
                      <a:endParaRPr sz="105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ChatGPT или Gemini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  <a:endParaRPr sz="105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C512A1BF-CCD8-4702-A962-858DC3929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09</a:t>
            </a:r>
          </a:p>
        </p:txBody>
      </p:sp>
      <p:pic>
        <p:nvPicPr>
          <p:cNvPr id="20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6fe0e8c3b64c6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24700" y="2280324"/>
            <a:ext cx="565150" cy="565150"/>
          </a:xfrm>
          <a:prstGeom xmlns:a="http://schemas.openxmlformats.org/drawingml/2006/main" prst="rect">
            <a:avLst/>
          </a:prstGeom>
        </p:spPr>
      </p:pic>
      <p:pic>
        <p:nvPicPr>
          <p:cNvPr id="21" name="Pictur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b8925cab034f2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37500" y="2239049"/>
            <a:ext cx="1028700" cy="576501"/>
          </a:xfrm>
          <a:prstGeom xmlns:a="http://schemas.openxmlformats.org/drawingml/2006/main" prst="rect">
            <a:avLst/>
          </a:prstGeom>
        </p:spPr>
      </p:pic>
      <p:pic>
        <p:nvPicPr>
          <p:cNvPr id="22" name="Pictur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b8925cab034f2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24700" y="2943899"/>
            <a:ext cx="1028700" cy="576501"/>
          </a:xfrm>
          <a:prstGeom xmlns:a="http://schemas.openxmlformats.org/drawingml/2006/main" prst="rect">
            <a:avLst/>
          </a:prstGeom>
        </p:spPr>
      </p:pic>
      <p:pic>
        <p:nvPicPr>
          <p:cNvPr id="23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6fe0e8c3b64c6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2500" y="2971579"/>
            <a:ext cx="565150" cy="565150"/>
          </a:xfrm>
          <a:prstGeom xmlns:a="http://schemas.openxmlformats.org/drawingml/2006/main" prst="rect">
            <a:avLst/>
          </a:prstGeom>
        </p:spPr>
      </p:pic>
      <p:pic>
        <p:nvPicPr>
          <p:cNvPr id="24" name="Picture 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08266703834c7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24700" y="3648772"/>
            <a:ext cx="1028700" cy="551985"/>
          </a:xfrm>
          <a:prstGeom xmlns:a="http://schemas.openxmlformats.org/drawingml/2006/main" prst="rect">
            <a:avLst/>
          </a:prstGeom>
        </p:spPr>
      </p:pic>
      <p:pic>
        <p:nvPicPr>
          <p:cNvPr id="25" name="Picture 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659ec0236240b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24700" y="4412808"/>
            <a:ext cx="1028700" cy="540192"/>
          </a:xfrm>
          <a:prstGeom xmlns:a="http://schemas.openxmlformats.org/drawingml/2006/main" prst="rect">
            <a:avLst/>
          </a:prstGeom>
        </p:spPr>
      </p:pic>
      <p:pic>
        <p:nvPicPr>
          <p:cNvPr id="26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6fe0e8c3b64c6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24700" y="5051425"/>
            <a:ext cx="565150" cy="565150"/>
          </a:xfrm>
          <a:prstGeom xmlns:a="http://schemas.openxmlformats.org/drawingml/2006/main" prst="rect">
            <a:avLst/>
          </a:prstGeom>
        </p:spPr>
      </p:pic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b8925cab034f2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35925" y="5045749"/>
            <a:ext cx="1028700" cy="57650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85133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87F1B4CF-F5E1-4D90-AAC9-CE7281A93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1F4B32F6-314F-4894-8373-674FA65E9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Первый запрос в браузере</a:t>
            </a:r>
          </a:p>
        </p:txBody>
      </p:sp>
      <p:pic>
        <p:nvPicPr>
          <p:cNvPr id="10" name="Рисунок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8bad0ea27342e6"/>
          <a:stretch xmlns:a="http://schemas.openxmlformats.org/drawingml/2006/main"/>
        </p:blipFill>
        <p:spPr>
          <a:xfrm xmlns:a="http://schemas.openxmlformats.org/drawingml/2006/main">
            <a:off x="3038475" y="1524000"/>
            <a:ext cx="6096000" cy="3429000"/>
          </a:xfrm>
          <a:prstGeom xmlns:a="http://schemas.openxmlformats.org/drawingml/2006/main" prst="rect">
            <a:avLst/>
          </a:prstGeom>
        </p:spPr>
      </p:pic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5799294F-5BCC-41FB-8666-0C3D460D2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38750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1. Нажмите на поле ввода   2. Напишите задачу   3. Отправьте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867FCA8C-6998-46BA-91CB-A5F141BAD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56037102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3860AD0A-5ED5-45F3-8183-1C9A7E964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7B15A998-1DB2-4E21-BA66-A6A725CB3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Формула точного запроса</a:t>
            </a:r>
          </a:p>
        </p:txBody>
      </p:sp>
      <p:graphicFrame>
        <p:nvGraphicFramePr>
          <p:cNvPr id="10" name="Таблица 7"/>
          <p:cNvGraphicFramePr/>
          <p:nvPr/>
        </p:nvGraphicFramePr>
        <p:xfrm>
          <a:off xmlns:a="http://schemas.openxmlformats.org/drawingml/2006/main" x="704850" y="1476375"/>
          <a:ext xmlns:a="http://schemas.openxmlformats.org/drawingml/2006/main" cx="10763250" cy="3762378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047750"/>
                <a:gridCol w="2952750"/>
                <a:gridCol w="6762750"/>
              </a:tblGrid>
              <a:tr h="627063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Шаг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Что указываем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Пример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</a:tr>
              <a:tr h="62706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Роль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Ты делопроизводитель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706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Задача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Напиши короткое служебное письмо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62706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Текст</a:t>
                      </a:r>
                      <a:endParaRPr sz="105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Срок перенесли на 25 сентября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706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Формат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На казахском и русском, до 120 слов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62706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Ограничение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Не добавляй фактов, которых нет в тексте</a:t>
                      </a:r>
                      <a:endParaRPr sz="105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80EFD994-9051-442E-A2CB-39AFB9C5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7212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Если данных недостаточно, сначала задай уточняющий вопрос.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61F43FC5-48D8-4565-933D-5EA8735A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09698981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DC8CBE6D-E35A-4916-A68C-8A5F84339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AD9A2753-96B7-4258-AAC3-4122EA820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720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Перенос встречи</a:t>
            </a:r>
            <a:endParaRPr sz="2550" b="1">
              <a:solidFill>
                <a:srgbClr val="0E1420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01A71232-E6D0-4F60-893F-836E5705D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66801"/>
            <a:ext cx="10744200" cy="144417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E2D0DD6D-700E-469B-9C72-7F933BE13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204913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ЗАПРОС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1740B5DB-816F-4869-B888-68EE008D4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863341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Ты помощник по деловой переписке. Напиши вежливое сообщение с просьбой перенести завтрашнюю встречу с 15:00 на 16:00. Дай версии на казахском и русском языках. Каждая версия должна содержать не больше двух предложений.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AF262E9E-F660-4D10-BAC3-9AF84E122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2031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Учебный пример. Не вводим конфиденциальные и персональные данные.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3FA06C87-BBFD-4BAF-B283-433EFD7DE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12</a:t>
            </a:r>
          </a:p>
        </p:txBody>
      </p:sp>
      <p:pic>
        <p:nvPicPr>
          <p:cNvPr id="26" name="Рисунок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04db06c40f4431"/>
          <a:srcRect xmlns:a="http://schemas.openxmlformats.org/drawingml/2006/main" l="28936" t="0" r="22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1243" y="2877781"/>
            <a:ext cx="4905829" cy="3388246"/>
          </a:xfrm>
          <a:prstGeom xmlns:a="http://schemas.openxmlformats.org/drawingml/2006/main" prst="rect">
            <a:avLst/>
          </a:prstGeom>
        </p:spPr>
      </p:pic>
      <p:pic>
        <p:nvPicPr>
          <p:cNvPr id="27" name="Рисунок 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7eff0ef0ee4a54"/>
          <a:srcRect xmlns:a="http://schemas.openxmlformats.org/drawingml/2006/main" l="26226" t="0" r="1551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39643" y="2877781"/>
            <a:ext cx="4528457" cy="3388246"/>
          </a:xfrm>
          <a:prstGeom xmlns:a="http://schemas.openxmlformats.org/drawingml/2006/main" prst="rect">
            <a:avLst/>
          </a:prstGeom>
        </p:spPr>
      </p:pic>
      <p:sp>
        <p:nvSpPr>
          <p:cNvPr id="16" name="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E607D1A2-1445-28AD-1E35-3C87621ED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10312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Проверка: совпадают ли дата, время, смысл просьбы и вежливый тон?</a:t>
            </a:r>
          </a:p>
        </p:txBody>
      </p:sp>
    </p:spTree>
    <p:extLst>
      <p:ext uri="{BB962C8B-B14F-4D97-AF65-F5344CB8AC3E}">
        <p14:creationId xmlns:p14="http://schemas.microsoft.com/office/powerpoint/2010/main" val="8014456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B117D4DA-E39F-4D71-8B53-39FF54C7B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28526F6E-C854-4EF3-A9D5-61F4281B5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Если ответ не подходит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A1245AAA-EE0E-446D-AA98-937A27EB8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24000"/>
            <a:ext cx="2667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BEE9B5D0-CD5A-4E95-B048-16B58B352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524000"/>
            <a:ext cx="9925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«Мне нужен только текст сообщения»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0FED2C29-1885-4E61-A712-A6D8D6C29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2667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CACDB5FF-9494-449D-BBD7-111D79E3F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47900"/>
            <a:ext cx="9925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«Перепиши короче и проще»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C555B43F-570A-44D2-85B4-96BFB59D0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71800"/>
            <a:ext cx="2667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34A0F9EB-4BBD-4EF1-9812-21BF92322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71800"/>
            <a:ext cx="9925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«Дай два варианта: официальный и неофициальный»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790BACE4-96AC-431C-B8E3-270956987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2667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CAC3DC10-2311-4755-B272-709CEF091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95700"/>
            <a:ext cx="9925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«Убери информацию, которой нет в исходном тексте»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810B440E-03F0-46C9-BA27-CFD5C5AD7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19600"/>
            <a:ext cx="2667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967904C9-DFB9-48A2-A713-DF95F31FA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19600"/>
            <a:ext cx="9925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Если тема изменилась, начните новый чат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2E03B09E-7F03-4F29-A668-179C78508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72125"/>
            <a:ext cx="1076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Хороший результат часто появляется после уточнения запроса.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EA3AC1FD-173D-4A6C-B25B-B619DF0E2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40868528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E14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Прямоугольник 19">
            <a:extLst xmlns:a="http://schemas.openxmlformats.org/drawingml/2006/main">
              <a:ext uri="{FF2B5EF4-FFF2-40B4-BE49-F238E27FC236}">
                <a16:creationId xmlns:a16="http://schemas.microsoft.com/office/drawing/2014/main" id="{FBAEE076-B5D3-4A0F-B1AD-5ADD7EF4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ИНСТРУМЕНТЫ ИИ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62EB6B37-CF66-4E39-BD21-F01EB8C83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Порядок знакомства с сервисами ИИ</a:t>
            </a:r>
          </a:p>
        </p:txBody>
      </p:sp>
      <p:sp>
        <p:nvSpPr>
          <p:cNvPr id="3" name="Скругленный 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92003FDC-6551-469D-86D2-883517A8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81250"/>
            <a:ext cx="1809750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B8F238"/>
          </a:solidFill>
          <a:ln xmlns:a="http://schemas.openxmlformats.org/drawingml/2006/main" w="9525">
            <a:solidFill>
              <a:srgbClr val="1B223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C9434EE8-B890-403E-B000-F515F010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24125"/>
            <a:ext cx="361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1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E260431C-A73D-4379-B3FD-6ACD3FEA9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05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ChatGPT</a:t>
            </a:r>
          </a:p>
        </p:txBody>
      </p:sp>
      <p:sp>
        <p:nvSpPr>
          <p:cNvPr id="6" name="Скругленный 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DFC64620-3E1D-41C3-8E3C-0BF593F54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381250"/>
            <a:ext cx="1809750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B2230"/>
          </a:solidFill>
          <a:ln xmlns:a="http://schemas.openxmlformats.org/drawingml/2006/main" w="9525">
            <a:solidFill>
              <a:srgbClr val="1B223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BB7A9B3D-205C-43AE-A5A0-D1CB0840D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524125"/>
            <a:ext cx="361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2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9847673A-4254-4A5F-A9CC-FFF2912FF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905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Gemini</a:t>
            </a:r>
          </a:p>
        </p:txBody>
      </p:sp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ED08D9E9-6F13-417E-826B-F327A0312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381250"/>
            <a:ext cx="1809750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B2230"/>
          </a:solidFill>
          <a:ln xmlns:a="http://schemas.openxmlformats.org/drawingml/2006/main" w="9525">
            <a:solidFill>
              <a:srgbClr val="1B223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CE116ED0-776E-4553-BE5D-4F7A07EAD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524125"/>
            <a:ext cx="361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3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78A918CB-4E40-44A0-A5E1-8CB913E09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905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Perplexity</a:t>
            </a:r>
          </a:p>
        </p:txBody>
      </p:sp>
      <p:sp>
        <p:nvSpPr>
          <p:cNvPr id="12" name="Скругленный 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506D373E-AE48-43A1-94EF-94AA286F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381250"/>
            <a:ext cx="1809750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B2230"/>
          </a:solidFill>
          <a:ln xmlns:a="http://schemas.openxmlformats.org/drawingml/2006/main" w="9525">
            <a:solidFill>
              <a:srgbClr val="1B223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0D901FD3-AB79-4571-BC7D-ACE1D1295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524125"/>
            <a:ext cx="361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4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E790C890-B540-4C0D-8D0D-700F2FE36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905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Grok</a:t>
            </a:r>
          </a:p>
        </p:txBody>
      </p:sp>
      <p:sp>
        <p:nvSpPr>
          <p:cNvPr id="15" name="Скругленный 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F114BCA9-33E3-4EE0-B9AA-137C49B76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381250"/>
            <a:ext cx="1809750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B2230"/>
          </a:solidFill>
          <a:ln xmlns:a="http://schemas.openxmlformats.org/drawingml/2006/main" w="9525">
            <a:solidFill>
              <a:srgbClr val="1B223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3B32E8FD-44BC-409F-A778-C294EC5D2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524125"/>
            <a:ext cx="361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5</a:t>
            </a:r>
          </a:p>
        </p:txBody>
      </p:sp>
      <p:sp>
        <p:nvSpPr>
          <p:cNvPr id="17" name="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53C9D436-0484-4481-B8A7-D51BBF082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905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Gamma</a:t>
            </a:r>
          </a:p>
        </p:txBody>
      </p:sp>
      <p:sp>
        <p:nvSpPr>
          <p:cNvPr id="18" name="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3ACACE33-6714-4252-8E43-DF4F9C0DE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957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Каждый сервис: назначение, запрос, ответ на экране, проверка</a:t>
            </a:r>
          </a:p>
        </p:txBody>
      </p:sp>
      <p:sp>
        <p:nvSpPr>
          <p:cNvPr id="19" name="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7532AC93-5E43-474E-BAB1-D1BAECA42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56392158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9FE79CE6-F702-4D5E-AE3B-AD27D0A58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2. GEMINI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AE760FCC-D0B4-4D31-A8CE-3B9CE3D97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Для чего нужен Gemini?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BD7FF49A-407D-4288-AF7A-3A07C856A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6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Gemini помогает работать с текстом, изображениями и файлами, разрешёнными к передаче.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A9C609A5-4F16-4C6A-9662-3CCC63CDE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266700" cy="6429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218970CE-1882-43F4-BBDB-4ACB557C2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381250"/>
            <a:ext cx="9925050" cy="6429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Кратко изложить главную мысль документа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4E6742D1-E826-49DC-A988-69BF3F2A3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4188"/>
            <a:ext cx="266700" cy="6429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2C7259C9-E008-46D4-89B7-5674D36F2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24188"/>
            <a:ext cx="9925050" cy="6429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Объяснить текст на фото или скриншоте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BE923C0D-A5B5-41D8-AB0C-572B1DBBC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67125"/>
            <a:ext cx="266700" cy="6429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63CC286-FBAE-4A7D-8705-2C9174DEE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67125"/>
            <a:ext cx="9925050" cy="6429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Проанализировать данные таблицы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08CCB1FC-415F-4B66-BF8F-28C74084F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10063"/>
            <a:ext cx="266700" cy="6429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CFB92E0C-998B-40D1-9394-A3C0EEF6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10063"/>
            <a:ext cx="9925050" cy="6429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Подготовить текст на казахском и русском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59B3F015-2EFA-431A-9A3A-0EEFA52BA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76875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Внутренние и конфиденциальные файлы не загружаем в открытый сервис.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7782585D-B0DF-4DD7-ABE7-3006B0728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01688270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E285B118-3D66-4B02-ABC2-E4F712E05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2. GEMINI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3528EE17-1516-49C3-96D2-6C9B3F5F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Начальный экран Gemini</a:t>
            </a:r>
          </a:p>
        </p:txBody>
      </p:sp>
      <p:pic>
        <p:nvPicPr>
          <p:cNvPr id="10" name="Рисунок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cd51b92b2f4c36"/>
          <a:stretch xmlns:a="http://schemas.openxmlformats.org/drawingml/2006/main"/>
        </p:blipFill>
        <p:spPr>
          <a:xfrm xmlns:a="http://schemas.openxmlformats.org/drawingml/2006/main">
            <a:off x="2699808" y="1381125"/>
            <a:ext cx="6773333" cy="3810000"/>
          </a:xfrm>
          <a:prstGeom xmlns:a="http://schemas.openxmlformats.org/drawingml/2006/main" prst="rect">
            <a:avLst/>
          </a:prstGeom>
        </p:spPr>
      </p:pic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56C71436-3222-4B79-91AD-73D9AF691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292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Кнопка «+» позволяет добавить разрешённое фото или файл.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143991F8-D118-4D12-AF4F-8FD18BD44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99976505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9F62C01-79C2-4428-A304-93853BA3B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42CFEA92-386B-4D51-83EE-A2A49E708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Gemini: запрос для таблицы Excel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EDA8F25E-1AAF-4DDF-AFC3-EF3AA8105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В файле только вымышленные учебные данные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510B79C3-6BD0-4CC9-9047-9D93E53FD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38300"/>
            <a:ext cx="4796064" cy="3122386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0A8E609B-ACA9-4FEA-BE8B-710040792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ЗАПРОС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84E5F42E-6005-43C4-B986-1E96AE49B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536" y="2171700"/>
            <a:ext cx="4151086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407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Проанализируй всю учебную таблицу из 300 строк. Посчитай строки и уникальные ID, количество по статусам. Покажи незакрытые строки с просрочкой на 15.09.2026, повторяющиеся ID и строки без ответственного. Опиши правила расчёта.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CE3EDAA9-5E6A-4DD1-B8C5-4E892AE7A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17</a:t>
            </a:r>
          </a:p>
        </p:txBody>
      </p:sp>
      <p:pic>
        <p:nvPicPr>
          <p:cNvPr id="18" name="Рисунок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ed70eb67664dcf"/>
          <a:stretch xmlns:a="http://schemas.openxmlformats.org/drawingml/2006/main"/>
        </p:blipFill>
        <p:spPr>
          <a:xfrm xmlns:a="http://schemas.openxmlformats.org/drawingml/2006/main">
            <a:off x="5559878" y="1608364"/>
            <a:ext cx="6606113" cy="3505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61424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F4A4C892-ED8B-49CF-B970-5DEBB8589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2. GEMINI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9BEABD2E-392B-4BB0-B947-3C97F20D3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Gemini: запрос на экране</a:t>
            </a:r>
          </a:p>
        </p:txBody>
      </p:sp>
      <p:pic>
        <p:nvPicPr>
          <p:cNvPr id="10" name="Рисунок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cb4c97a23c492a"/>
          <a:stretch xmlns:a="http://schemas.openxmlformats.org/drawingml/2006/main"/>
        </p:blipFill>
        <p:spPr>
          <a:xfrm xmlns:a="http://schemas.openxmlformats.org/drawingml/2006/main">
            <a:off x="1238250" y="1510194"/>
            <a:ext cx="9715500" cy="3456613"/>
          </a:xfrm>
          <a:prstGeom xmlns:a="http://schemas.openxmlformats.org/drawingml/2006/main" prst="rect">
            <a:avLst/>
          </a:prstGeom>
        </p:spPr>
      </p:pic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838DB57F-E9B6-4BA9-90D7-AF8CA5D53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100638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В запросе указаны исходные данные, дата расчёта, нужные показатели и формат ответа.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C998CEE8-061D-4CFD-9DA8-7EB5A67FE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15406734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3BEFB714-E475-4B20-ADA8-B4ADC6A4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2. GEMINI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0816550A-ED80-4FC7-AC76-B9A97998B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Gemini: полученный ответ</a:t>
            </a:r>
          </a:p>
        </p:txBody>
      </p:sp>
      <p:pic>
        <p:nvPicPr>
          <p:cNvPr id="10" name="Рисунок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aad447a9ac48ae"/>
          <a:stretch xmlns:a="http://schemas.openxmlformats.org/drawingml/2006/main"/>
        </p:blipFill>
        <p:spPr>
          <a:xfrm xmlns:a="http://schemas.openxmlformats.org/drawingml/2006/main">
            <a:off x="3100234" y="1381125"/>
            <a:ext cx="5991532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8A77FD2F-AB2F-4D48-840B-16D8E47D5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29250"/>
            <a:ext cx="1076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Проверка: подтвердите один повтор ID и одну просроченную строку с помощью фильтра Excel.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8F442B26-D452-4EFD-A37B-19A2CD30F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3536433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76F75F17-783A-4D8C-8E53-2867F5C35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3. PERPLEXITY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05082292-DD91-406B-A292-48D868650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Для чего нужен Perplexity?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B71F423A-86E1-4E6E-9E94-87C1A7043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"/>
            <a:ext cx="10763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Perplexity ищет информацию в интернете и показывает ссылки на источники, использованные в ответе.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211DE911-7BE0-4BC0-B67E-3BA77576C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266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B11B6C65-D822-4825-A565-B5C35186C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76500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Найти актуальные правила и требования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91040BAC-E6DE-45D0-A6A9-953CBAF2E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95625"/>
            <a:ext cx="266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1FC1E3DA-D510-4E2F-AF2C-CDA52DC40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95625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Сравнить варианты по официальным данным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A62DA809-4B89-4FB8-B569-B2FA757C2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266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0AD49BAA-444D-4C45-A014-5120BB492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14750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Увидеть, с какого сайта взята информация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D56360E5-2D8E-4296-9B7D-752F924D1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33875"/>
            <a:ext cx="266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E2CB3190-56BF-4B99-95AE-9A759B06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33875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Открыть источник, проверить дату и текст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09D5305A-FB76-4B04-AC53-46697643F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76875"/>
            <a:ext cx="1076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Ответ со ссылками тоже нужно проверять.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9A93CBE7-216A-4179-B413-7031FB867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8598593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DA003AB8-F781-4BBF-95A5-04FA8385A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808C8148-0ACB-4D4B-A1B5-3CC787329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Perplexity: сравнение правил ручной клади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326D0AFF-26FE-4A2D-B0CE-ABB6B1C60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Пример веб-поиска для повседневной задачи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FE6CC06C-642C-4042-9FB1-45F8531D2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763250" cy="304800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DD542FC0-0A1B-4F21-9550-390ED15E1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ЗАПРОС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65E2D449-3D0F-4BC4-AA6A-805A60638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Сравни правила бесплатной ручной клади Air Astana в экономклассе и FlyArystan на 15.09.2026. В таблице укажи вес, размеры и число мест. Используй только официальные сайты. Для каждого факта дай ссылку и дату проверки.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257BC7F6-EFAC-4C90-A49C-A5F53E420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Учебный пример. Не вводим конфиденциальные и персональные данные.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8E12F0E4-AB76-4881-A1C3-E1F9B801E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76526689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30884CE5-9EAF-4B62-BC9E-72B656571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3. PERPLEXITY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964D1DDD-9445-4A7A-A865-91093B695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Perplexity: скриншот ответа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9107F62C-07C9-4B8A-92ED-C959D510B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09" y="5886450"/>
            <a:ext cx="1076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Перепроверьте цифры из ответа на официальном сайте авиакомпании.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629AE9DF-7828-4FE7-8454-3A71699E8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22</a:t>
            </a:r>
          </a:p>
        </p:txBody>
      </p:sp>
      <p:pic>
        <p:nvPicPr>
          <p:cNvPr id="11" name="Рисунок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ee1d064a3f41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96734" y="1170967"/>
            <a:ext cx="7772400" cy="446783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57719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3CB4FE26-B241-4305-9183-07E65480E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3. PERPLEXITY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3AD4FACB-259E-4A87-92FD-7D6D31620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Perplexity: проверка источника</a:t>
            </a:r>
          </a:p>
        </p:txBody>
      </p:sp>
      <p:graphicFrame>
        <p:nvGraphicFramePr>
          <p:cNvPr id="10" name="Таблица 7"/>
          <p:cNvGraphicFramePr/>
          <p:nvPr/>
        </p:nvGraphicFramePr>
        <p:xfrm>
          <a:off xmlns:a="http://schemas.openxmlformats.org/drawingml/2006/main" x="704850" y="1476375"/>
          <a:ext xmlns:a="http://schemas.openxmlformats.org/drawingml/2006/main" cx="1076325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7905750"/>
              </a:tblGrid>
              <a:tr h="619125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Что проверяем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Вопрос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Сайт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Это официальный сайт авиакомпании?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Дата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Когда обновили правила?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Тариф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Относится ли правило к экономклассу и нужному тарифу?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Размеры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Указаны ли вес, размеры и количество мест?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Противоречия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Есть ли на другой официальной странице иные правила?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0477EAEF-A0BD-48FD-B70E-215045E41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7212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Перед покупкой ещё раз проверьте условия конкретного тарифа.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D80F09A7-7AE9-4D0F-9ACB-107D1FBDE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12578456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F6F21D4F-AA1A-4AB6-9BFB-1A8B4F9D4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4. GROK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FDBD1D26-9D37-4807-96DA-E0A862935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Для чего нужен Grok?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44B7CFD6-AB60-4EE3-A3C8-81BD90873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"/>
            <a:ext cx="10763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Grok можно использовать для ответов на вопросы, обсуждения идей и ролевых диалогов.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8FD5A353-0586-4218-8B2F-CDE15CFA4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266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B5B88FDA-F7B6-4D53-A210-47BD98A85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76500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Потренировать разговор о приоритетах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04F684B1-A63F-42D6-80EF-1EA8E47A1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95625"/>
            <a:ext cx="266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553D4216-6932-40E0-AB44-845F2838B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95625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Подготовить короткий вариант сложного разговора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7D21D4B1-B0FE-46BE-B65A-CC86354C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266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D656DE22-9153-4C42-8456-5616A8A8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14750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Адаптировать план к новым обстоятельствам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754B2776-48C7-457C-A2C8-271730EAB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33875"/>
            <a:ext cx="266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5E0A50B6-43B0-46D1-A1BE-1BB513604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33875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Обсудить информацию из интернета и публикаций в X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9E98E0B5-D43A-4CCD-AA43-6EE083625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76875"/>
            <a:ext cx="1076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Мнение в открытой публикации не считаем официальным фактом.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843044DA-430A-407F-8A4F-1F0A3FE9D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25315884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FB2EB725-A3ED-41F1-9D09-001926A13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4. GROK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4CC5842D-5503-46DE-BEAE-D0B1890B1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Начальный экран Grok</a:t>
            </a:r>
          </a:p>
        </p:txBody>
      </p:sp>
      <p:pic>
        <p:nvPicPr>
          <p:cNvPr id="10" name="Рисунок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134308838544e6"/>
          <a:stretch xmlns:a="http://schemas.openxmlformats.org/drawingml/2006/main"/>
        </p:blipFill>
        <p:spPr>
          <a:xfrm xmlns:a="http://schemas.openxmlformats.org/drawingml/2006/main">
            <a:off x="3035015" y="1285875"/>
            <a:ext cx="6102920" cy="4191000"/>
          </a:xfrm>
          <a:prstGeom xmlns:a="http://schemas.openxmlformats.org/drawingml/2006/main" prst="rect">
            <a:avLst/>
          </a:prstGeom>
        </p:spPr>
      </p:pic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219E40B9-42CD-4C80-A89D-852C324E7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6737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Поле ввода находится в центре. Интерфейс со временем может измениться.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B19E379C-38B6-46CC-8D5B-EA9878C29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32713232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772B8D22-0A07-4BDA-B38D-BD2225B9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8FB61E2E-091D-4BAE-8313-FC30235B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Grok: согласование приоритетов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CEBACB2E-6228-40F8-BB24-DFD715A31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На 12 часов работы есть только 8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2DFC58F8-6AE6-4CFC-BFBA-E2FF6C5D5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763250" cy="304800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37108020-EF26-425D-878A-70F709BB0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ЗАПРОС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24430F77-BC51-40AA-92AF-4A87885D6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Ты руководитель, я сотрудник. На отчёт нужно 5 часов, на сравнение заявок 4 часа, на письма 3 часа. Рабочий день длится 8 часов. Задавай вопросы по одному и помоги спокойно согласовать приоритеты. В конце составь выполнимый план.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487BFA86-732A-4BF3-BB9E-473948593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Учебный пример. Не вводим конфиденциальные и персональные данные.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33ED23FD-ECB3-4C68-ACA3-417C6FFB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62677679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CD53AFB7-9CA1-4CE4-B950-2BEC11E8C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РЕЗУЛЬТАТ НА ЭКРАНЕ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3991FE9D-29F3-4D33-9E50-A79A71492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Grok: результат диалога</a:t>
            </a:r>
          </a:p>
        </p:txBody>
      </p:sp>
      <p:sp>
        <p:nvSpPr>
          <p:cNvPr id="3" name="Скругленный 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5E35A4C3-4BB1-462C-9977-3584DEF5B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"/>
            <a:ext cx="10763250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2B108F77-7D83-4764-9A83-92EBF3EE2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906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УЧЕБНЫЙ ПРИМЕР ОТВЕТА ИИ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2FC59F9D-70B9-43A5-8DD5-6192D309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Вопрос Grok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501ACE2D-42CF-4E67-A1F0-511A41B73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002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Какой результат сегодня важнее всего для руководства?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5C92145B-C6F6-4BBB-A1D4-9F741E4E3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5270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Сотрудник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27D758CB-EC4A-40FE-8375-EB7B5F561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527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Отчёт нужно закончить сегодня. Сегодня могу разобрать половину заявок.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51C4BF85-69AE-40F9-A42C-20A43C8F8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0515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Предложение Grok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6CACBBF4-5246-438F-92AB-5D0C16337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051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5 часов на отчёт, 3 часа на важные заявки. Согласовать перенос писем на другое время.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B45FB3FB-A5A6-4D01-9E06-712168C04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5760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Следующий шаг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06A0A8F7-3EFD-41BC-8394-2665B51EF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6576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Уточнить с руководителем сроки и возможность перераспределить задачи.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90AF7723-9E8B-4903-B0D5-68C03C590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34000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Проверка: 5 + 3 = 8 часов? Нет ли невыполнимых обещаний?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443B4D32-4D94-41F7-8B89-CE7D47C0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42480124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CC4C5B50-1260-4EFD-9446-3A2060273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5. GAMMA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47194B95-08F0-41FE-A3AD-C1A89214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Для чего нужна Gamma?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FE4992B5-BD56-4DBE-A35F-53BD591BC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"/>
            <a:ext cx="10763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Gamma помогает подготовить структуру и оформление презентации на основе проверенного текста.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39B49026-7A73-4571-8C2C-C29824759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266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E30872F1-212F-4513-A79F-79C716330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76500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Разделить текст на слайды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C176B747-79BE-45D2-AFAF-82F932C69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95625"/>
            <a:ext cx="266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5E62AD56-B5D1-47C0-9BB5-4CA3A0383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95625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Предложить заголовки и краткое содержание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3CC67740-87AE-4369-AC20-833D08DE9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266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E0805C91-B080-4442-841B-95965269C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14750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Выбрать начальный визуальный стиль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4D2FC917-FDF2-4BCF-B651-98BA27023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33875"/>
            <a:ext cx="266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4CBBA027-8DA4-4469-A068-8F667A958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33875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Экспортировать материал и доработать вручную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32289CB7-C7EB-4137-BB16-7CE3CDB01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76875"/>
            <a:ext cx="1076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Автор презентации проверяет факты, изображения и текст, созданные Gamma.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73E9C05C-4EAA-48A8-8A44-575853CF9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11274839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F28E9326-88A6-4310-8CDE-6ECF9F7B5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746558EC-9D05-4BB0-82FC-BD17250DA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Gamma: запрос для презентации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7163C120-F946-4A99-8FA5-F3F5AB6C7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Передаём в Gamma только проверенный текст без конфиденциальных данных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9235C5F3-2EBA-461F-9CF4-F73F6093D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763250" cy="304800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AA412DB3-1388-4E1F-BC91-22085655D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ЗАПРОС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6ECB35F4-240E-477D-89B7-4DC236EB5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Создай 8 слайдов на тему «Как экономить рабочее время с помощью ИИ» для сотрудников Интергаза. Язык: казахский. Аудитория только знакомится с ИИ. Разделы: что такое ИИ, безопасность, служебное письмо, протокол, Excel, проверка источников, практика, итоги. На каждом слайде одна главная мысль.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D40256AB-A579-4775-84BC-0F001B1CD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Учебный пример. Не вводим конфиденциальные и персональные данные.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DF751404-CA94-414B-978B-9EF25B9BA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34003405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385E3208-5FEE-4096-938E-39BD4E0D7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5. GAMMA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80A6ABD4-73DB-4638-8647-4E341239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Gamma: пример результата</a:t>
            </a:r>
          </a:p>
        </p:txBody>
      </p:sp>
      <p:pic>
        <p:nvPicPr>
          <p:cNvPr id="10" name="Рисунок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812f58d6a7460a"/>
          <a:stretch xmlns:a="http://schemas.openxmlformats.org/drawingml/2006/main"/>
        </p:blipFill>
        <p:spPr>
          <a:xfrm xmlns:a="http://schemas.openxmlformats.org/drawingml/2006/main">
            <a:off x="2581666" y="1333500"/>
            <a:ext cx="7028669" cy="4095750"/>
          </a:xfrm>
          <a:prstGeom xmlns:a="http://schemas.openxmlformats.org/drawingml/2006/main" prst="rect">
            <a:avLst/>
          </a:prstGeom>
        </p:spPr>
      </p:pic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18E3B149-4916-4DC6-AADE-77A8EC70E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1975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Учебный пример: после подготовки структуры ещё раз проверяем текст, изображения, термины и данные.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2D04F98B-8204-47DE-B909-D4D2B09B3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883412555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E14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959C5625-0E2C-440C-8DAD-767EA1D68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РАЗДЕЛ 1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F68CB797-3799-48E5-9616-369A88FD0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ИИ в повседневной жизни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227760C4-728E-4846-A5FC-D5B368A37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876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Поездки, покупки, план дня и материалы для семьи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E3507BBE-01FA-4645-8945-533B31586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242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Цель: точно задать условия и проверить источники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668A02D8-89A4-42AF-867F-B2B329281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198209001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6AE4AFA1-60F4-4F73-AF93-33FD0DD1F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F6602AE3-3080-481B-932F-EE1477522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Планирование поездки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03E858B3-D84A-448E-A493-121D97D5A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Результат поиска не заменяет проверку при покупке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DCC1E44F-5AC1-4766-8736-20B575203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49" y="1809750"/>
            <a:ext cx="11372849" cy="1368879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AF1AB5EC-C86E-42C2-9F73-7164ADC47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ЗАПРОС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22130273-E3B5-4B4B-9E87-7B771AC99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64" y="161925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Помоги сравнить рейсы из Алматы в Астану на 25 сентября для одного человека. Мне нужно прибыть до 20:00, нужен багаж 20 кг. Дай таблицу: вылет, прилёт, багаж, полная цена, источник и дата проверки.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D0DFD2C4-308F-4422-AC06-6DEBAE69F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254829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Учебный пример. Не вводим конфиденциальные и персональные данные.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51970DB5-C649-49A6-B780-5B0B396F7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32</a:t>
            </a:r>
          </a:p>
        </p:txBody>
      </p:sp>
      <p:pic>
        <p:nvPicPr>
          <p:cNvPr id="20" name="Рисунок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fd5ccb2441471d"/>
          <a:srcRect xmlns:a="http://schemas.openxmlformats.org/drawingml/2006/main" l="26891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" y="3790950"/>
            <a:ext cx="5055961" cy="2319564"/>
          </a:xfrm>
          <a:prstGeom xmlns:a="http://schemas.openxmlformats.org/drawingml/2006/main" prst="rect">
            <a:avLst/>
          </a:prstGeom>
        </p:spPr>
      </p:pic>
      <p:pic>
        <p:nvPicPr>
          <p:cNvPr id="21" name="Рисунок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1ade7ca37e46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779076" y="3325884"/>
            <a:ext cx="6298623" cy="348283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520050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2E400159-7591-4055-87B4-AA97CFFE5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3A0A6105-DF56-43A8-B72E-558B80648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Сравнение покупок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3380BA03-5992-4C4F-A6B4-0300655C7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525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Сравниваем полную стоимость использования</a:t>
            </a:r>
            <a:endParaRPr sz="1350" b="0">
              <a:solidFill>
                <a:srgbClr val="59616E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EEF8E33C-9145-468D-8F2B-544CB567E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14450"/>
            <a:ext cx="10763250" cy="175260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DEA53009-4986-4A03-ADD5-41BA337DB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859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ЗАПРОС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F7664FF3-450A-4C14-8A37-95A633DC9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29540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Сравни два принтера: [ссылка 1] и [ссылка 2]. Я печатаю 500 страниц в месяц. На сайте производителя проверь скорость печати, двустороннюю печать, ресурс картриджа и гарантию. Объясни, какой вариант лучше подходит под мои требования.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9D30B7D0-AECE-43AE-A438-25BCF4B1A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Учебный пример. Не вводим конфиденциальные и персональные данные.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EF36CB13-0802-4560-9F6C-AA1583B66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33</a:t>
            </a:r>
          </a:p>
        </p:txBody>
      </p:sp>
      <p:pic>
        <p:nvPicPr>
          <p:cNvPr id="20" name="Рисунок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d7a20457dc42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1" y="3390901"/>
            <a:ext cx="3644900" cy="3415500"/>
          </a:xfrm>
          <a:prstGeom xmlns:a="http://schemas.openxmlformats.org/drawingml/2006/main" prst="rect">
            <a:avLst/>
          </a:prstGeom>
        </p:spPr>
      </p:pic>
      <p:pic>
        <p:nvPicPr>
          <p:cNvPr id="21" name="Рисунок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deaedf82fb4202"/>
          <a:stretch xmlns:a="http://schemas.openxmlformats.org/drawingml/2006/main"/>
        </p:blipFill>
        <p:spPr>
          <a:xfrm xmlns:a="http://schemas.openxmlformats.org/drawingml/2006/main">
            <a:off x="6015253" y="3219877"/>
            <a:ext cx="4570336" cy="359735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89534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7C6D0FA3-3FE3-42AF-BB52-AA65BF477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DD0A6C60-B9E7-41A3-B448-3F6DAA8EB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Планирование дня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E4003B6B-3AEB-4292-AF7A-B34A9A6A8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5136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Сначала ИИ уточняет недостающую информацию</a:t>
            </a:r>
            <a:endParaRPr sz="1350" b="0">
              <a:solidFill>
                <a:srgbClr val="59616E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3CA3F61F-1607-434F-8154-C052FE99B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7086"/>
            <a:ext cx="10763250" cy="1553028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BF7D00CA-B2DF-438D-8C2C-B085B76DC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430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ЗАПРОС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2233F03E-7F3D-419C-8B46-557A9567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99936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 10:00 до 16:00 мне нужно купить продукты, зайти в сервисный центр и навестить родителей. Оставь время на обед и запас 30 минут. Сначала спроси, сколько займут дорога и дела. Затем составь выполнимый план.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5AFCB994-5F0A-4EF6-94C6-955AA97CC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099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Учебный пример. Не вводим конфиденциальные и персональные данные.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538BE353-835C-457E-98A6-2EB19F822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34</a:t>
            </a:r>
          </a:p>
        </p:txBody>
      </p:sp>
      <p:pic>
        <p:nvPicPr>
          <p:cNvPr id="20" name="Рисунок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3c2488f910458d"/>
          <a:stretch xmlns:a="http://schemas.openxmlformats.org/drawingml/2006/main"/>
        </p:blipFill>
        <p:spPr>
          <a:xfrm xmlns:a="http://schemas.openxmlformats.org/drawingml/2006/main">
            <a:off x="1390695" y="3295650"/>
            <a:ext cx="4463961" cy="3560654"/>
          </a:xfrm>
          <a:prstGeom xmlns:a="http://schemas.openxmlformats.org/drawingml/2006/main" prst="rect">
            <a:avLst/>
          </a:prstGeom>
        </p:spPr>
      </p:pic>
      <p:pic>
        <p:nvPicPr>
          <p:cNvPr id="21" name="Рисунок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7a74d0b6f14b8f"/>
          <a:stretch xmlns:a="http://schemas.openxmlformats.org/drawingml/2006/main"/>
        </p:blipFill>
        <p:spPr>
          <a:xfrm xmlns:a="http://schemas.openxmlformats.org/drawingml/2006/main">
            <a:off x="7304959" y="3471076"/>
            <a:ext cx="4098133" cy="324798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937082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547DE0D8-59AA-4387-96DB-3247B02E3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A0001562-A4BC-4D37-9EFE-C1AE3F62E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Объяснение фото или файла</a:t>
            </a:r>
          </a:p>
        </p:txBody>
      </p:sp>
      <p:pic>
        <p:nvPicPr>
          <p:cNvPr id="13" name="Рисунок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72fccf84f1466f"/>
          <a:stretch xmlns:a="http://schemas.openxmlformats.org/drawingml/2006/main"/>
        </p:blipFill>
        <p:spPr>
          <a:xfrm xmlns:a="http://schemas.openxmlformats.org/drawingml/2006/main">
            <a:off x="704850" y="1162050"/>
            <a:ext cx="4572000" cy="3044788"/>
          </a:xfrm>
          <a:prstGeom xmlns:a="http://schemas.openxmlformats.org/drawingml/2006/main" prst="rect">
            <a:avLst/>
          </a:prstGeom>
        </p:spPr>
      </p:pic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FBE23662-DB08-45AD-9E85-DBC862934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1620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Пример запроса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066F8B79-3EBE-4145-AFCA-7071841C3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033462"/>
            <a:ext cx="49530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«Объясни основную мысль документа простыми словами. Отдельно укажи обязательные сроки и тех, кого они касаются. Для каждого ответа назови страницу или раздел»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0C70A954-0FA6-40C3-BC81-316DF89F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447925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Не загружаем конфиденциальные документы. Используем только разрешённый учебный файл.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71E2103B-DCAE-4931-8DBC-13A4FB9D4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35</a:t>
            </a:r>
          </a:p>
        </p:txBody>
      </p:sp>
      <p:pic>
        <p:nvPicPr>
          <p:cNvPr id="18" name="Рисунок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d4caf306bf454c"/>
          <a:stretch xmlns:a="http://schemas.openxmlformats.org/drawingml/2006/main"/>
        </p:blipFill>
        <p:spPr>
          <a:xfrm xmlns:a="http://schemas.openxmlformats.org/drawingml/2006/main">
            <a:off x="6352790" y="2976699"/>
            <a:ext cx="4803057" cy="388099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3159284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E14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E613F062-FAFA-447E-85E2-B47397A23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РАЗДЕЛ 2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A76550B6-A47A-4AB0-A7CC-1BD35175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Применение в работе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A9A60A5A-318D-49A6-BCFD-47BCBEBC7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9334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Служебные письма, протоколы, отчёты за смену, Excel и технические тексты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1C878364-F442-40B7-B5F6-1A465C092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242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Во всех учебных примерах используем вымышленные данные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72259983-CB72-455E-ACFE-4656B435A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1759055784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F1C020B2-FE72-45B7-AC22-0A017F725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A59FE84C-D628-471B-866C-60E4AFE9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1. Служебное письмо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7CE94793-DF98-4D60-B9E6-EAA70A74F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Учебные данные без реальных объектов и имён сотрудников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E1BA25B9-2328-4787-8590-6FA545D6E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763250" cy="304800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C62C0F01-34EA-46CC-8590-C2FFAFE10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ЗАПРОС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97AAE8F6-FD23-4F3A-98C1-30A9A5F96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Ты опытный делопроизводитель. Техническое обслуживание перенесли с 20 на 25 сентября. Причина в учебном примере: задержка запасной детали. Напиши руководству короткое служебное письмо в официальном стиле на казахском и русском языках. Не добавляй фактов, которых нет в исходном тексте.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910646B4-741F-4358-A91C-569E62993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Учебный пример. Не вводим конфиденциальные и персональные данные.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85F5337E-9499-4677-8045-86C97CD25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1092949281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5296DDC9-915D-48AA-824A-42455B50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РЕЗУЛЬТАТ НА ЭКРАНЕ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A2EB6A89-5572-442D-AF9F-7CEECF96A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1. Результат письма</a:t>
            </a:r>
          </a:p>
        </p:txBody>
      </p:sp>
      <p:sp>
        <p:nvSpPr>
          <p:cNvPr id="3" name="Скругленный 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69302833-1CC1-41B1-AB22-C6C00DB7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"/>
            <a:ext cx="10763250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3EB8D5D9-2AB3-43E9-B17A-0259A71EC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906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УЧЕБНЫЙ ПРИМЕР ОТВЕТА ИИ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2A55F29C-5821-4283-84E9-F7432CA26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Тема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D808CAC4-5DBA-42A5-B917-72BCFFF55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002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 переносе срока технического обслуживания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8145242C-D3ED-40DE-9C07-53C21A5C1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5270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Основная информация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BC24E261-D414-419D-9C96-908B5E117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527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Срок выполнения работ переносится с 20 на 25 сентября.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17B9C5A5-F185-4BD3-AA67-539431090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0515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Причина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EB7C85F0-7973-4ADF-944C-EB8A51AA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051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Задержка запасной детали.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40E78A10-2D24-431D-8623-CF30406E6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5760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Дополнительная отметка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03285D5B-9862-495F-825A-84CCE9FEE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6576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Адресат и отправитель не указаны.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8450EB81-71BE-4E79-B5FB-8BA815295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34000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Проверка: верны ли даты и причина? Нет ли выдуманных людей или объектов?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437AE86C-2CA9-47BE-8690-B64D60D8F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420119649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7DD33310-82AF-4718-9B7F-4EB21DD3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57B43F12-A9AA-4E51-9896-A7AC91760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2. Задачи из протокола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EA0258DE-846D-40DB-A232-9BFA12A59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ИИ должен различать принятые решения и предложения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C9E00E7F-930E-4368-B214-DE715151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763250" cy="304800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C36680B5-1C04-49F8-9E58-4C85AA656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ЗАПРОС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C37461BD-B06F-44DC-B0EE-E77B071DB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Выдели задачи из текста протокола ниже. Столбцы таблицы: задача, ответственный, срок, статус. Отдельно покажи непринятые предложения. Если человек или срок не указан, напиши «не указано». [ТЕКСТ ПРОТОКОЛА]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80B88C9D-43C5-42F8-B915-ACA9C1BDD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Учебный пример. Не вводим конфиденциальные и персональные данные.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0F4410CF-90CC-4E1E-BB91-13436C66C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15454129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2C36EC77-6A84-45D9-B782-384B3B2CC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РЕЗУЛЬТАТ НА ЭКРАНЕ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548E2212-8A3D-4653-AEC6-89C25DFC7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2. Результат разбора протокола</a:t>
            </a:r>
          </a:p>
        </p:txBody>
      </p:sp>
      <p:graphicFrame>
        <p:nvGraphicFramePr>
          <p:cNvPr id="12" name="Таблица 9"/>
          <p:cNvGraphicFramePr/>
          <p:nvPr/>
        </p:nvGraphicFramePr>
        <p:xfrm>
          <a:off xmlns:a="http://schemas.openxmlformats.org/drawingml/2006/main" x="704850" y="1476375"/>
          <a:ext xmlns:a="http://schemas.openxmlformats.org/drawingml/2006/main" cx="1076325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95750"/>
                <a:gridCol w="2190750"/>
                <a:gridCol w="2095500"/>
                <a:gridCol w="2381250"/>
              </a:tblGrid>
              <a:tr h="5715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Задача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Ответственный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Срок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Статус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Подготовить программу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Алия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18 сентября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Принято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Проверить звук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Тимур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21 сентября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Принято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Забронировать зал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Не указан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18 сентября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Нужно уточнить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Список канцтоваров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Марат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Не указан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Нужно уточнить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</a:tbl>
          </a:graphicData>
        </a:graphic>
      </p:graphicFrame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2DE5FE1A-DF01-4A54-8508-8A26CB513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62500"/>
            <a:ext cx="1076325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DF2E3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33640A80-FCFD-41D8-8CDF-8828FF83C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53000"/>
            <a:ext cx="1009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Непринятое предложение: организовать кофе-брейк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25AAFDA7-7D54-4877-ACDF-BE5A0D518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1025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Следующий шаг: подготовить вопросы коллегам по строкам без ответственного или срока.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8896AEFA-D2FE-4A30-B2BF-C2DBC96AE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507964943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7766D458-BBB1-4135-89E2-243669CB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DB95FD40-F3D9-4858-8ABB-712EE0AAD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3. Отчёт за смену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BAF2210A-4B09-4E88-A01B-41B46865B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Результат не заменяет исходную запись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01D896FD-424E-41FA-8ADD-9E46F0C16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763250" cy="304800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67DA0679-D63E-4654-8A2A-13E1F0EF7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ЗАПРОС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7AB5CF58-7164-42DE-AE53-5A186C92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Раздели эту вымышленную запись о смене на четыре раздела: основные события, выполненные работы, нерешённые вопросы, задачи для следующей смены. Не меняй время и названия объектов. Если данных мало, отметь «нужно уточнить». [ЗАПИСЬ О СМЕНЕ]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FE584A4F-B1A8-41A3-9D92-6B7615899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Учебный пример. Не вводим конфиденциальные и персональные данные.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35A15DA0-0033-424B-811E-F5AA62C93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396309266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F4EC181F-ECC6-46F3-BAF7-CF8413944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РЕЗУЛЬТАТ НА ЭКРАНЕ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E49D5986-4275-420C-BB63-E2412F91A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3. Структура отчёта за смену</a:t>
            </a:r>
          </a:p>
        </p:txBody>
      </p:sp>
      <p:sp>
        <p:nvSpPr>
          <p:cNvPr id="3" name="Скругленный 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0D9B05B2-85F2-413F-ABF3-576CB4DAB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"/>
            <a:ext cx="10763250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C5BA4C1C-1B27-4DDC-97EF-0EC1C714A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906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УЧЕБНЫЙ ПРИМЕР ОТВЕТА ИИ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2E5E3C08-B155-4D26-B8F7-00232B8D7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Основное событие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5CC14345-5CE1-482B-BACD-65AF80620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002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В 14:20 на учебном объекте проверили показатель давления.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AF91F0D8-B565-4DE5-982C-B7F912F10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5270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Выполненная работа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307963CE-52D6-4F8F-9EBD-BE4A9DA78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527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Измерение повторили и сделали запись в журнале.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2298359A-CAFC-458B-A47B-D42C88C36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0515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Нерешённый вопрос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D4661EE5-D619-4267-B900-C107F58C8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051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Время следующей проверки не указано.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877D379A-EF8B-4CB9-9D34-D224F22DB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5760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Следующая смена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8AD4C8E9-F244-41BA-A1A1-DF538803D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6576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Уточнить время проверки у ответственного специалиста.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1C2A44C2-4E7C-4236-8B1F-A73EF2578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34000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Проверка: есть ли каждый пункт в исходном тексте? Сохранён ли технический смысл?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AA9CE928-2871-412B-BA6B-A7895767A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804197964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69001416-CAE0-420A-8843-E12F7166F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5719FB91-AC29-494F-8B60-86D24E648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4. Данные Excel</a:t>
            </a:r>
          </a:p>
        </p:txBody>
      </p:sp>
      <p:pic>
        <p:nvPicPr>
          <p:cNvPr id="10" name="Рисунок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0f10b6797042d4"/>
          <a:stretch xmlns:a="http://schemas.openxmlformats.org/drawingml/2006/main"/>
        </p:blipFill>
        <p:spPr>
          <a:xfrm xmlns:a="http://schemas.openxmlformats.org/drawingml/2006/main">
            <a:off x="1713169" y="1381125"/>
            <a:ext cx="8746611" cy="3905250"/>
          </a:xfrm>
          <a:prstGeom xmlns:a="http://schemas.openxmlformats.org/drawingml/2006/main" prst="rect">
            <a:avLst/>
          </a:prstGeom>
        </p:spPr>
      </p:pic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B716B2C1-F6B1-4ED8-9D31-EC887B437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72125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Учебный файл: 300 строк. Реальных служебных данных нет.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20EC35A5-7A41-4F56-8609-E479A32A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43</a:t>
            </a:r>
          </a:p>
        </p:txBody>
      </p:sp>
    </p:spTree>
    <p:extLst>
      <p:ext uri="{BB962C8B-B14F-4D97-AF65-F5344CB8AC3E}">
        <p14:creationId xmlns:p14="http://schemas.microsoft.com/office/powerpoint/2010/main" val="1970221721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70B9BC53-0D3F-49D7-9A89-CC8E1D1DD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16413F5C-842E-47F8-92D8-0C99CC5C7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4. Запрос для Excel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CA4E98FC-8708-4B69-ABDB-F7890FFF7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Передаём весь диапазон, включая строки за пределами экрана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6DC72497-A590-4574-942D-1E16581B5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763250" cy="304800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CF6F2DB0-FB33-43B5-886E-EED68FC1F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ЗАПРОС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2AD2A0CC-DFA9-4759-ADE0-87135E03E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Проанализируй всю учебную таблицу из 300 строк. 1) Посчитай строки и уникальные ID. 2) Покажи количество по статусам. 3) Найди незакрытые строки с просрочкой на 15.09.2026. 4) Покажи повторяющиеся ID и строки без ответственного. Опиши правила каждого расчёта.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FB4C3164-95FC-487F-9735-C2A02ADE3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Учебный пример. Не вводим конфиденциальные и персональные данные.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71F33795-2B14-4815-AEE0-F5B0A396A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44</a:t>
            </a:r>
          </a:p>
        </p:txBody>
      </p:sp>
    </p:spTree>
    <p:extLst>
      <p:ext uri="{BB962C8B-B14F-4D97-AF65-F5344CB8AC3E}">
        <p14:creationId xmlns:p14="http://schemas.microsoft.com/office/powerpoint/2010/main" val="1895500116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8C08E3DB-EBDC-4BF2-9031-F1A2D2DE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РЕЗУЛЬТАТ НА ЭКРАНЕ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1DC3EAFF-D500-4760-8ECB-F61FEC1F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4. Результат анализа Excel</a:t>
            </a:r>
          </a:p>
        </p:txBody>
      </p:sp>
      <p:pic>
        <p:nvPicPr>
          <p:cNvPr id="10" name="Рисунок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37e34725634ea8"/>
          <a:stretch xmlns:a="http://schemas.openxmlformats.org/drawingml/2006/main"/>
        </p:blipFill>
        <p:spPr>
          <a:xfrm xmlns:a="http://schemas.openxmlformats.org/drawingml/2006/main">
            <a:off x="3177048" y="1381125"/>
            <a:ext cx="5837903" cy="3619500"/>
          </a:xfrm>
          <a:prstGeom xmlns:a="http://schemas.openxmlformats.org/drawingml/2006/main" prst="rect">
            <a:avLst/>
          </a:prstGeom>
        </p:spPr>
      </p:pic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4E7E3430-2048-4A3A-AA68-89C81246E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86375"/>
            <a:ext cx="1076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Результат: 300 строк, 298 уникальных ID, 75 просроченных строк, 10 строк без ответственного. Повторяются Z-007 и Z-014.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DD31A196-C00B-4499-BC69-F659DC2E4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45</a:t>
            </a:r>
          </a:p>
        </p:txBody>
      </p:sp>
    </p:spTree>
    <p:extLst>
      <p:ext uri="{BB962C8B-B14F-4D97-AF65-F5344CB8AC3E}">
        <p14:creationId xmlns:p14="http://schemas.microsoft.com/office/powerpoint/2010/main" val="368071968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576D7AFD-77FE-43DB-9302-774E88B8A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08202388-6093-4254-A8FC-80E9E133B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4. Действия после проверки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0F2AA566-0EA9-4F32-8E5F-83743FEC8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2667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613D570E-8091-4328-ABAF-9D65A616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19250"/>
            <a:ext cx="9925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Выяснить, почему повторяются ID Z-007 и Z-014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FFE22D4D-E600-440A-B26F-684D38880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2667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9DD5DB1F-E7A3-46FC-A53A-4D32175EF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381250"/>
            <a:ext cx="9925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Уточнить ответственных в 10 строках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7E649416-F88B-4981-8571-E6DCF986B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2667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75C62A4B-474F-4397-BB7F-C44568FB4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43250"/>
            <a:ext cx="9925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Обсудить 75 просроченных строк с владельцами задач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363F1C50-01FA-42FE-9730-8100450D1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2667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B918069-E8E7-41F1-A4BA-D26D70B56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05250"/>
            <a:ext cx="9925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Сохранить в отчёте правила расчёта и дату проверки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14B11D04-3A3A-404A-B18F-653B3CDEA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34000"/>
            <a:ext cx="1076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ИИ предлагает действия на основе проверенных данных. Их выполняет человек.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56888140-58B6-498B-AC8D-559C030DB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46</a:t>
            </a:r>
          </a:p>
        </p:txBody>
      </p:sp>
    </p:spTree>
    <p:extLst>
      <p:ext uri="{BB962C8B-B14F-4D97-AF65-F5344CB8AC3E}">
        <p14:creationId xmlns:p14="http://schemas.microsoft.com/office/powerpoint/2010/main" val="539489674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4EBC5B81-C260-44BD-A988-7D755283F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829F37B9-9B13-40D3-A9F5-619F31F6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5. Техническая инструкция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E085FDE0-CA43-4D87-8769-7E62BA964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При сокращении сохраняем смысл требований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82ED903C-953E-4CB7-8EEC-2BBB8B99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763250" cy="304800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5E8C8E96-6B04-4107-A6B0-6024C2375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ЗАПРОС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28250D99-C9EE-4A16-85E9-74F479B66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Объясни простыми словами разрешённый отрывок учебной инструкции. Отдельно перечисли обязательные требования безопасности. Для каждого пункта укажи раздел документа. Не меняй технические термины. Если требование непонятно, не делай предположений. [ОТРЫВОК]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83613512-B610-462C-A3F7-31C48321C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Учебный пример. Не вводим конфиденциальные и персональные данные.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36E846F8-BFDF-4E1E-8944-DDE657DC3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47</a:t>
            </a:r>
          </a:p>
        </p:txBody>
      </p:sp>
    </p:spTree>
    <p:extLst>
      <p:ext uri="{BB962C8B-B14F-4D97-AF65-F5344CB8AC3E}">
        <p14:creationId xmlns:p14="http://schemas.microsoft.com/office/powerpoint/2010/main" val="1110524399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D164923B-AA1A-4FAB-9170-8CEA18EB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РЕЗУЛЬТАТ НА ЭКРАНЕ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76D29102-9E2C-48E9-A466-F66C97019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5. Результат разбора инструкции</a:t>
            </a:r>
          </a:p>
        </p:txBody>
      </p:sp>
      <p:sp>
        <p:nvSpPr>
          <p:cNvPr id="3" name="Скругленный 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20DAA7B9-C1A6-49AB-A2DC-D4C94D1E1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"/>
            <a:ext cx="10763250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3FDDCB6A-87D1-46CE-89C4-72260F38B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906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УЧЕБНЫЙ ПРИМЕР ОТВЕТА ИИ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4C8D118D-B108-4C1C-8D86-407AF532D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Основное требование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E4113C67-1B29-46C9-B7E8-42F777507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002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До начала работ ответственное лицо проверяет разрешение.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F0D0099B-18DC-4538-BADF-DCEBE3859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5270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Безопасность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1ECFBF15-8AB4-45A0-9C48-86899BA89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527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Средства индивидуальной защиты применяют по разделу 2.1 учебного документа.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E3C0F46B-848F-47DD-A89F-90999AFED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0515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Запрет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3C2DB1B8-F288-425C-BBA8-BE50649C4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051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Действия без разрешения запрещены, раздел 2.3.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E54386CF-3190-47CC-8E30-966535C03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5760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Неясный момент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BE0BCBB4-DE3B-4B7E-AFE3-60241428E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6576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Частота проверок в отрывке не указана.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F72AB3D2-585C-47F4-8925-5CDB04933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34000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Проверка: совпадают ли номера разделов? Сохранились ли обязательные требования?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D1BE7874-6350-44A6-8590-73E8543B4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48</a:t>
            </a:r>
          </a:p>
        </p:txBody>
      </p:sp>
    </p:spTree>
    <p:extLst>
      <p:ext uri="{BB962C8B-B14F-4D97-AF65-F5344CB8AC3E}">
        <p14:creationId xmlns:p14="http://schemas.microsoft.com/office/powerpoint/2010/main" val="1687204364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00FD0F64-7D27-482F-A0B4-C37F638B8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0BFFEF60-9B21-4CF4-8861-75437EBFE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6. Текст на казахском и русском</a:t>
            </a:r>
          </a:p>
        </p:txBody>
      </p:sp>
      <p:sp>
        <p:nvSpPr>
          <p:cNvPr id="3" name="Скругленный 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62BF11EC-FD3D-4925-9C96-CA20AB9A1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76375"/>
            <a:ext cx="5095875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7D485B4A-8B79-4C28-A0A0-E06B531EC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1476375"/>
            <a:ext cx="5095875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5AAA9BB3-8DE3-494A-998D-E4F227A60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52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Қазақша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CC35BDE4-9F33-4C62-9810-B8C3FB381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38375"/>
            <a:ext cx="4381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Техникалық қызмет көрсету 25 қыркүйекте жүргізіледі. Жұмыс аймағына кіру уақытша шектеледі. Қосымша ақпаратты жауапты бөлімнен алыңыз.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A76FA3BA-65E5-46BF-A5CE-59D5FAC61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714500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52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Русский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F904833A-12B8-47D0-A558-9E27918A1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238375"/>
            <a:ext cx="4381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Техническое обслуживание состоится 25 сентября. Доступ в рабочую зону будет временно ограничен. Дополнительную информацию уточняйте в ответственном подразделении.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0BD6AFE3-A506-4A2A-89B8-1863E0543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0"/>
            <a:ext cx="1076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Проверка: совпадают ли дата, ограничение и действие в обеих версиях?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64A48FE8-FB65-40CF-9898-D469BCEB1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49</a:t>
            </a:r>
          </a:p>
        </p:txBody>
      </p:sp>
    </p:spTree>
    <p:extLst>
      <p:ext uri="{BB962C8B-B14F-4D97-AF65-F5344CB8AC3E}">
        <p14:creationId xmlns:p14="http://schemas.microsoft.com/office/powerpoint/2010/main" val="1537773817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87CCF88B-DB0E-49B1-9FBA-5CF68FA9B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DE3F932C-3A4A-4D14-9DF0-AAA301D75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7. Презентация из текста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BE94DC12-2EC5-4013-B8D9-A4D73BBD3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7637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1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EC05B312-D423-4CB1-894E-B05A93FAC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476375"/>
            <a:ext cx="904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Подготовить проверенный текст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999575C1-6642-4EF2-80A2-9DE8FC0CC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5742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2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0DDE3875-28BD-4CCF-A202-1B78998C4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257425"/>
            <a:ext cx="904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Указать аудиторию и цель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44DECCFC-3759-4709-99AF-F041B9EDC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3847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3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13C0213E-2BF5-4A44-AE29-90FA001F4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038475"/>
            <a:ext cx="904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Запросить структуру из 10 слайдов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976F3D20-0822-4860-917D-A2648407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1952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4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2BFF705E-5FA0-4F4D-8EB9-F1511A655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819525"/>
            <a:ext cx="904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Сократить текст каждого слайда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0A149209-7046-4D80-9BC5-34E2A0F1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0057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5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D7BAAC02-DBBA-4A0B-B77A-7988904D2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00575"/>
            <a:ext cx="904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Проверить факты и оформление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9AF3C79A-C2C9-4800-88EA-59A278D3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197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Запрос: «Составь по этому отчёту структуру из 10 слайдов для руководства. На каждом слайде одна главная мысль»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6E729F42-6CAA-4D36-9385-4C952FF15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50</a:t>
            </a:r>
          </a:p>
        </p:txBody>
      </p:sp>
      <p:pic>
        <p:nvPicPr>
          <p:cNvPr id="31" name="Рисунок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ac43c56cf243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71885" y="1271852"/>
            <a:ext cx="6473372" cy="36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832698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807AE2FE-36E7-4EFC-AFAE-B39E0F46E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2CD6319B-2781-4E46-BDCC-D5EAC187F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8. Учебный тест по безопасности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E491DFDC-A924-4F70-A476-D5C458617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Тест опирается только на утверждённый учебный материал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3F65AE6B-DCB0-435B-AEAF-7E92B3FA3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763250" cy="304800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ADFA6A25-AF92-4A99-8CA3-398BF8AA7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ЗАПРОС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36E6CA49-CC34-46B9-8105-CFE3C0538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По учебной инструкции составь для сотрудников 8 ситуационных вопросов. В каждом вопросе 4 варианта ответа. Правильные ответы и короткие объяснения вынеси в отдельный ключ. Не добавляй правил, которых нет в документе. [УЧЕБНАЯ ИНСТРУКЦИЯ]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3C0E5685-7FCF-435B-99A8-07BD43AE3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Учебный пример. Не вводим конфиденциальные и персональные данные.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21020F17-2EB8-4403-846B-E387D3365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51</a:t>
            </a:r>
          </a:p>
        </p:txBody>
      </p:sp>
    </p:spTree>
    <p:extLst>
      <p:ext uri="{BB962C8B-B14F-4D97-AF65-F5344CB8AC3E}">
        <p14:creationId xmlns:p14="http://schemas.microsoft.com/office/powerpoint/2010/main" val="2060345349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67ABD731-50DC-4B11-8F71-0D04B0D0E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РЕЗУЛЬТАТ НА ЭКРАНЕ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E1B5D0EE-5E9A-4EDF-8EA4-DA3BFFF37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8. Пример вопроса теста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558E636C-A6E2-4055-9E28-DA2D1A6FC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287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Ситуация: в рабочей зоне заметили незнакомый запах. Что сотрудник должен сделать первым?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44F9704B-C842-4804-BD7A-9DEE4D634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102870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D7066E6B-B450-4723-8E6D-728802B73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3812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A. Продолжить работу</a:t>
            </a:r>
          </a:p>
        </p:txBody>
      </p:sp>
      <p:sp>
        <p:nvSpPr>
          <p:cNvPr id="6" name="Скругленный 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F1BCE6E9-D71D-4B33-9BED-3FD5CD215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81325"/>
            <a:ext cx="102870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DF2E3"/>
          </a:solidFill>
          <a:ln xmlns:a="http://schemas.openxmlformats.org/drawingml/2006/main" w="9525">
            <a:solidFill>
              <a:srgbClr val="8FCF2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E422BC9C-63A0-4F41-8C98-09AF003A8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289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B. Остановить работу и сообщить ответственному лицу по утверждённому порядку</a:t>
            </a:r>
          </a:p>
        </p:txBody>
      </p:sp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1C9DCB2B-F5DB-4C47-969B-BB943B11B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29025"/>
            <a:ext cx="102870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71CFEEC4-08CA-4BB1-B51C-C0F800B72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766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C. Провести самостоятельную проверку</a:t>
            </a: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3BF0315C-49C6-4776-88BF-43AE600F1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76725"/>
            <a:ext cx="102870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C853740C-BA5E-40B0-AF95-4BEF723DA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243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D. Проигнорировать информацию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ED0D6524-B0E1-43A4-9441-5F7968915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38750"/>
            <a:ext cx="1076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Ключ: B. Обоснование нужно проверить в соответствующем разделе утверждённой инструкции.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57746C0C-DDB1-45B4-BA0C-6AE9E6091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52</a:t>
            </a:r>
          </a:p>
        </p:txBody>
      </p:sp>
    </p:spTree>
    <p:extLst>
      <p:ext uri="{BB962C8B-B14F-4D97-AF65-F5344CB8AC3E}">
        <p14:creationId xmlns:p14="http://schemas.microsoft.com/office/powerpoint/2010/main" val="314324884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FF0A9734-FCE3-4399-9EBB-302470332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B2F58880-FF51-4338-B4E6-C157F467F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9. Согласование приоритетов</a:t>
            </a:r>
            <a:endParaRPr sz="2550" b="1">
              <a:solidFill>
                <a:srgbClr val="0E1420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A73DA507-3D71-4382-BD68-B3068256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На 12 часов задач есть только 8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0CF9BF6C-579C-4BCE-90D4-703C4565D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763250" cy="304800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1AC0F3C4-B941-411D-B3FC-A7B7CDBBF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ЗАПРОС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BC27E64A-8EFD-4F66-A419-8FF2CA071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Ты руководитель, я сотрудник. На отчёт нужно 5 часов, на сравнение заявок 4 часа, на письма 3 часа. Рабочий день длится 8 часов. Задавай вопросы по одному и помоги спокойно согласовать приоритеты. В конце составь выполнимый план.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FB22D219-C1EA-4BF9-9B68-5C7DC4E95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Учебный пример. Не вводим конфиденциальные и персональные данные.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E6A2679B-AA8A-44D0-AF03-1B4EF21E3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53</a:t>
            </a:r>
          </a:p>
        </p:txBody>
      </p:sp>
    </p:spTree>
    <p:extLst>
      <p:ext uri="{BB962C8B-B14F-4D97-AF65-F5344CB8AC3E}">
        <p14:creationId xmlns:p14="http://schemas.microsoft.com/office/powerpoint/2010/main" val="881523943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4DCBA424-20E1-415E-B624-6E0497F20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384CF4FD-E4BD-4941-A2E3-B548743A5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Проверка источника</a:t>
            </a:r>
          </a:p>
        </p:txBody>
      </p:sp>
      <p:graphicFrame>
        <p:nvGraphicFramePr>
          <p:cNvPr id="10" name="Таблица 7"/>
          <p:cNvGraphicFramePr/>
          <p:nvPr/>
        </p:nvGraphicFramePr>
        <p:xfrm>
          <a:off xmlns:a="http://schemas.openxmlformats.org/drawingml/2006/main" x="704850" y="1524000"/>
          <a:ext xmlns:a="http://schemas.openxmlformats.org/drawingml/2006/main" cx="1076325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476750"/>
                <a:gridCol w="6286500"/>
              </a:tblGrid>
              <a:tr h="5715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Проверочный вопрос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Что делаем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Откуда взяты данные?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Открываем официальный документ или сайт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На какую дату информация?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Смотрим дату обновления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Это точно есть в тексте?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Сами читаем нужный раздел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Источники противоречат друг другу?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Предпочитаем официальный и более свежий источник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Решение имеет важные последствия?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Получаем подтверждение специалиста или ответственного отдела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4F3C30BD-450D-4AAE-98ED-6C69E84B4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29250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Наличие ссылки само по себе не гарантирует правильность информации.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492E48D0-2D23-4B58-B6C4-85DCD8ACC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54</a:t>
            </a:r>
          </a:p>
        </p:txBody>
      </p:sp>
    </p:spTree>
    <p:extLst>
      <p:ext uri="{BB962C8B-B14F-4D97-AF65-F5344CB8AC3E}">
        <p14:creationId xmlns:p14="http://schemas.microsoft.com/office/powerpoint/2010/main" val="1284549979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70B719DA-C648-425B-8DF1-505CF6108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B71474EA-C9C8-4CAC-86D8-44FFAEF07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Выбор инструмента под задачу</a:t>
            </a:r>
          </a:p>
        </p:txBody>
      </p:sp>
      <p:graphicFrame>
        <p:nvGraphicFramePr>
          <p:cNvPr id="9" name="Таблица 6"/>
          <p:cNvGraphicFramePr/>
          <p:nvPr/>
        </p:nvGraphicFramePr>
        <p:xfrm>
          <a:off xmlns:a="http://schemas.openxmlformats.org/drawingml/2006/main" x="704850" y="1476375"/>
          <a:ext xmlns:a="http://schemas.openxmlformats.org/drawingml/2006/main" cx="1076325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619750"/>
                <a:gridCol w="5143500"/>
              </a:tblGrid>
              <a:tr h="619125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Если нужно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 чего начать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Короткий текст или план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ChatGPT или Gemini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Содержание файла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Основной чат с поддержкой файлов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Актуальные данные из интернета и ссылки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Perplexity или чат с веб-поиском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Первый план презентации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Основной чат, затем Gamma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Повторяющийся анализ Excel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Безопасная среда и проверяемая формула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5F0F1AEB-F182-456F-B526-947D8808F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55</a:t>
            </a:r>
          </a:p>
        </p:txBody>
      </p:sp>
    </p:spTree>
    <p:extLst>
      <p:ext uri="{BB962C8B-B14F-4D97-AF65-F5344CB8AC3E}">
        <p14:creationId xmlns:p14="http://schemas.microsoft.com/office/powerpoint/2010/main" val="1405434199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A04CF8F4-1D9F-425D-A535-F1601E5E5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D5AAA0CF-068A-42C2-AE9F-DC03EF919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Бесплатная и платная версии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BF5CA2E0-701D-43E6-A51B-4B0461D0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66875"/>
            <a:ext cx="26670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BF3BA8F6-10AB-4621-BFCC-A8E555AF7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66875"/>
            <a:ext cx="992505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Сначала попробуйте решить свою задачу в бесплатной версии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A563BD60-B219-45D8-921C-1B328AE99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05063"/>
            <a:ext cx="26670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0B2CBDF9-B502-40AB-A613-6FADCE70C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05063"/>
            <a:ext cx="992505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Уточните нужную функцию: файлы, веб-поиск, изображения или лимит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2FD7D1CF-878B-4428-A19E-7D48B501D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26670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F373C701-7E96-4EB7-8895-8D6EDCFC6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43250"/>
            <a:ext cx="992505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Сравнивайте оплату за месяц и обязательства на год отдельно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D2CB6BD3-29C2-4685-B56F-BF424F167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81438"/>
            <a:ext cx="26670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BD7CF682-D339-4300-BBCE-D2F483946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81438"/>
            <a:ext cx="992505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Проверьте дату следующего платежа и автопродление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364A963F-17E1-473B-8CD5-6E67BD2ED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3400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Цены и лимиты меняются. Итоговую сумму проверяйте в своём аккаунте.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AA0B2822-6A6C-40F0-815C-992E3EA39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56</a:t>
            </a:r>
          </a:p>
        </p:txBody>
      </p:sp>
    </p:spTree>
    <p:extLst>
      <p:ext uri="{BB962C8B-B14F-4D97-AF65-F5344CB8AC3E}">
        <p14:creationId xmlns:p14="http://schemas.microsoft.com/office/powerpoint/2010/main" val="1487707279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0E14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0393AA75-09A1-436A-B67D-93385468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ЛИЧНАЯ 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68E26DAB-2041-487F-A3AA-E16A653FF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Ваша рабочая задача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3CFE9727-AB95-46DA-B466-F9C89888C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28750"/>
            <a:ext cx="266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EA622B1E-EE69-40E9-B57E-A91978B1E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428750"/>
            <a:ext cx="9925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Служебное сообщение или письмо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8A20A8DC-5077-4CF2-AD45-141FB9208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57400"/>
            <a:ext cx="266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48AD08B5-B53A-4871-A1F5-AE4EB0B5C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57400"/>
            <a:ext cx="9925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Задачи из протокола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3C84B016-0BDD-414B-81B9-06055B942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86050"/>
            <a:ext cx="266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D2C9C70A-0147-4B91-BDB0-D16A4B125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686050"/>
            <a:ext cx="9925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Анализ учебной таблицы Excel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C64D68B9-7D63-401A-9951-857735A9B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14700"/>
            <a:ext cx="266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600A9063-6BFA-4DBA-A031-14EB91EA9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14700"/>
            <a:ext cx="9925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Объяснение разрешённого текста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C996CF87-7879-4A0F-8A1C-A7E266B62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43350"/>
            <a:ext cx="266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A6B73251-7544-44EB-8490-4ACA6BAE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43350"/>
            <a:ext cx="9925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Учебный тест или структура презентации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7696F805-52D8-4D20-8F38-540019011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86375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Выберите одну задачу. Удалите конфиденциальные данные. Проверьте и сохраните результат.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21538131-DF0C-4BFA-BD00-42E83B59F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57</a:t>
            </a:r>
          </a:p>
        </p:txBody>
      </p:sp>
    </p:spTree>
    <p:extLst>
      <p:ext uri="{BB962C8B-B14F-4D97-AF65-F5344CB8AC3E}">
        <p14:creationId xmlns:p14="http://schemas.microsoft.com/office/powerpoint/2010/main" val="1278189197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70229482-2559-4647-8F2B-D2B9E0EC9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3118D231-0227-4C80-A6CC-3C74A67F7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Готовый шаблон запроса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AB86EEF7-9CAD-4A57-8ABC-F18AB1B3B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8112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1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5A5F09D5-869E-4748-BF72-0297C7CD3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381125"/>
            <a:ext cx="942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Мне нужно: [задача]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0AEAE472-C268-4246-ADBD-0A240E53F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8597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2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F2C4CBB9-BB1A-4017-A693-D69105460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85975"/>
            <a:ext cx="942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Исходные данные: [текст без секретов]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040D9B2D-DA04-44CC-85BF-BC4A6B98E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9082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3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29AAD031-AAE2-4DD1-90EA-AC5F5A499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90825"/>
            <a:ext cx="942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Дай ответ в формате: [таблица, письмо, план]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877F5B0-59AB-4479-BF0A-C5779A87F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9567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4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3FC1E5C9-CA87-485C-9A98-8622AE946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95675"/>
            <a:ext cx="942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Язык и объём: [требования]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77C2E2B0-A2CB-432E-8716-3E40A249C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0052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5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A019FF52-07EF-41A6-8806-D76A1630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200525"/>
            <a:ext cx="942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Не добавляй информацию, которой нет в тексте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655D46FC-BA21-4C5F-B9ED-920F4F0E7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0537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6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CB5FC0A4-4625-4D6C-9D6C-389E5F4A3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05375"/>
            <a:ext cx="942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Если данных мало, сначала задай вопрос</a:t>
            </a:r>
          </a:p>
        </p:txBody>
      </p:sp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195FB2B3-9A84-46F6-B41E-713D4A5BA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58</a:t>
            </a:r>
          </a:p>
        </p:txBody>
      </p:sp>
    </p:spTree>
    <p:extLst>
      <p:ext uri="{BB962C8B-B14F-4D97-AF65-F5344CB8AC3E}">
        <p14:creationId xmlns:p14="http://schemas.microsoft.com/office/powerpoint/2010/main" val="1331074743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0E14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3A57FB84-ABE5-4254-918A-2A7A4945E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66750"/>
            <a:ext cx="857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8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5 шагов для применения завтра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ED01B601-B1B0-43BB-A823-BC75DF814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7162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1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F0B693CF-77F6-4D01-9117-48B69C37C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71625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Выберите безопасную задачу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E2353E09-2482-47FC-9350-0897C6443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5267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2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7269AEFD-B570-44D7-8911-B419EE76F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52675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Напишите точный запрос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0C37BF38-1B2F-45B5-BF9B-0FF5E6672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3372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3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CB223A27-DFF0-4A0F-A0F1-F5BE0A833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33725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Проверьте ответ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F57DEC2D-01D7-4FE5-9448-DB8BD659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1477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4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855EBA15-C606-4C09-8224-3A0C2A607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14775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При необходимости уточните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BD19C1C6-18DB-406D-865B-9151E631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9582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5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B92C730F-6F52-4E5B-BCBC-ED29C5E0C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695825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Готовый результат утверждает человек</a:t>
            </a:r>
          </a:p>
        </p:txBody>
      </p:sp>
      <p:pic>
        <p:nvPicPr>
          <p:cNvPr id="28" name="Рисунок 2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ab17b52d2b4ef3"/>
          <a:stretch xmlns:a="http://schemas.openxmlformats.org/drawingml/2006/main"/>
        </p:blipFill>
        <p:spPr>
          <a:xfrm xmlns:a="http://schemas.openxmlformats.org/drawingml/2006/main">
            <a:off x="9525000" y="1809750"/>
            <a:ext cx="2000250" cy="2000250"/>
          </a:xfrm>
          <a:prstGeom xmlns:a="http://schemas.openxmlformats.org/drawingml/2006/main" prst="rect">
            <a:avLst/>
          </a:prstGeom>
        </p:spPr>
      </p:pic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074DC7D4-D7E3-4072-814C-11410C6BC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Материалы: nursultannurmukhamet.github.io/ai-masterclass-materials/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D5D89DA7-2F09-4779-BC6F-BE2BAD6DC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59</a:t>
            </a:r>
          </a:p>
        </p:txBody>
      </p:sp>
    </p:spTree>
    <p:extLst>
      <p:ext uri="{BB962C8B-B14F-4D97-AF65-F5344CB8AC3E}">
        <p14:creationId xmlns:p14="http://schemas.microsoft.com/office/powerpoint/2010/main" val="129279713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2026-09-21T09:39:21.1290000Z</dcterms:created>
  <dcterms:modified xsi:type="dcterms:W3CDTF">2026-09-21T09:39:21.1290000Z</dcterms:modified>
</coreProperties>
</file>