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1e46b667a74826" /><Relationship Type="http://schemas.openxmlformats.org/officeDocument/2006/relationships/extended-properties" Target="/docProps/app.xml" Id="R2c8356e689754743" /><Relationship Type="http://schemas.openxmlformats.org/officeDocument/2006/relationships/officeDocument" Target="/ppt/presentation.xml" Id="R3edbd682076a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311cf45fb24cf7"/>
  </p:sldMasterIdLst>
  <p:notesMasterIdLst>
    <p:notesMasterId xmlns:r="http://schemas.openxmlformats.org/officeDocument/2006/relationships" r:id="R62a681aafc42428c"/>
  </p:notesMasterIdLst>
  <p:sldIdLst>
    <p:sldId xmlns:r="http://schemas.openxmlformats.org/officeDocument/2006/relationships" id="256" r:id="Rc502e2baf3d14f1e"/>
    <p:sldId xmlns:r="http://schemas.openxmlformats.org/officeDocument/2006/relationships" id="257" r:id="R9c30fad5fbfb4176"/>
    <p:sldId xmlns:r="http://schemas.openxmlformats.org/officeDocument/2006/relationships" id="258" r:id="R5727394d3e2e416c"/>
    <p:sldId xmlns:r="http://schemas.openxmlformats.org/officeDocument/2006/relationships" id="259" r:id="R863b7df69aea4550"/>
    <p:sldId xmlns:r="http://schemas.openxmlformats.org/officeDocument/2006/relationships" id="260" r:id="R823a6598f848453e"/>
    <p:sldId xmlns:r="http://schemas.openxmlformats.org/officeDocument/2006/relationships" id="261" r:id="R5eae43e7eff54394"/>
    <p:sldId xmlns:r="http://schemas.openxmlformats.org/officeDocument/2006/relationships" id="262" r:id="R2b00c44a23c24bd9"/>
    <p:sldId xmlns:r="http://schemas.openxmlformats.org/officeDocument/2006/relationships" id="263" r:id="Re8ab1ff9f12042fa"/>
    <p:sldId xmlns:r="http://schemas.openxmlformats.org/officeDocument/2006/relationships" id="264" r:id="R5cff1a6aa246406e"/>
    <p:sldId xmlns:r="http://schemas.openxmlformats.org/officeDocument/2006/relationships" id="265" r:id="R76c36c84e498441e"/>
    <p:sldId xmlns:r="http://schemas.openxmlformats.org/officeDocument/2006/relationships" id="266" r:id="R991bf15b55614774"/>
    <p:sldId xmlns:r="http://schemas.openxmlformats.org/officeDocument/2006/relationships" id="267" r:id="Rcbc0faeea0b64807"/>
    <p:sldId xmlns:r="http://schemas.openxmlformats.org/officeDocument/2006/relationships" id="268" r:id="Rfc2c3901e9c942bd"/>
    <p:sldId xmlns:r="http://schemas.openxmlformats.org/officeDocument/2006/relationships" id="269" r:id="Ref7fad0862114f6d"/>
    <p:sldId xmlns:r="http://schemas.openxmlformats.org/officeDocument/2006/relationships" id="270" r:id="R8f7e57d363824f80"/>
    <p:sldId xmlns:r="http://schemas.openxmlformats.org/officeDocument/2006/relationships" id="271" r:id="R97c27439efdd4f73"/>
    <p:sldId xmlns:r="http://schemas.openxmlformats.org/officeDocument/2006/relationships" id="272" r:id="Rddb310c4e5b84e9f"/>
    <p:sldId xmlns:r="http://schemas.openxmlformats.org/officeDocument/2006/relationships" id="273" r:id="R2a0f69f9925045da"/>
    <p:sldId xmlns:r="http://schemas.openxmlformats.org/officeDocument/2006/relationships" id="274" r:id="Rab1c467fa56d446d"/>
    <p:sldId xmlns:r="http://schemas.openxmlformats.org/officeDocument/2006/relationships" id="275" r:id="R210add2ec5554b65"/>
    <p:sldId xmlns:r="http://schemas.openxmlformats.org/officeDocument/2006/relationships" id="276" r:id="Rd2c2773823424836"/>
    <p:sldId xmlns:r="http://schemas.openxmlformats.org/officeDocument/2006/relationships" id="277" r:id="R3af81291ae6849d6"/>
    <p:sldId xmlns:r="http://schemas.openxmlformats.org/officeDocument/2006/relationships" id="278" r:id="Rb5adb40957444bf1"/>
    <p:sldId xmlns:r="http://schemas.openxmlformats.org/officeDocument/2006/relationships" id="279" r:id="R176fbc2886a041a9"/>
    <p:sldId xmlns:r="http://schemas.openxmlformats.org/officeDocument/2006/relationships" id="280" r:id="R77469c28a53f47c2"/>
    <p:sldId xmlns:r="http://schemas.openxmlformats.org/officeDocument/2006/relationships" id="281" r:id="Re9564175177d4b33"/>
    <p:sldId xmlns:r="http://schemas.openxmlformats.org/officeDocument/2006/relationships" id="282" r:id="R54cb66971f444958"/>
    <p:sldId xmlns:r="http://schemas.openxmlformats.org/officeDocument/2006/relationships" id="283" r:id="R3ec842771cd34ffc"/>
    <p:sldId xmlns:r="http://schemas.openxmlformats.org/officeDocument/2006/relationships" id="284" r:id="R8bef48b0f3c548d1"/>
    <p:sldId xmlns:r="http://schemas.openxmlformats.org/officeDocument/2006/relationships" id="285" r:id="Rd4738677beb3477e"/>
    <p:sldId xmlns:r="http://schemas.openxmlformats.org/officeDocument/2006/relationships" id="286" r:id="R18268526f51f4d46"/>
    <p:sldId xmlns:r="http://schemas.openxmlformats.org/officeDocument/2006/relationships" id="287" r:id="R286d6a819b334b33"/>
    <p:sldId xmlns:r="http://schemas.openxmlformats.org/officeDocument/2006/relationships" id="288" r:id="Rdb45784361964aab"/>
    <p:sldId xmlns:r="http://schemas.openxmlformats.org/officeDocument/2006/relationships" id="289" r:id="Rc0b9fb4b8cb14b85"/>
    <p:sldId xmlns:r="http://schemas.openxmlformats.org/officeDocument/2006/relationships" id="290" r:id="R0c68ea244bf44e81"/>
    <p:sldId xmlns:r="http://schemas.openxmlformats.org/officeDocument/2006/relationships" id="291" r:id="Rc856551e7a9a41fb"/>
    <p:sldId xmlns:r="http://schemas.openxmlformats.org/officeDocument/2006/relationships" id="292" r:id="R78bf7e2369d04a3a"/>
    <p:sldId xmlns:r="http://schemas.openxmlformats.org/officeDocument/2006/relationships" id="293" r:id="R8711e071c88640b6"/>
    <p:sldId xmlns:r="http://schemas.openxmlformats.org/officeDocument/2006/relationships" id="294" r:id="R7ddeab9a4df84a96"/>
    <p:sldId xmlns:r="http://schemas.openxmlformats.org/officeDocument/2006/relationships" id="295" r:id="R7a918adee79f436e"/>
    <p:sldId xmlns:r="http://schemas.openxmlformats.org/officeDocument/2006/relationships" id="296" r:id="Ra444d46b25fc4f3b"/>
    <p:sldId xmlns:r="http://schemas.openxmlformats.org/officeDocument/2006/relationships" id="297" r:id="R3962b3a6c2cf47d7"/>
    <p:sldId xmlns:r="http://schemas.openxmlformats.org/officeDocument/2006/relationships" id="298" r:id="Rb2935b4db9c14691"/>
    <p:sldId xmlns:r="http://schemas.openxmlformats.org/officeDocument/2006/relationships" id="299" r:id="Rd33ca659407e4c75"/>
    <p:sldId xmlns:r="http://schemas.openxmlformats.org/officeDocument/2006/relationships" id="300" r:id="R9a26bb270c1b45a9"/>
    <p:sldId xmlns:r="http://schemas.openxmlformats.org/officeDocument/2006/relationships" id="301" r:id="Rbfc639c94479443b"/>
    <p:sldId xmlns:r="http://schemas.openxmlformats.org/officeDocument/2006/relationships" id="302" r:id="Rde14a49e9b5c4eb0"/>
    <p:sldId xmlns:r="http://schemas.openxmlformats.org/officeDocument/2006/relationships" id="303" r:id="Rc1a77ebb79a741ae"/>
    <p:sldId xmlns:r="http://schemas.openxmlformats.org/officeDocument/2006/relationships" id="304" r:id="Rc96d5a7a30c740af"/>
    <p:sldId xmlns:r="http://schemas.openxmlformats.org/officeDocument/2006/relationships" id="305" r:id="Rfa407c283da44a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426bdbd78a456f" /><Relationship Type="http://schemas.openxmlformats.org/officeDocument/2006/relationships/slideMaster" Target="/ppt/slideMasters/slideMaster1.xml" Id="R7e311cf45fb24cf7" /><Relationship Type="http://schemas.openxmlformats.org/officeDocument/2006/relationships/notesMaster" Target="/ppt/notesMasters/notesMaster1.xml" Id="R62a681aafc42428c" /><Relationship Type="http://schemas.openxmlformats.org/officeDocument/2006/relationships/presProps" Target="/ppt/presProps.xml" Id="R1163772c6496472e" /><Relationship Type="http://schemas.openxmlformats.org/officeDocument/2006/relationships/tableStyles" Target="/ppt/tableStyles.xml" Id="R2a06607fc26f4d0b" /><Relationship Type="http://schemas.openxmlformats.org/officeDocument/2006/relationships/slide" Target="/ppt/slides/slide1.xml" Id="Rc502e2baf3d14f1e" /><Relationship Type="http://schemas.openxmlformats.org/officeDocument/2006/relationships/slide" Target="/ppt/slides/slide2.xml" Id="R9c30fad5fbfb4176" /><Relationship Type="http://schemas.openxmlformats.org/officeDocument/2006/relationships/slide" Target="/ppt/slides/slide3.xml" Id="R5727394d3e2e416c" /><Relationship Type="http://schemas.openxmlformats.org/officeDocument/2006/relationships/slide" Target="/ppt/slides/slide4.xml" Id="R863b7df69aea4550" /><Relationship Type="http://schemas.openxmlformats.org/officeDocument/2006/relationships/slide" Target="/ppt/slides/slide5.xml" Id="R823a6598f848453e" /><Relationship Type="http://schemas.openxmlformats.org/officeDocument/2006/relationships/slide" Target="/ppt/slides/slide6.xml" Id="R5eae43e7eff54394" /><Relationship Type="http://schemas.openxmlformats.org/officeDocument/2006/relationships/slide" Target="/ppt/slides/slide7.xml" Id="R2b00c44a23c24bd9" /><Relationship Type="http://schemas.openxmlformats.org/officeDocument/2006/relationships/slide" Target="/ppt/slides/slide8.xml" Id="Re8ab1ff9f12042fa" /><Relationship Type="http://schemas.openxmlformats.org/officeDocument/2006/relationships/slide" Target="/ppt/slides/slide9.xml" Id="R5cff1a6aa246406e" /><Relationship Type="http://schemas.openxmlformats.org/officeDocument/2006/relationships/slide" Target="/ppt/slides/slide10.xml" Id="R76c36c84e498441e" /><Relationship Type="http://schemas.openxmlformats.org/officeDocument/2006/relationships/slide" Target="/ppt/slides/slide11.xml" Id="R991bf15b55614774" /><Relationship Type="http://schemas.openxmlformats.org/officeDocument/2006/relationships/slide" Target="/ppt/slides/slide12.xml" Id="Rcbc0faeea0b64807" /><Relationship Type="http://schemas.openxmlformats.org/officeDocument/2006/relationships/slide" Target="/ppt/slides/slide13.xml" Id="Rfc2c3901e9c942bd" /><Relationship Type="http://schemas.openxmlformats.org/officeDocument/2006/relationships/slide" Target="/ppt/slides/slide14.xml" Id="Ref7fad0862114f6d" /><Relationship Type="http://schemas.openxmlformats.org/officeDocument/2006/relationships/slide" Target="/ppt/slides/slide15.xml" Id="R8f7e57d363824f80" /><Relationship Type="http://schemas.openxmlformats.org/officeDocument/2006/relationships/slide" Target="/ppt/slides/slide16.xml" Id="R97c27439efdd4f73" /><Relationship Type="http://schemas.openxmlformats.org/officeDocument/2006/relationships/slide" Target="/ppt/slides/slide17.xml" Id="Rddb310c4e5b84e9f" /><Relationship Type="http://schemas.openxmlformats.org/officeDocument/2006/relationships/slide" Target="/ppt/slides/slide18.xml" Id="R2a0f69f9925045da" /><Relationship Type="http://schemas.openxmlformats.org/officeDocument/2006/relationships/slide" Target="/ppt/slides/slide19.xml" Id="Rab1c467fa56d446d" /><Relationship Type="http://schemas.openxmlformats.org/officeDocument/2006/relationships/slide" Target="/ppt/slides/slide20.xml" Id="R210add2ec5554b65" /><Relationship Type="http://schemas.openxmlformats.org/officeDocument/2006/relationships/slide" Target="/ppt/slides/slide21.xml" Id="Rd2c2773823424836" /><Relationship Type="http://schemas.openxmlformats.org/officeDocument/2006/relationships/slide" Target="/ppt/slides/slide22.xml" Id="R3af81291ae6849d6" /><Relationship Type="http://schemas.openxmlformats.org/officeDocument/2006/relationships/slide" Target="/ppt/slides/slide23.xml" Id="Rb5adb40957444bf1" /><Relationship Type="http://schemas.openxmlformats.org/officeDocument/2006/relationships/slide" Target="/ppt/slides/slide24.xml" Id="R176fbc2886a041a9" /><Relationship Type="http://schemas.openxmlformats.org/officeDocument/2006/relationships/slide" Target="/ppt/slides/slide25.xml" Id="R77469c28a53f47c2" /><Relationship Type="http://schemas.openxmlformats.org/officeDocument/2006/relationships/slide" Target="/ppt/slides/slide26.xml" Id="Re9564175177d4b33" /><Relationship Type="http://schemas.openxmlformats.org/officeDocument/2006/relationships/slide" Target="/ppt/slides/slide27.xml" Id="R54cb66971f444958" /><Relationship Type="http://schemas.openxmlformats.org/officeDocument/2006/relationships/slide" Target="/ppt/slides/slide28.xml" Id="R3ec842771cd34ffc" /><Relationship Type="http://schemas.openxmlformats.org/officeDocument/2006/relationships/slide" Target="/ppt/slides/slide29.xml" Id="R8bef48b0f3c548d1" /><Relationship Type="http://schemas.openxmlformats.org/officeDocument/2006/relationships/slide" Target="/ppt/slides/slide30.xml" Id="Rd4738677beb3477e" /><Relationship Type="http://schemas.openxmlformats.org/officeDocument/2006/relationships/slide" Target="/ppt/slides/slide31.xml" Id="R18268526f51f4d46" /><Relationship Type="http://schemas.openxmlformats.org/officeDocument/2006/relationships/slide" Target="/ppt/slides/slide32.xml" Id="R286d6a819b334b33" /><Relationship Type="http://schemas.openxmlformats.org/officeDocument/2006/relationships/slide" Target="/ppt/slides/slide33.xml" Id="Rdb45784361964aab" /><Relationship Type="http://schemas.openxmlformats.org/officeDocument/2006/relationships/slide" Target="/ppt/slides/slide34.xml" Id="Rc0b9fb4b8cb14b85" /><Relationship Type="http://schemas.openxmlformats.org/officeDocument/2006/relationships/slide" Target="/ppt/slides/slide35.xml" Id="R0c68ea244bf44e81" /><Relationship Type="http://schemas.openxmlformats.org/officeDocument/2006/relationships/slide" Target="/ppt/slides/slide36.xml" Id="Rc856551e7a9a41fb" /><Relationship Type="http://schemas.openxmlformats.org/officeDocument/2006/relationships/slide" Target="/ppt/slides/slide37.xml" Id="R78bf7e2369d04a3a" /><Relationship Type="http://schemas.openxmlformats.org/officeDocument/2006/relationships/slide" Target="/ppt/slides/slide38.xml" Id="R8711e071c88640b6" /><Relationship Type="http://schemas.openxmlformats.org/officeDocument/2006/relationships/slide" Target="/ppt/slides/slide39.xml" Id="R7ddeab9a4df84a96" /><Relationship Type="http://schemas.openxmlformats.org/officeDocument/2006/relationships/slide" Target="/ppt/slides/slide40.xml" Id="R7a918adee79f436e" /><Relationship Type="http://schemas.openxmlformats.org/officeDocument/2006/relationships/slide" Target="/ppt/slides/slide41.xml" Id="Ra444d46b25fc4f3b" /><Relationship Type="http://schemas.openxmlformats.org/officeDocument/2006/relationships/slide" Target="/ppt/slides/slide42.xml" Id="R3962b3a6c2cf47d7" /><Relationship Type="http://schemas.openxmlformats.org/officeDocument/2006/relationships/slide" Target="/ppt/slides/slide43.xml" Id="Rb2935b4db9c14691" /><Relationship Type="http://schemas.openxmlformats.org/officeDocument/2006/relationships/slide" Target="/ppt/slides/slide44.xml" Id="Rd33ca659407e4c75" /><Relationship Type="http://schemas.openxmlformats.org/officeDocument/2006/relationships/slide" Target="/ppt/slides/slide45.xml" Id="R9a26bb270c1b45a9" /><Relationship Type="http://schemas.openxmlformats.org/officeDocument/2006/relationships/slide" Target="/ppt/slides/slide46.xml" Id="Rbfc639c94479443b" /><Relationship Type="http://schemas.openxmlformats.org/officeDocument/2006/relationships/slide" Target="/ppt/slides/slide47.xml" Id="Rde14a49e9b5c4eb0" /><Relationship Type="http://schemas.openxmlformats.org/officeDocument/2006/relationships/slide" Target="/ppt/slides/slide48.xml" Id="Rc1a77ebb79a741ae" /><Relationship Type="http://schemas.openxmlformats.org/officeDocument/2006/relationships/slide" Target="/ppt/slides/slide49.xml" Id="Rc96d5a7a30c740af" /><Relationship Type="http://schemas.openxmlformats.org/officeDocument/2006/relationships/slide" Target="/ppt/slides/slide50.xml" Id="Rfa407c283da4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00621c6b14c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18b6df24374cbb" /><Relationship Type="http://schemas.openxmlformats.org/officeDocument/2006/relationships/notesMaster" Target="/ppt/notesMasters/notesMaster1.xml" Id="Rffb9a39450e943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aadff67434ef4" /><Relationship Type="http://schemas.openxmlformats.org/officeDocument/2006/relationships/notesMaster" Target="/ppt/notesMasters/notesMaster1.xml" Id="R08ab59d3d5ad40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a1b41f175f48fb" /><Relationship Type="http://schemas.openxmlformats.org/officeDocument/2006/relationships/notesMaster" Target="/ppt/notesMasters/notesMaster1.xml" Id="R910ff13f95e541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4cb57c18d4448d" /><Relationship Type="http://schemas.openxmlformats.org/officeDocument/2006/relationships/notesMaster" Target="/ppt/notesMasters/notesMaster1.xml" Id="R42bddabd205d40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b6e04591da47b7" /><Relationship Type="http://schemas.openxmlformats.org/officeDocument/2006/relationships/notesMaster" Target="/ppt/notesMasters/notesMaster1.xml" Id="R716378ff67df4a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d7feb2f29449f7" /><Relationship Type="http://schemas.openxmlformats.org/officeDocument/2006/relationships/notesMaster" Target="/ppt/notesMasters/notesMaster1.xml" Id="R56ec0e1d3ca740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b10a39eac048c3" /><Relationship Type="http://schemas.openxmlformats.org/officeDocument/2006/relationships/notesMaster" Target="/ppt/notesMasters/notesMaster1.xml" Id="R89f6781c1d51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1585be4409424f" /><Relationship Type="http://schemas.openxmlformats.org/officeDocument/2006/relationships/notesMaster" Target="/ppt/notesMasters/notesMaster1.xml" Id="Rf6f35f8dc1c34b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25c218b85d4c1b" /><Relationship Type="http://schemas.openxmlformats.org/officeDocument/2006/relationships/notesMaster" Target="/ppt/notesMasters/notesMaster1.xml" Id="Re9ba835a893e4d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aedea7be284647" /><Relationship Type="http://schemas.openxmlformats.org/officeDocument/2006/relationships/notesMaster" Target="/ppt/notesMasters/notesMaster1.xml" Id="Rcda3a357ca6a4a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383ad5e4464dad" /><Relationship Type="http://schemas.openxmlformats.org/officeDocument/2006/relationships/notesMaster" Target="/ppt/notesMasters/notesMaster1.xml" Id="R6d7eb815e78c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7e1c1691be41d3" /><Relationship Type="http://schemas.openxmlformats.org/officeDocument/2006/relationships/notesMaster" Target="/ppt/notesMasters/notesMaster1.xml" Id="Rb812c6c963fa49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e787e24674486c" /><Relationship Type="http://schemas.openxmlformats.org/officeDocument/2006/relationships/notesMaster" Target="/ppt/notesMasters/notesMaster1.xml" Id="R21162960bf7a42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2212344a6c4ab1" /><Relationship Type="http://schemas.openxmlformats.org/officeDocument/2006/relationships/notesMaster" Target="/ppt/notesMasters/notesMaster1.xml" Id="R5a2f631c185944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9ca3da39ea4721" /><Relationship Type="http://schemas.openxmlformats.org/officeDocument/2006/relationships/notesMaster" Target="/ppt/notesMasters/notesMaster1.xml" Id="Rd99829c1373040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165b35308a4d80" /><Relationship Type="http://schemas.openxmlformats.org/officeDocument/2006/relationships/notesMaster" Target="/ppt/notesMasters/notesMaster1.xml" Id="R34d6a28ccf7a4b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fdb42a4a9d418f" /><Relationship Type="http://schemas.openxmlformats.org/officeDocument/2006/relationships/notesMaster" Target="/ppt/notesMasters/notesMaster1.xml" Id="Rb6a6eae362eb4f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44177171d64b18" /><Relationship Type="http://schemas.openxmlformats.org/officeDocument/2006/relationships/notesMaster" Target="/ppt/notesMasters/notesMaster1.xml" Id="Re3fb192be3424e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9ef95925a94a75" /><Relationship Type="http://schemas.openxmlformats.org/officeDocument/2006/relationships/notesMaster" Target="/ppt/notesMasters/notesMaster1.xml" Id="R8c9c6908475b4e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c47aa6c0ae40a0" /><Relationship Type="http://schemas.openxmlformats.org/officeDocument/2006/relationships/notesMaster" Target="/ppt/notesMasters/notesMaster1.xml" Id="Rafa2e836fd3344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8cc482e55444dc" /><Relationship Type="http://schemas.openxmlformats.org/officeDocument/2006/relationships/notesMaster" Target="/ppt/notesMasters/notesMaster1.xml" Id="R812d4cf669c74e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e89443516d46b9" /><Relationship Type="http://schemas.openxmlformats.org/officeDocument/2006/relationships/notesMaster" Target="/ppt/notesMasters/notesMaster1.xml" Id="R773ec4c2b6574c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07d4b2ede842dc" /><Relationship Type="http://schemas.openxmlformats.org/officeDocument/2006/relationships/notesMaster" Target="/ppt/notesMasters/notesMaster1.xml" Id="Raf4b564cc4ae4b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f5b1d32286c4a94" /><Relationship Type="http://schemas.openxmlformats.org/officeDocument/2006/relationships/notesMaster" Target="/ppt/notesMasters/notesMaster1.xml" Id="Ra9609896782046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4534166c874249" /><Relationship Type="http://schemas.openxmlformats.org/officeDocument/2006/relationships/notesMaster" Target="/ppt/notesMasters/notesMaster1.xml" Id="Rda2e04ea44414cf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98f534c072467b" /><Relationship Type="http://schemas.openxmlformats.org/officeDocument/2006/relationships/notesMaster" Target="/ppt/notesMasters/notesMaster1.xml" Id="R1d73440436ff4ac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851db274d84202" /><Relationship Type="http://schemas.openxmlformats.org/officeDocument/2006/relationships/notesMaster" Target="/ppt/notesMasters/notesMaster1.xml" Id="R94ca3d6e89a747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9c218b502a4839" /><Relationship Type="http://schemas.openxmlformats.org/officeDocument/2006/relationships/notesMaster" Target="/ppt/notesMasters/notesMaster1.xml" Id="R770e2686dd86488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7cd90198ec4bb6" /><Relationship Type="http://schemas.openxmlformats.org/officeDocument/2006/relationships/notesMaster" Target="/ppt/notesMasters/notesMaster1.xml" Id="R6740647b9f3b4bb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a3142303e5e4c94" /><Relationship Type="http://schemas.openxmlformats.org/officeDocument/2006/relationships/notesMaster" Target="/ppt/notesMasters/notesMaster1.xml" Id="R4c8ba5f290ff47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dd829a56e00411e" /><Relationship Type="http://schemas.openxmlformats.org/officeDocument/2006/relationships/notesMaster" Target="/ppt/notesMasters/notesMaster1.xml" Id="R47b18b1c99ab477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7fe91815c554820" /><Relationship Type="http://schemas.openxmlformats.org/officeDocument/2006/relationships/notesMaster" Target="/ppt/notesMasters/notesMaster1.xml" Id="R192f13d60bbc430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8f78dd36e5a4b4d" /><Relationship Type="http://schemas.openxmlformats.org/officeDocument/2006/relationships/notesMaster" Target="/ppt/notesMasters/notesMaster1.xml" Id="R98a1300dfb2b4b6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5e3581fca5442e6" /><Relationship Type="http://schemas.openxmlformats.org/officeDocument/2006/relationships/notesMaster" Target="/ppt/notesMasters/notesMaster1.xml" Id="Rba1c676b0c1e46a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94e3c1d45d04e5d" /><Relationship Type="http://schemas.openxmlformats.org/officeDocument/2006/relationships/notesMaster" Target="/ppt/notesMasters/notesMaster1.xml" Id="Rc6ed22f9fc3c44e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04eaa740af5472d" /><Relationship Type="http://schemas.openxmlformats.org/officeDocument/2006/relationships/notesMaster" Target="/ppt/notesMasters/notesMaster1.xml" Id="R792ffa44a69d470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e063168505d4520" /><Relationship Type="http://schemas.openxmlformats.org/officeDocument/2006/relationships/notesMaster" Target="/ppt/notesMasters/notesMaster1.xml" Id="R517f9d403ebd4e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7a8202e9611427a" /><Relationship Type="http://schemas.openxmlformats.org/officeDocument/2006/relationships/notesMaster" Target="/ppt/notesMasters/notesMaster1.xml" Id="R369774b814ee469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61a5dc4cb9c4524" /><Relationship Type="http://schemas.openxmlformats.org/officeDocument/2006/relationships/notesMaster" Target="/ppt/notesMasters/notesMaster1.xml" Id="R42f77be2874b48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627b9596e394cc7" /><Relationship Type="http://schemas.openxmlformats.org/officeDocument/2006/relationships/notesMaster" Target="/ppt/notesMasters/notesMaster1.xml" Id="Rd89fdd5d779742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c0ba4d8b6cc46b8" /><Relationship Type="http://schemas.openxmlformats.org/officeDocument/2006/relationships/notesMaster" Target="/ppt/notesMasters/notesMaster1.xml" Id="R9a60b808e1c54d7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df22ba3b7814f59" /><Relationship Type="http://schemas.openxmlformats.org/officeDocument/2006/relationships/notesMaster" Target="/ppt/notesMasters/notesMaster1.xml" Id="R59009339f2814e3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3152d537a84a39" /><Relationship Type="http://schemas.openxmlformats.org/officeDocument/2006/relationships/notesMaster" Target="/ppt/notesMasters/notesMaster1.xml" Id="R8f5e1c36bcf44fe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3ff1a0efd4a4087" /><Relationship Type="http://schemas.openxmlformats.org/officeDocument/2006/relationships/notesMaster" Target="/ppt/notesMasters/notesMaster1.xml" Id="R792ba9ff25bc4e5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3e4d0602b084783" /><Relationship Type="http://schemas.openxmlformats.org/officeDocument/2006/relationships/notesMaster" Target="/ppt/notesMasters/notesMaster1.xml" Id="Re2aae586d55d43f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5011badcc244015" /><Relationship Type="http://schemas.openxmlformats.org/officeDocument/2006/relationships/notesMaster" Target="/ppt/notesMasters/notesMaster1.xml" Id="Rafbc34297592460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b4ff3506e6241c0" /><Relationship Type="http://schemas.openxmlformats.org/officeDocument/2006/relationships/notesMaster" Target="/ppt/notesMasters/notesMaster1.xml" Id="Rd9b99d9d673e4f7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eab5a666b194ed7" /><Relationship Type="http://schemas.openxmlformats.org/officeDocument/2006/relationships/notesMaster" Target="/ppt/notesMasters/notesMaster1.xml" Id="R7f42bdcd41e445d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0da734cb3154ee8" /><Relationship Type="http://schemas.openxmlformats.org/officeDocument/2006/relationships/notesMaster" Target="/ppt/notesMasters/notesMaster1.xml" Id="R989b4c4e6bcb4ae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ac820fb8b7041f7" /><Relationship Type="http://schemas.openxmlformats.org/officeDocument/2006/relationships/notesMaster" Target="/ppt/notesMasters/notesMaster1.xml" Id="Rfa4f038ac3ae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Вступление. Спросите, кому сегодня приходилось писать сообщение, искать сведения или сравнивать варианты. Обещайте один самостоятельный полезный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Актуальная программа: 16:00–18:00. Подробные слайды можно использовать выборочно и для самостоятельного повторения. Декоративная обложка создана с помощью 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Знакомство с тренером, 1–2 минуты внутри вводного блока 0–10 минут. Дүйсенбекқызы Жансая, PhD. Исследователь и преподаватель в области искусственного интеллекта, NLP (обработка естественного языка) и ASR (автоматическое распознавание речи). Имя, степень и направления работы предоставлены пользователем. Фотография предоставлена пользователем и вставлена без изменения внешности.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3 минут. ИИ находит закономерности в данных. Здесь рассматриваем прикладных помощников. Поясните, что это группы возможностей, а не строгая классификация всех видов 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карту за 3 минуты. Не требуйте регистрации во всех сервисах. Возможности пересекаются, это практические точки входа.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https://learn.chatgpt.com/docs/web-search</a:t>
            </a:r>
          </a:p>
          <a:p xmlns:a="http://schemas.openxmlformats.org/drawingml/2006/main">
            <a:r>
              <a:t>Source, checked 2026-09-15: https://support.google.com/gemini/answer/14903178?hl=ru</a:t>
            </a:r>
          </a:p>
          <a:p xmlns:a="http://schemas.openxmlformats.org/drawingml/2006/main">
            <a:r>
              <a:t>Source, checked 2026-09-15: https://help.x.com/en/using-x/about-grok</a:t>
            </a:r>
          </a:p>
          <a:p xmlns:a="http://schemas.openxmlformats.org/drawingml/2006/main">
            <a:r>
              <a:t>Source, checked 2026-09-15: https://help.gamma.app/en/articles/7838093-how-do-i-create-a-new-presentation-document-or-webpage-in-gamma</a:t>
            </a:r>
          </a:p>
          <a:p xmlns:a="http://schemas.openxmlformats.org/drawingml/2006/main">
            <a:r>
              <a:t>Source, checked 2026-09-15: https://www.perplexity.ai/help-center/en/articles/10352895-how-does-perplexity-work</a:t>
            </a:r>
          </a:p>
          <a:p xmlns:a="http://schemas.openxmlformats.org/drawingml/2006/main">
            <a:r>
              <a:t>Source, checked 2026-09-15: https://learn.chatgpt.com/docs/image-generation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Откройте chatgpt.com. На скриншоте реальный стартовый экран без входа. Для сохранения истории и дополнительных функций может потребоваться вход. Вид на телефоне может отличаться.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https://learn.chatgpt.com/docs/web-search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Блок 10–20 минут. Покажите ввод запроса. На скриншоте действительный запрос на казахском в Gemini. Попросите заменить время под свой пример.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https://support.google.com/gemini/answer/14903178?hl=ru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время подготовки гостевой Gemini отказался выполнить простой запрос. Это реальный скриншот сбоя, не образец правильного ответа. Переформулировка тоже не гарантирует успеха; можно начать новый чат или попробовать другой сервис.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https://support.google.com/gemini/answer/14903178?hl=ru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Учебные образцы написаны для занятия, а не выданы за ответы сервиса. Участники сверяют время и смысл. Покажите копирование текста в заметки.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Блок 20–35 минут. На реальном экране меню Gemini инструменты требуют входа. Покажите плюс, вход и выбор файла после авторизации. Если функция недоступна, вставьте текст из учебного объявления.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https://support.google.com/gemini/answer/14903178?hl=ru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Вымышленное объявление для практики. Попросите написать, о чём речь, и выписать дату, время, место, условие. Ответ участники сверяют с оригиналом.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Короткий показ второго сервиса. Для файла используйте публичный документ. В библиотеке карточка 25. Не просите всех регистрироваться прямо сейчас.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https://support.google.com/gemini/answer/14903178?hl=ru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Блок 35–50 минут. Выясняем задачу до поиска. Не обещайте покупку или бронирование. Полный запрос — карточка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Цены вымышлены. Задание: нужен багаж и прибытие до 20:00. А стоит 32 000 тенге с багажом и прибывает поздно. Б стоит 30 000, прибывает в 18:00 и соответствует условиям.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показываем Perplexity и Grok как дополнительные варианты. Источник должен прямо подтверждать утверждение. Для билетов завершаем проверку у перевозчика.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https://www.perplexity.ai/help-center/en/articles/10352895-how-does-perplexity-work</a:t>
            </a:r>
          </a:p>
          <a:p xmlns:a="http://schemas.openxmlformats.org/drawingml/2006/main">
            <a:r>
              <a:t>Source, checked 2026-09-15: https://help.x.com/en/using-x/about-grok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 бесплатную ручную кладь Air Astana (экономкласс) и FlyArystan на 15 сентября 2026 года. Используй только официальные сайты авиакомпаний. Краткая таблица: вес, размеры, число мест. Дай прямые ссылки на источники и отметь изменения правил. Не смешивай ручную кладь и сдаваемый багаж. Если сведения противоречат друг другу, покажи это. Ответь по-русски, до 150 слов.</a:t>
            </a:r>
          </a:p>
          <a:p xmlns:a="http://schemas.openxmlformats.org/drawingml/2006/main">
            <a:r>
              <a:t>Откройте perplexity.ai, выберите обычный поиск и введите запрос. Образец относится к одному взрослому пассажиру, базовой ручной клади, экономклассу. Другие личные вещи, специальные предметы и платные услуги проверяются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>Source, checked 2026-09-15: https://www.perplexity.ai/help-center/en/articles/10352895-how-does-perplexity-work</a:t>
            </a:r>
          </a:p>
          <a:p xmlns:a="http://schemas.openxmlformats.org/drawingml/2006/main">
            <a:r>
              <a:t>Source, checked 2026-09-15: https://airastana.com/kaz-en/information/carry-on-baggage</a:t>
            </a:r>
          </a:p>
          <a:p xmlns:a="http://schemas.openxmlformats.org/drawingml/2006/main">
            <a:r>
              <a:t>Source, checked 2026-09-15: https://flyarystan.com/hand-baggage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реального ответа Perplexity, 15.09.2026. Обрезаны боковая панель и окно cookies. В кадре два столбца ответа. Строки сверху вниз: вес, размеры, число мест. Числа сверены с официальными источниками.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>Source, checked 2026-09-15: https://airastana.com/kaz-en/information/carry-on-baggage</a:t>
            </a:r>
          </a:p>
          <a:p xmlns:a="http://schemas.openxmlformats.org/drawingml/2006/main">
            <a:r>
              <a:t>Source, checked 2026-09-15: https://flyarystan.com/hand-baggage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 правильно указал текущие числа, но заявил, что публичных изменений норм не зафиксировано. Официальная новость FlyArystan подтверждает изменение с 5 до 7 кг с 1 марта 2026 года. Поэтому ответ частично неполон. Во время реального занятия заново откройте правила на дату поездки.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>Source, checked 2026-09-15: https://www.go.flyarystan.com/tpost/3506gbhob1-flyarystan-uvelichivaet-normu-besplatnoi</a:t>
            </a:r>
          </a:p>
          <a:p xmlns:a="http://schemas.openxmlformats.org/drawingml/2006/main">
            <a:r>
              <a:t>Source, checked 2026-09-15: https://flyarystan.com/hand-baggage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Второй пример для самостоятельного повторения. Участник берёт две реальные ссылки на бытовую технику, которую рассматривает. Это сценарий упражнения, а не показ выполненного поиска. Итог должен содержать ссылки, дату проверки, характеристики и неподтверждённые пункты.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>Source, checked 2026-09-15: https://www.perplexity.ai/help-center/en/articles/10352895-how-does-perplexity-work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ролевая игра. Ты руководитель, я сотрудник. На сегодня есть 8 рабочих часов. Отчёт займёт 5 часов, сверка заявок 4 часа, подготовка писем 3 часа. Все сроки поставлены на сегодня. Помоги отрепетировать спокойный разговор о приоритетах. Задавай по одному вопросу и жди моего ответа. Начни с одной короткой реплики руководителя. Не пиши весь диалог сразу.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>Source, checked 2026-09-15: https://docs.x.ai/grok/overview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диалога составлен для занятия. Он не выдаётся за фактический ответ Grok. После каждой реплики участник пишет свой ответ. Точное содержание ответа сервиса будет отличаться.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>Source, checked 2026-09-15: https://docs.x.ai/grok/overview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Практика в паре: один играет руководителя, второй отвечает. Затем меняются. По исходным условиям дефицит составляет 4 часа. Решение о приоритетах принимает человек. Это репетиция, сообщение руководителю не отправляется.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Второй пример для самостоятельного повторения. Вымышленные вводные. На интервалы поездок и время работы учреждений нужно получить данные участника, а не выдумывать их. Попросите модель сначала задать уточняющие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Дополнительный блок Perplexity и Grok: около 20 минут на оба основных примера. Вторые примеры можно дать для самостоятельного повторения.</a:t>
            </a:r>
          </a:p>
          <a:p xmlns:a="http://schemas.openxmlformats.org/drawingml/2006/main">
            <a:r>
              <a:t>Source, checked 2026-09-15: https://docs.x.ai/grok/overview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перенос навыка сравнения. Это обзор, а подробное упражнение относится к вебинару. Карточка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Блок 70–80 минут. Иллюстрация создана встроенным ImageGen как учебный пример, не скриншот ChatGPT или Gemini. Покажите, как описать событие, стиль и свободное место для текста. Карточка 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https://learn.chatgpt.com/docs/image-generation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оригинал и результат редактирования. Задача — сделать фон светлее, сохранить расположение цветов. Обсудите, что изменилось и что сохранилось.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https://learn.chatgpt.com/docs/image-generation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Короткое знакомство с Gamma. Для самостоятельной практики библиотека 27–28. Документация описывает Generate, Paste, Import. Следует проверить слайды и экспорт. Дополнительные функции могут зависеть от тарифа.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>Source, checked 2026-09-15: https://help.gamma.app/en/articles/7838093-how-do-i-create-a-new-presentation-document-or-webpage-in-gamma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Практика 20 минут. Учебный файл practice-requests.xlsx содержит 300 вымышленных строк. Отдельно считаем строки и уникальные ID. Не называйте этот небольшой учебный файл большими данными: он иллюстрирует работу с объёмной для ручного просмотра таблицей.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Откройте practice-requests.xlsx, выделите диапазон A4:G304, скопируйте и вставьте после запроса. Попросите посчитать все строки. На скриншоте показан реальный ввод данных текстом.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Проанализируй данные из учебной Excel-таблицы, полностью вставленные ниже как TSV. Это вымышленные данные, срез на 15.09.2026. Посчитай по всем строкам, а не по первым. Покажи компактную таблицу: число строк, число уникальных ID, количество по каждому статусу, просроченные строки (статус не «Закрыта», а срок строго раньше 15.09.2026), повторяющиеся ID, количество пустых ответственных. Не удаляй повторы автоматически. Кратко объясни правило и напиши три вывода. Если точный расчёт не удалось выполнить, прямо скажи, не угадывай.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реальный ответ Gemini на все 300 строк, вставленные как текст. Сопоставьте ответ с проверочными числами на следующем слайде.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 выполнен независимо по исходным строкам. Срез 15.09.2026. Срок строго раньше даты среза и статус не Закрыта. Считаем строки до решения о повторах. Повторяющиеся ID имеют отличающиеся поля, поэтому их нельзя удалять автоматически.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реальном ответе Gemini назвал ситуацию серьёзной проблемой дедлайнов. По одному учебному срезу можно подтвердить числа, но нельзя установить причины или оценить историческую эффективность. Уточните, почему появились просрочки и повторные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Практика 15 минут. Используйте practice-meeting.docx. Участники должны отличить принятые поручения от обсуждавшихся предложений.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Скопируйте весь текст practice-meeting.docx и вставьте после запроса. На следующих слайдах реальный ответ Gemini, полученный этим способом.</a:t>
            </a:r>
          </a:p>
          <a:p xmlns:a="http://schemas.openxmlformats.org/drawingml/2006/main">
            <a:r>
              <a:t>Прочитай текст учебного Word-протокола ниже. Составь таблицу: поручение, ответственный, срок. Включай только принятые поручения. Если ответственный или срок не указан, так и напиши. Обсуждавшиеся, но не принятые предложения вынеси отдельно. Затем напиши короткое сообщение коллегам: что нужно уточнить перед следующей сверкой готовности. Сохрани даты и не придумывай решения. Источник дан полностью в этом сообщении.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ответа Gemini по полному тексту Word. После первого ответа задано уточнение: сократить формулировки, сохранив пять строк, имена и сроки. Для казахской версии запрошен перевод. Найдите две недостающие ячейки.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Пять принятых поручений: Алия — программа до 18 сентября, Тимур — проектор и звук до 21 сентября, Дана — подтверждения до 17 сентября, зал — до 16 сентября без назначенного ответственного, Марат — список канцелярии без срока. Кофе-брейк не утверждён.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Блок 120–135 минут. Пять минут на запрос, пять на уточнение и проверку, пять на обсуждение в паре. Каждый должен выполнить действия сам хотя бы один 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заставляйте запоминать длинные шаблоны. Покажите четыре поля. Если участник затрудняется, используйте карточку 30 библиотеки.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показывает результат, другой задаёт вопросы. Через две минуты поменяйтесь. Просите показать конкретный проверенный факт.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Возможности частично пересекаются. Это отправная точка для личной пробы, а не рейтинг качества. Для всех сервисов доступ зависит от аккаунта, региона и тарифа.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>Source, checked 2026-09-15: https://learn.chatgpt.com/docs/use-chatgpt</a:t>
            </a:r>
          </a:p>
          <a:p xmlns:a="http://schemas.openxmlformats.org/drawingml/2006/main">
            <a:r>
              <a:t>Source, checked 2026-09-15: https://one.google.com/about/google-ai-plans/</a:t>
            </a:r>
          </a:p>
          <a:p xmlns:a="http://schemas.openxmlformats.org/drawingml/2006/main">
            <a:r>
              <a:t>Source, checked 2026-09-15: https://docs.x.ai/grok/overview</a:t>
            </a:r>
          </a:p>
          <a:p xmlns:a="http://schemas.openxmlformats.org/drawingml/2006/main">
            <a:r>
              <a:t>Source, checked 2026-09-15: https://www.perplexity.ai/help-center/en/articles/11187416-which-perplexity-subscription-plan-is-right-for-you</a:t>
            </a:r>
          </a:p>
          <a:p xmlns:a="http://schemas.openxmlformats.org/drawingml/2006/main">
            <a:r>
              <a:t>Source, checked 2026-09-15: https://gamma.app/pricing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ориентиры в USD с открытых страниц, не локальная оферта и не полный каталог тарифов. ChatGPT также имеет Pro от $100/месяц; Google — AI Ultra. Для начала предложите проверить бесплатную версию на своей задаче. Лимиты не равны фиксированному числу сообщений.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>Source, checked 2026-09-15: https://learn.chatgpt.com/docs/pricing</a:t>
            </a:r>
          </a:p>
          <a:p xmlns:a="http://schemas.openxmlformats.org/drawingml/2006/main">
            <a:r>
              <a:t>Source, checked 2026-09-15: https://one.google.com/about/plans?hl=en_CA</a:t>
            </a:r>
          </a:p>
          <a:p xmlns:a="http://schemas.openxmlformats.org/drawingml/2006/main">
            <a:r>
              <a:t>Source, checked 2026-09-15: https://support.google.com/gemini/answer/16275805?hl=en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Perplexity Pro увеличивает возможности поиска и работы с файлами. Grok имеет платные планы с более высокими лимитами, включая SuperGrok Plus за $100/месяц. Конкретные лимиты проверяются перед занятием. Подписка одного сервиса не активирует отдельные подписки у остальных.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>Source, checked 2026-09-15: https://www.perplexity.ai/hub</a:t>
            </a:r>
          </a:p>
          <a:p xmlns:a="http://schemas.openxmlformats.org/drawingml/2006/main">
            <a:r>
              <a:t>Source, checked 2026-09-15: https://www.perplexity.ai/help-center/en/articles/11187416-which-perplexity-subscription-plan-is-right-for-you</a:t>
            </a:r>
          </a:p>
          <a:p xmlns:a="http://schemas.openxmlformats.org/drawingml/2006/main">
            <a:r>
              <a:t>Source, checked 2026-09-15: https://x.ai/pricing</a:t>
            </a:r>
          </a:p>
          <a:p xmlns:a="http://schemas.openxmlformats.org/drawingml/2006/main">
            <a:r>
              <a:t>Source, checked 2026-09-15: https://docs.x.ai/grok/faq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Кредиты расходуются на AI-действия. Free не пополняет начальные кредиты автоматически. Платные планы включают ежемесячные кредиты. Точная стоимость Gamma не подтвердилась в доступном тексте официальной страницы; откройте Pricing в своём аккаунте, выберите месяц или год и посмотрите итог до оплаты. Количество слайдов за запрос в платных планах расходится между языковыми страницами, поэтому здесь оно не фиксируется.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>Source, checked 2026-09-15: https://gamma.app/pricing</a:t>
            </a:r>
          </a:p>
          <a:p xmlns:a="http://schemas.openxmlformats.org/drawingml/2006/main">
            <a:r>
              <a:t>Source, checked 2026-09-15: https://help.gamma.app/en/articles/8077107-how-can-i-upgrade-my-gamma-subscription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относится к Perplexity Pro по открытой странице на 15.09.2026. Расчёт: 20×12=240; 200÷12≈16,67; 240−200=40. Месячный эквивалент не означает ежемесячное списание при годовой подписке. Налоги и локальная итоговая сумма проверяются в аккаунте.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>Source, checked 2026-09-15: https://www.perplexity.ai/hub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Попросите участника назвать три свои задачи и частоту использования. Если бесплатный доступ справляется, оплата не нужна. При регулярном ограничении полезно сравнить конкретные платные функции и начать с одного месяца. Управление подпиской выполняется там, где она оформлена: на сайте или в магазине приложений. Не проводите оплату за участника.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>Source, checked 2026-09-15: https://docs.x.ai/grok/faq</a:t>
            </a:r>
          </a:p>
          <a:p xmlns:a="http://schemas.openxmlformats.org/drawingml/2006/main">
            <a:r>
              <a:t>Source, checked 2026-09-15: https://www.perplexity.ai/help-center/en/articles/11187416-which-perplexity-subscription-plan-is-right-for-you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Сделай простой сайт на тему [тема] для [кому] на [язык]. Используй только эти сведения: [публичные сведения]. Нужны заголовок, описание, три раздела и контакты, если я их указал. Крупный текст, удобный вид на телефоне. Без регистрации, платежей и сбора данных. Подготовь один самостоятельный файл index.html, без внешних библиотек. Если файл нельзя выдать, покажи полный код и объясни, как сохранить его.</a:t>
            </a:r>
          </a:p>
          <a:p xmlns:a="http://schemas.openxmlformats.org/drawingml/2006/main">
            <a:r>
              <a:t>Подробный маршрут и четыре запроса — в библиотеке, раздел «Как сделать сайт». Вариант на компьютере: сохранить полный код в Блокноте как index.html, тип Все файлы, UTF-8. Открыть в браузере. В Canvas использовать предпросмотр. Для публикации отдельно проверить публичные данные и права доступа.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>Source, checked 2026-09-15: https://learn.chatgpt.com/docs/use-chatgpt</a:t>
            </a:r>
          </a:p>
          <a:p xmlns:a="http://schemas.openxmlformats.org/drawingml/2006/main">
            <a:r>
              <a:t>Source, checked 2026-09-15: https://support.google.com/gemini/answer/16047321?hl=en-166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Создай 30 новых заданий по [тема] для [класс], только по правилам [правила]. Три уровня по 10 заданий: базовый, средний, сложнее. Меняй числа и сюжеты, часть примеров — про [интерес]. Сначала выдай только первые 10 без ответов и дождись команды продолжить. Ответы с ходом решения подготовь отдельно для родителя. Избегай неоднозначных условий и повторов.</a:t>
            </a:r>
          </a:p>
          <a:p xmlns:a="http://schemas.openxmlformats.org/drawingml/2006/main">
            <a:r>
              <a:t>Материалы готовит и проверяет взрослый; ребёнок решает на бумаге или рядом со взрослым. Отдельный аккаунт ребёнку для этих упражнений не нужен. Начните с наблюдаемой ошибки, затем одна идея, похожий пример и короткая практика. Ключи сверить до занятия. В библиотеке есть восемь запросов и готовый проверенный мини-пример на умножение.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135–155 минут: возможности, подписки и новые маршруты в библиотеке. Полную практику сайта и занятий с ребёнком можно выполнить после мастер-класса.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155–120 минут. Библиотека теперь содержит 60 сценариев на каждом языке, сравнение подписок, пошаговый сайт и помощь ребёнку. Один HTML-файл с выбором языка. Открывается в браузере; работа AI-сервисов требует интернета.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Финальные 5 минут. Участник выбирает одну задачу на завтра. Материалы прилагаются файлами. Дата, платформа и длительность последующего вебинара ещё не подтверждены; не объявляйте вымышленные реквизиты и QR-код.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сценарный план и библиотека запросов. Основной язык аудитории — казахский. Расширенная практика рассчитана примерно на 120 минут.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с материалами на казахском и русском. Регистрация не нужна. Презентации в PDF и PowerPoint, программа, библиотека запросов, Excel и Word для практики. Telegram: https://t.me/aimasterclassz. QR-код ведёт на постоянный адрес сайта: https://nursultannurmukhamet.github.io/ai-masterclass-materials/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b8e985e154c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a4bfd044c4f3e" /><Relationship Type="http://schemas.openxmlformats.org/officeDocument/2006/relationships/slideLayout" Target="/ppt/slideLayouts/slideLayout1.xml" Id="Rd205cfdddf3147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5cfdddf3147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08926788f49c3" /><Relationship Type="http://schemas.openxmlformats.org/officeDocument/2006/relationships/image" Target="/ppt/media/image.png" Id="R790f5e47565e40d2" /><Relationship Type="http://schemas.openxmlformats.org/officeDocument/2006/relationships/notesSlide" Target="/ppt/notesSlides/notesSlide1.xml" Id="R265adb054e7745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03a112b404114" /><Relationship Type="http://schemas.openxmlformats.org/officeDocument/2006/relationships/image" Target="/ppt/media/image.jpeg" Id="R2a37ff55316346d6" /><Relationship Type="http://schemas.openxmlformats.org/officeDocument/2006/relationships/notesSlide" Target="/ppt/notesSlides/notesSlide2.xml" Id="R9e53cb31e07a4f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3899586744d59" /><Relationship Type="http://schemas.openxmlformats.org/officeDocument/2006/relationships/notesSlide" Target="/ppt/notesSlides/notesSlide3.xml" Id="R68365d5f5e7f41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19703b9ff41a0" /><Relationship Type="http://schemas.openxmlformats.org/officeDocument/2006/relationships/notesSlide" Target="/ppt/notesSlides/notesSlide4.xml" Id="Rb69aa409416c4e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195ac217d42fc" /><Relationship Type="http://schemas.openxmlformats.org/officeDocument/2006/relationships/image" Target="/ppt/media/image2.jpeg" Id="R52cb3558c8de4d83" /><Relationship Type="http://schemas.openxmlformats.org/officeDocument/2006/relationships/notesSlide" Target="/ppt/notesSlides/notesSlide5.xml" Id="R19e293f6352545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e594660654dce" /><Relationship Type="http://schemas.openxmlformats.org/officeDocument/2006/relationships/image" Target="/ppt/media/image3.jpeg" Id="R402ce3feaa6649fa" /><Relationship Type="http://schemas.openxmlformats.org/officeDocument/2006/relationships/notesSlide" Target="/ppt/notesSlides/notesSlide6.xml" Id="R58ce4a0f74ab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2f35e53e74e09" /><Relationship Type="http://schemas.openxmlformats.org/officeDocument/2006/relationships/image" Target="/ppt/media/image4.jpeg" Id="R786fce04d7ad4309" /><Relationship Type="http://schemas.openxmlformats.org/officeDocument/2006/relationships/notesSlide" Target="/ppt/notesSlides/notesSlide7.xml" Id="R9873e301411a49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dc2cf45d0435f" /><Relationship Type="http://schemas.openxmlformats.org/officeDocument/2006/relationships/notesSlide" Target="/ppt/notesSlides/notesSlide8.xml" Id="R5dc9b9b8426d4f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a70a5d48a403c" /><Relationship Type="http://schemas.openxmlformats.org/officeDocument/2006/relationships/image" Target="/ppt/media/image5.jpeg" Id="Rf1a54bf27e594d4e" /><Relationship Type="http://schemas.openxmlformats.org/officeDocument/2006/relationships/notesSlide" Target="/ppt/notesSlides/notesSlide9.xml" Id="Rfcaa14069d8b4c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833c4637041a2" /><Relationship Type="http://schemas.openxmlformats.org/officeDocument/2006/relationships/notesSlide" Target="/ppt/notesSlides/notesSlide10.xml" Id="Ra653fb1b278b4c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def79b02c4088" /><Relationship Type="http://schemas.openxmlformats.org/officeDocument/2006/relationships/image" Target="/ppt/media/image6.jpeg" Id="R663dd2aa28f047e5" /><Relationship Type="http://schemas.openxmlformats.org/officeDocument/2006/relationships/notesSlide" Target="/ppt/notesSlides/notesSlide11.xml" Id="R890aba352ccd40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d24888ed14fb4" /><Relationship Type="http://schemas.openxmlformats.org/officeDocument/2006/relationships/notesSlide" Target="/ppt/notesSlides/notesSlide12.xml" Id="R01f4eca847e84a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c900e2cbd400f" /><Relationship Type="http://schemas.openxmlformats.org/officeDocument/2006/relationships/notesSlide" Target="/ppt/notesSlides/notesSlide13.xml" Id="R1dd54f52a3cc44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d639fcbfe4756" /><Relationship Type="http://schemas.openxmlformats.org/officeDocument/2006/relationships/notesSlide" Target="/ppt/notesSlides/notesSlide14.xml" Id="Rdca33f26e9f947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8b9c319b4eaf" /><Relationship Type="http://schemas.openxmlformats.org/officeDocument/2006/relationships/notesSlide" Target="/ppt/notesSlides/notesSlide15.xml" Id="R84864e6986d64a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9e354329b46e6" /><Relationship Type="http://schemas.openxmlformats.org/officeDocument/2006/relationships/image" Target="/ppt/media/image2.png" Id="Re36c09252c8e4f98" /><Relationship Type="http://schemas.openxmlformats.org/officeDocument/2006/relationships/notesSlide" Target="/ppt/notesSlides/notesSlide16.xml" Id="R2940594a5c1f42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dbe4bd8c641b8" /><Relationship Type="http://schemas.openxmlformats.org/officeDocument/2006/relationships/notesSlide" Target="/ppt/notesSlides/notesSlide17.xml" Id="R52cb9b1f0f914f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2b0d41a8f4d3c" /><Relationship Type="http://schemas.openxmlformats.org/officeDocument/2006/relationships/notesSlide" Target="/ppt/notesSlides/notesSlide18.xml" Id="R74663a94ebf34f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5ba4a41334323" /><Relationship Type="http://schemas.openxmlformats.org/officeDocument/2006/relationships/notesSlide" Target="/ppt/notesSlides/notesSlide19.xml" Id="R6845bed7568f44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b3fc5767411e" /><Relationship Type="http://schemas.openxmlformats.org/officeDocument/2006/relationships/notesSlide" Target="/ppt/notesSlides/notesSlide20.xml" Id="R7f79508b5fe244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9dbb4b08d4ee2" /><Relationship Type="http://schemas.openxmlformats.org/officeDocument/2006/relationships/notesSlide" Target="/ppt/notesSlides/notesSlide21.xml" Id="R41591247424c4d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973833b424ebe" /><Relationship Type="http://schemas.openxmlformats.org/officeDocument/2006/relationships/notesSlide" Target="/ppt/notesSlides/notesSlide22.xml" Id="R7de27a5abe484e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24877e4764e94" /><Relationship Type="http://schemas.openxmlformats.org/officeDocument/2006/relationships/notesSlide" Target="/ppt/notesSlides/notesSlide23.xml" Id="R7a7a071bb68b490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b48ef0054f26" /><Relationship Type="http://schemas.openxmlformats.org/officeDocument/2006/relationships/image" Target="/ppt/media/image3.png" Id="R735020f432d0439e" /><Relationship Type="http://schemas.openxmlformats.org/officeDocument/2006/relationships/notesSlide" Target="/ppt/notesSlides/notesSlide24.xml" Id="R742840aad23149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c356643b44a66" /><Relationship Type="http://schemas.openxmlformats.org/officeDocument/2006/relationships/image" Target="/ppt/media/image4.png" Id="R4e6356df02154537" /><Relationship Type="http://schemas.openxmlformats.org/officeDocument/2006/relationships/image" Target="/ppt/media/image5.png" Id="Ra6cd78a3044d40f1" /><Relationship Type="http://schemas.openxmlformats.org/officeDocument/2006/relationships/notesSlide" Target="/ppt/notesSlides/notesSlide25.xml" Id="R9c8d985f76594e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f50f558b74673" /><Relationship Type="http://schemas.openxmlformats.org/officeDocument/2006/relationships/notesSlide" Target="/ppt/notesSlides/notesSlide26.xml" Id="R7bbb3e20f46c4de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df64c70df4925" /><Relationship Type="http://schemas.openxmlformats.org/officeDocument/2006/relationships/image" Target="/ppt/media/image6.png" Id="R0100db2b80ba45c4" /><Relationship Type="http://schemas.openxmlformats.org/officeDocument/2006/relationships/notesSlide" Target="/ppt/notesSlides/notesSlide27.xml" Id="R770be12f31e949b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659dd289f45dd" /><Relationship Type="http://schemas.openxmlformats.org/officeDocument/2006/relationships/image" Target="/ppt/media/image7.png" Id="R13eebbd1a26e4970" /><Relationship Type="http://schemas.openxmlformats.org/officeDocument/2006/relationships/notesSlide" Target="/ppt/notesSlides/notesSlide28.xml" Id="Recc48106b87c451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386dfb20b4437" /><Relationship Type="http://schemas.openxmlformats.org/officeDocument/2006/relationships/notesSlide" Target="/ppt/notesSlides/notesSlide29.xml" Id="Re376ea31f31b44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9f88fdc3f4174" /><Relationship Type="http://schemas.openxmlformats.org/officeDocument/2006/relationships/image" Target="/ppt/media/image7.jpeg" Id="R6822a0a371054539" /><Relationship Type="http://schemas.openxmlformats.org/officeDocument/2006/relationships/notesSlide" Target="/ppt/notesSlides/notesSlide30.xml" Id="R9316552234194c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72092fd764439" /><Relationship Type="http://schemas.openxmlformats.org/officeDocument/2006/relationships/notesSlide" Target="/ppt/notesSlides/notesSlide31.xml" Id="R5dc166115e264d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6e7652de642c6" /><Relationship Type="http://schemas.openxmlformats.org/officeDocument/2006/relationships/notesSlide" Target="/ppt/notesSlides/notesSlide32.xml" Id="R9c09b9f6ca4d43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5b8adf05347ea" /><Relationship Type="http://schemas.openxmlformats.org/officeDocument/2006/relationships/image" Target="/ppt/media/image8.png" Id="Rc1ae0595df4d4820" /><Relationship Type="http://schemas.openxmlformats.org/officeDocument/2006/relationships/notesSlide" Target="/ppt/notesSlides/notesSlide33.xml" Id="Rc6abf7204c3942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7b49d228a4218" /><Relationship Type="http://schemas.openxmlformats.org/officeDocument/2006/relationships/notesSlide" Target="/ppt/notesSlides/notesSlide34.xml" Id="R4a3381880e15444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9a2467fdb4607" /><Relationship Type="http://schemas.openxmlformats.org/officeDocument/2006/relationships/image" Target="/ppt/media/image8.jpeg" Id="R2f99ed2d8c4f4bea" /><Relationship Type="http://schemas.openxmlformats.org/officeDocument/2006/relationships/notesSlide" Target="/ppt/notesSlides/notesSlide35.xml" Id="R89990776805b4a7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f0c0aaba4301" /><Relationship Type="http://schemas.openxmlformats.org/officeDocument/2006/relationships/notesSlide" Target="/ppt/notesSlides/notesSlide36.xml" Id="Rd8f1367ae3f6433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9755efb8d4253" /><Relationship Type="http://schemas.openxmlformats.org/officeDocument/2006/relationships/notesSlide" Target="/ppt/notesSlides/notesSlide37.xml" Id="Rf8e91e5758e742b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a1d2e9b5343e5" /><Relationship Type="http://schemas.openxmlformats.org/officeDocument/2006/relationships/notesSlide" Target="/ppt/notesSlides/notesSlide38.xml" Id="Rc17763d678b9467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59156ad524d29" /><Relationship Type="http://schemas.openxmlformats.org/officeDocument/2006/relationships/notesSlide" Target="/ppt/notesSlides/notesSlide39.xml" Id="Ra5c120073342401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661d1641a45ff" /><Relationship Type="http://schemas.openxmlformats.org/officeDocument/2006/relationships/notesSlide" Target="/ppt/notesSlides/notesSlide40.xml" Id="R36c2b76c0814485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7df63793c4c79" /><Relationship Type="http://schemas.openxmlformats.org/officeDocument/2006/relationships/notesSlide" Target="/ppt/notesSlides/notesSlide41.xml" Id="R560659802447424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047d2109d4253" /><Relationship Type="http://schemas.openxmlformats.org/officeDocument/2006/relationships/notesSlide" Target="/ppt/notesSlides/notesSlide42.xml" Id="Rb0282da95373433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df6aeb1664c84" /><Relationship Type="http://schemas.openxmlformats.org/officeDocument/2006/relationships/notesSlide" Target="/ppt/notesSlides/notesSlide43.xml" Id="R75986eb82ada4aa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e29d5cca74ccb" /><Relationship Type="http://schemas.openxmlformats.org/officeDocument/2006/relationships/notesSlide" Target="/ppt/notesSlides/notesSlide44.xml" Id="R023feba4e27e481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adacd65f44f53" /><Relationship Type="http://schemas.openxmlformats.org/officeDocument/2006/relationships/notesSlide" Target="/ppt/notesSlides/notesSlide45.xml" Id="R6578dd8a91a64b8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93b1612aa4b94" /><Relationship Type="http://schemas.openxmlformats.org/officeDocument/2006/relationships/notesSlide" Target="/ppt/notesSlides/notesSlide46.xml" Id="R4f92cadad066447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c9123f91e407f" /><Relationship Type="http://schemas.openxmlformats.org/officeDocument/2006/relationships/notesSlide" Target="/ppt/notesSlides/notesSlide47.xml" Id="R80d16166f29c49d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e18937cf144fa" /><Relationship Type="http://schemas.openxmlformats.org/officeDocument/2006/relationships/notesSlide" Target="/ppt/notesSlides/notesSlide48.xml" Id="Rd7e51350a3284e5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0085a2b3b466f" /><Relationship Type="http://schemas.openxmlformats.org/officeDocument/2006/relationships/notesSlide" Target="/ppt/notesSlides/notesSlide49.xml" Id="R80d79ae0cd13429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ab02fdce4576" /><Relationship Type="http://schemas.openxmlformats.org/officeDocument/2006/relationships/image" Target="/ppt/media/image9.png" Id="R704544cc3c0d40f0" /><Relationship Type="http://schemas.openxmlformats.org/officeDocument/2006/relationships/notesSlide" Target="/ppt/notesSlides/notesSlide50.xml" Id="R864b3d4e60ab45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ИИ для жизни&#10;и работы">
            <a:extLst xmlns:a="http://schemas.openxmlformats.org/drawingml/2006/main">
              <a:ext uri="{FF2B5EF4-FFF2-40B4-BE49-F238E27FC236}">
                <a16:creationId xmlns:a16="http://schemas.microsoft.com/office/drawing/2014/main" id="{C691028D-AB0B-4826-8F55-E66A88A0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695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 для жизни</a:t>
            </a:r>
          </a:p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работы</a:t>
            </a:r>
          </a:p>
        </p:txBody>
      </p:sp>
      <p:sp>
        <p:nvSpPr>
          <p:cNvPr id="2" name="Text 01">
            <a:extLst xmlns:a="http://schemas.openxmlformats.org/drawingml/2006/main">
              <a:ext uri="{FF2B5EF4-FFF2-40B4-BE49-F238E27FC236}">
                <a16:creationId xmlns:a16="http://schemas.microsoft.com/office/drawing/2014/main" id="{9BF70084-295F-470F-A75D-AE3A7FE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DC7D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C7D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f5e47565e40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 Показали. Попробовали.&#10;Прове">
            <a:extLst xmlns:a="http://schemas.openxmlformats.org/drawingml/2006/main">
              <a:ext uri="{FF2B5EF4-FFF2-40B4-BE49-F238E27FC236}">
                <a16:creationId xmlns:a16="http://schemas.microsoft.com/office/drawing/2014/main" id="{31E8C554-B620-4A94-B32E-D893D80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Практика на ваших</a:t>
            </a:r>
          </a:p>
          <a:p xmlns:a="http://schemas.openxmlformats.org/drawingml/2006/main">
            <a:pPr>
              <a:buNone/>
              <a:defRPr sz="2625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повседневных задачах</a:t>
            </a:r>
          </a:p>
        </p:txBody>
      </p:sp>
      <p:sp>
        <p:nvSpPr>
          <p:cNvPr id="5" name="Text Практический мастер-класс&#10;Шы">
            <a:extLst xmlns:a="http://schemas.openxmlformats.org/drawingml/2006/main">
              <a:ext uri="{FF2B5EF4-FFF2-40B4-BE49-F238E27FC236}">
                <a16:creationId xmlns:a16="http://schemas.microsoft.com/office/drawing/2014/main" id="{4EA47D18-99DF-4DED-BE93-F0148EC5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CC8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8D7"/>
                </a:solidFill>
                <a:latin typeface="Arial"/>
                <a:ea typeface="Arial"/>
                <a:cs typeface="Arial"/>
              </a:rPr>
              <a:t>Шымкент · 21 сентября 2026</a:t>
            </a:r>
          </a:p>
          <a:p xmlns:a="http://schemas.openxmlformats.org/drawingml/2006/main">
            <a:pPr>
              <a:buNone/>
              <a:defRPr sz="1875" b="0">
                <a:solidFill>
                  <a:srgbClr val="BCC8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8D7"/>
                </a:solidFill>
                <a:latin typeface="Arial"/>
                <a:ea typeface="Arial"/>
                <a:cs typeface="Arial"/>
              </a:rPr>
              <a:t>16:00–18:00</a:t>
            </a:r>
          </a:p>
        </p:txBody>
      </p:sp>
      <p:sp>
        <p:nvSpPr>
          <p:cNvPr id="8" name="AI masterclass brand">
            <a:extLst xmlns:a="http://schemas.openxmlformats.org/drawingml/2006/main">
              <a:ext uri="{FF2B5EF4-FFF2-40B4-BE49-F238E27FC236}">
                <a16:creationId xmlns:a16="http://schemas.microsoft.com/office/drawing/2014/main" id="{1E3B4331-1BDB-489F-BD49-D81CEB5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AI  /  КАЖДЫЙ ДЕНЬ</a:t>
            </a:r>
          </a:p>
        </p:txBody>
      </p:sp>
    </p:spTree>
    <p:extLst>
      <p:ext uri="{BB962C8B-B14F-4D97-AF65-F5344CB8AC3E}">
        <p14:creationId xmlns:p14="http://schemas.microsoft.com/office/powerpoint/2010/main" val="242763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ntro title">
            <a:extLst xmlns:a="http://schemas.openxmlformats.org/drawingml/2006/main">
              <a:ext uri="{FF2B5EF4-FFF2-40B4-BE49-F238E27FC236}">
                <a16:creationId xmlns:a16="http://schemas.microsoft.com/office/drawing/2014/main" id="{FC686E0E-E0A4-46FA-9683-441159EE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6F1"/>
                </a:solidFill>
                <a:latin typeface="Arial"/>
                <a:ea typeface="Arial"/>
                <a:cs typeface="Arial"/>
              </a:rPr>
              <a:t>Знакомство с тренером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7ff55316346d6"/>
          <a:stretch xmlns:a="http://schemas.openxmlformats.org/drawingml/2006/main"/>
        </p:blipFill>
        <p:spPr>
          <a:xfrm xmlns:a="http://schemas.openxmlformats.org/drawingml/2006/main">
            <a:off x="704850" y="1543066"/>
            <a:ext cx="3333750" cy="4445000"/>
          </a:xfrm>
          <a:prstGeom xmlns:a="http://schemas.openxmlformats.org/drawingml/2006/main" prst="rect">
            <a:avLst/>
          </a:prstGeom>
        </p:spPr>
      </p:pic>
      <p:sp>
        <p:nvSpPr>
          <p:cNvPr id="3" name="Trainer name">
            <a:extLst xmlns:a="http://schemas.openxmlformats.org/drawingml/2006/main">
              <a:ext uri="{FF2B5EF4-FFF2-40B4-BE49-F238E27FC236}">
                <a16:creationId xmlns:a16="http://schemas.microsoft.com/office/drawing/2014/main" id="{8D6EF00C-414F-4C9D-B063-ECDDC963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6F1"/>
                </a:solidFill>
                <a:latin typeface="Arial"/>
                <a:ea typeface="Arial"/>
                <a:cs typeface="Arial"/>
              </a:rPr>
              <a:t>Дүйсенбекқызы Жансая</a:t>
            </a:r>
          </a:p>
        </p:txBody>
      </p:sp>
      <p:sp>
        <p:nvSpPr>
          <p:cNvPr id="4" name="Trainer degree">
            <a:extLst xmlns:a="http://schemas.openxmlformats.org/drawingml/2006/main">
              <a:ext uri="{FF2B5EF4-FFF2-40B4-BE49-F238E27FC236}">
                <a16:creationId xmlns:a16="http://schemas.microsoft.com/office/drawing/2014/main" id="{63A24979-00C5-4C10-B0CA-56020596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PhD</a:t>
            </a:r>
          </a:p>
        </p:txBody>
      </p:sp>
      <p:sp>
        <p:nvSpPr>
          <p:cNvPr id="5" name="Trainer biography">
            <a:extLst xmlns:a="http://schemas.openxmlformats.org/drawingml/2006/main">
              <a:ext uri="{FF2B5EF4-FFF2-40B4-BE49-F238E27FC236}">
                <a16:creationId xmlns:a16="http://schemas.microsoft.com/office/drawing/2014/main" id="{98D4BC2D-2BCC-42CB-B748-046AA839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57525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Исследователь и преподаватель</a:t>
            </a:r>
          </a:p>
          <a:p xmlns:a="http://schemas.openxmlformats.org/drawingml/2006/main">
            <a:pPr>
              <a:buNone/>
              <a:defRPr sz="225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в области искусственного интеллекта</a:t>
            </a:r>
          </a:p>
        </p:txBody>
      </p:sp>
      <p:sp>
        <p:nvSpPr>
          <p:cNvPr id="6" name="Trainer NLP">
            <a:extLst xmlns:a="http://schemas.openxmlformats.org/drawingml/2006/main">
              <a:ext uri="{FF2B5EF4-FFF2-40B4-BE49-F238E27FC236}">
                <a16:creationId xmlns:a16="http://schemas.microsoft.com/office/drawing/2014/main" id="{3FACBB49-02F4-4370-A8C2-73F63F2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NLP: обработка естественного языка</a:t>
            </a:r>
          </a:p>
        </p:txBody>
      </p:sp>
      <p:sp>
        <p:nvSpPr>
          <p:cNvPr id="7" name="Trainer ASR">
            <a:extLst xmlns:a="http://schemas.openxmlformats.org/drawingml/2006/main">
              <a:ext uri="{FF2B5EF4-FFF2-40B4-BE49-F238E27FC236}">
                <a16:creationId xmlns:a16="http://schemas.microsoft.com/office/drawing/2014/main" id="{A181F0E3-EE2C-4720-9A87-56D17EF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ASR: автоматическое</a:t>
            </a:r>
          </a:p>
          <a:p xmlns:a="http://schemas.openxmlformats.org/drawingml/2006/main">
            <a:pPr>
              <a:buNone/>
              <a:defRPr sz="2175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распознавание речи</a:t>
            </a:r>
          </a:p>
        </p:txBody>
      </p:sp>
      <p:sp>
        <p:nvSpPr>
          <p:cNvPr id="8" name="Intro page 2">
            <a:extLst xmlns:a="http://schemas.openxmlformats.org/drawingml/2006/main">
              <a:ext uri="{FF2B5EF4-FFF2-40B4-BE49-F238E27FC236}">
                <a16:creationId xmlns:a16="http://schemas.microsoft.com/office/drawing/2014/main" id="{A19C2FEB-3336-41B6-9AD5-F62E0596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DC7D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C7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2377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Что умеет ИИ">
            <a:extLst xmlns:a="http://schemas.openxmlformats.org/drawingml/2006/main">
              <a:ext uri="{FF2B5EF4-FFF2-40B4-BE49-F238E27FC236}">
                <a16:creationId xmlns:a16="http://schemas.microsoft.com/office/drawing/2014/main" id="{56A5C48B-A790-4727-AEDA-5108CCA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Что умеет ИИ</a:t>
            </a:r>
          </a:p>
        </p:txBody>
      </p:sp>
      <p:sp>
        <p:nvSpPr>
          <p:cNvPr id="2" name="Text 02">
            <a:extLst xmlns:a="http://schemas.openxmlformats.org/drawingml/2006/main">
              <a:ext uri="{FF2B5EF4-FFF2-40B4-BE49-F238E27FC236}">
                <a16:creationId xmlns:a16="http://schemas.microsoft.com/office/drawing/2014/main" id="{A1DE9564-663B-4924-943B-D5EE556D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Помогает подготовить ответ,&#10;">
            <a:extLst xmlns:a="http://schemas.openxmlformats.org/drawingml/2006/main">
              <a:ext uri="{FF2B5EF4-FFF2-40B4-BE49-F238E27FC236}">
                <a16:creationId xmlns:a16="http://schemas.microsoft.com/office/drawing/2014/main" id="{00BAD531-8B6D-4ADB-A3BF-5A82F5DD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Помогает подготовить ответ,</a:t>
            </a:r>
          </a:p>
          <a:p xmlns:a="http://schemas.openxmlformats.org/drawingml/2006/main">
            <a:pPr>
              <a:buNone/>
              <a:defRPr sz="26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с которым дальше работает человек.</a:t>
            </a:r>
          </a:p>
        </p:txBody>
      </p:sp>
      <p:sp>
        <p:nvSpPr>
          <p:cNvPr id="4" name="Text Текст: сообщение, перевод, п">
            <a:extLst xmlns:a="http://schemas.openxmlformats.org/drawingml/2006/main">
              <a:ext uri="{FF2B5EF4-FFF2-40B4-BE49-F238E27FC236}">
                <a16:creationId xmlns:a16="http://schemas.microsoft.com/office/drawing/2014/main" id="{4634C7D2-11A6-4944-A56D-8001A725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Текст: сообщение, перевод, понятное объяснение</a:t>
            </a:r>
          </a:p>
        </p:txBody>
      </p:sp>
      <p:sp>
        <p:nvSpPr>
          <p:cNvPr id="5" name="Text Поиск: сведения и ссылки на ">
            <a:extLst xmlns:a="http://schemas.openxmlformats.org/drawingml/2006/main">
              <a:ext uri="{FF2B5EF4-FFF2-40B4-BE49-F238E27FC236}">
                <a16:creationId xmlns:a16="http://schemas.microsoft.com/office/drawing/2014/main" id="{129E6868-6E9A-44DC-B431-CF209CF7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Поиск: сведения и ссылки на источники</a:t>
            </a:r>
          </a:p>
        </p:txBody>
      </p:sp>
      <p:sp>
        <p:nvSpPr>
          <p:cNvPr id="6" name="Text Изображения: понять фото, со">
            <a:extLst xmlns:a="http://schemas.openxmlformats.org/drawingml/2006/main">
              <a:ext uri="{FF2B5EF4-FFF2-40B4-BE49-F238E27FC236}">
                <a16:creationId xmlns:a16="http://schemas.microsoft.com/office/drawing/2014/main" id="{6EE9003A-A537-43EE-82AF-56ACDB76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Изображения: понять фото, создать или изменить картинку</a:t>
            </a:r>
          </a:p>
        </p:txBody>
      </p:sp>
      <p:sp>
        <p:nvSpPr>
          <p:cNvPr id="7" name="Text Материалы: оформить текст в ">
            <a:extLst xmlns:a="http://schemas.openxmlformats.org/drawingml/2006/main">
              <a:ext uri="{FF2B5EF4-FFF2-40B4-BE49-F238E27FC236}">
                <a16:creationId xmlns:a16="http://schemas.microsoft.com/office/drawing/2014/main" id="{FA386A56-22EB-4D30-BA88-ED7290F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Материалы: оформить текст в документ или слайды</a:t>
            </a:r>
          </a:p>
        </p:txBody>
      </p:sp>
    </p:spTree>
    <p:extLst>
      <p:ext uri="{BB962C8B-B14F-4D97-AF65-F5344CB8AC3E}">
        <p14:creationId xmlns:p14="http://schemas.microsoft.com/office/powerpoint/2010/main" val="485043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Какой сервис выбрать">
            <a:extLst xmlns:a="http://schemas.openxmlformats.org/drawingml/2006/main">
              <a:ext uri="{FF2B5EF4-FFF2-40B4-BE49-F238E27FC236}">
                <a16:creationId xmlns:a16="http://schemas.microsoft.com/office/drawing/2014/main" id="{F308AEF5-01C0-4038-8DF3-09DDB48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Какой сервис выбрать</a:t>
            </a:r>
          </a:p>
        </p:txBody>
      </p:sp>
      <p:sp>
        <p:nvSpPr>
          <p:cNvPr id="2" name="Text 03">
            <a:extLst xmlns:a="http://schemas.openxmlformats.org/drawingml/2006/main">
              <a:ext uri="{FF2B5EF4-FFF2-40B4-BE49-F238E27FC236}">
                <a16:creationId xmlns:a16="http://schemas.microsoft.com/office/drawing/2014/main" id="{937B8B38-68B6-4ECF-94A9-798F1D18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4850" y="1524000"/>
          <a:ext xmlns:a="http://schemas.openxmlformats.org/drawingml/2006/main" cx="1076325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286750"/>
              </a:tblGrid>
              <a:tr h="6477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Сервис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 чего начать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ChatGPT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Сообщение, объяснение, план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Gemini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Фото, текст, вопрос к документу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Grok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Вопрос и поиск публичных сообщений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Gamma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Презентация из своего текста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Perplexity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Ответ со ссылками на источники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Выберите один сервис для пра">
            <a:extLst xmlns:a="http://schemas.openxmlformats.org/drawingml/2006/main">
              <a:ext uri="{FF2B5EF4-FFF2-40B4-BE49-F238E27FC236}">
                <a16:creationId xmlns:a16="http://schemas.microsoft.com/office/drawing/2014/main" id="{8BBD2254-63EB-42D7-B0A5-5F3BA0C3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Выберите один сервис для практики. Доступ и лимиты зависят от аккаунта.</a:t>
            </a:r>
          </a:p>
        </p:txBody>
      </p:sp>
    </p:spTree>
    <p:extLst>
      <p:ext uri="{BB962C8B-B14F-4D97-AF65-F5344CB8AC3E}">
        <p14:creationId xmlns:p14="http://schemas.microsoft.com/office/powerpoint/2010/main" val="1553594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Первый запрос в браузере">
            <a:extLst xmlns:a="http://schemas.openxmlformats.org/drawingml/2006/main">
              <a:ext uri="{FF2B5EF4-FFF2-40B4-BE49-F238E27FC236}">
                <a16:creationId xmlns:a16="http://schemas.microsoft.com/office/drawing/2014/main" id="{A51B082C-F30F-4199-8DCB-FE2F21E5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Первый запрос в браузере</a:t>
            </a:r>
          </a:p>
        </p:txBody>
      </p:sp>
      <p:sp>
        <p:nvSpPr>
          <p:cNvPr id="2" name="Text 04">
            <a:extLst xmlns:a="http://schemas.openxmlformats.org/drawingml/2006/main">
              <a:ext uri="{FF2B5EF4-FFF2-40B4-BE49-F238E27FC236}">
                <a16:creationId xmlns:a16="http://schemas.microsoft.com/office/drawing/2014/main" id="{5D6572A8-0304-441F-B9D8-F80DA449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 chatgpt.com">
            <a:extLst xmlns:a="http://schemas.openxmlformats.org/drawingml/2006/main">
              <a:ext uri="{FF2B5EF4-FFF2-40B4-BE49-F238E27FC236}">
                <a16:creationId xmlns:a16="http://schemas.microsoft.com/office/drawing/2014/main" id="{C85C6B2F-B1AA-4FE4-A028-66535A43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chatgpt.com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b3558c8de4d83"/>
          <a:srcRect xmlns:a="http://schemas.openxmlformats.org/drawingml/2006/main" l="0" t="27581" r="0" b="27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143125"/>
            <a:ext cx="10763250" cy="2714625"/>
          </a:xfrm>
          <a:prstGeom xmlns:a="http://schemas.openxmlformats.org/drawingml/2006/main" prst="rect">
            <a:avLst/>
          </a:prstGeom>
        </p:spPr>
      </p:pic>
      <p:sp>
        <p:nvSpPr>
          <p:cNvPr id="5" name="Text 1. Нажмите поле ввода.  2. Н">
            <a:extLst xmlns:a="http://schemas.openxmlformats.org/drawingml/2006/main">
              <a:ext uri="{FF2B5EF4-FFF2-40B4-BE49-F238E27FC236}">
                <a16:creationId xmlns:a16="http://schemas.microsoft.com/office/drawing/2014/main" id="{44C00109-5ED0-439C-BCD3-0E8C2CD7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1. Нажмите поле ввода.  2. Напишите задачу.</a:t>
            </a:r>
          </a:p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3. Отправьте запрос кнопкой со стрелкой.</a:t>
            </a:r>
          </a:p>
        </p:txBody>
      </p:sp>
    </p:spTree>
    <p:extLst>
      <p:ext uri="{BB962C8B-B14F-4D97-AF65-F5344CB8AC3E}">
        <p14:creationId xmlns:p14="http://schemas.microsoft.com/office/powerpoint/2010/main" val="1536672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Сообщение о переносе встречи">
            <a:extLst xmlns:a="http://schemas.openxmlformats.org/drawingml/2006/main">
              <a:ext uri="{FF2B5EF4-FFF2-40B4-BE49-F238E27FC236}">
                <a16:creationId xmlns:a16="http://schemas.microsoft.com/office/drawing/2014/main" id="{274D43D5-077A-4BEA-BC0C-668210F0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Сообщение о переносе встречи</a:t>
            </a:r>
          </a:p>
        </p:txBody>
      </p:sp>
      <p:sp>
        <p:nvSpPr>
          <p:cNvPr id="2" name="Text 05">
            <a:extLst xmlns:a="http://schemas.openxmlformats.org/drawingml/2006/main">
              <a:ext uri="{FF2B5EF4-FFF2-40B4-BE49-F238E27FC236}">
                <a16:creationId xmlns:a16="http://schemas.microsoft.com/office/drawing/2014/main" id="{951168E3-E798-46A4-BAB0-2D6C32F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 Нужно перенести встречу с 15">
            <a:extLst xmlns:a="http://schemas.openxmlformats.org/drawingml/2006/main">
              <a:ext uri="{FF2B5EF4-FFF2-40B4-BE49-F238E27FC236}">
                <a16:creationId xmlns:a16="http://schemas.microsoft.com/office/drawing/2014/main" id="{760F359D-039B-41C9-8466-A7B5C04E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Нужно перенести встречу с 15:00 на 16:00.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ce3feaa6649fa"/>
          <a:srcRect xmlns:a="http://schemas.openxmlformats.org/drawingml/2006/main" l="0" t="26794" r="0" b="26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286000"/>
            <a:ext cx="10763250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Text Задача + время + короткий фо">
            <a:extLst xmlns:a="http://schemas.openxmlformats.org/drawingml/2006/main">
              <a:ext uri="{FF2B5EF4-FFF2-40B4-BE49-F238E27FC236}">
                <a16:creationId xmlns:a16="http://schemas.microsoft.com/office/drawing/2014/main" id="{BBA6379F-35AB-4990-B73B-7F41C18C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Задача + время + короткий формат + язык ответа</a:t>
            </a:r>
          </a:p>
        </p:txBody>
      </p:sp>
    </p:spTree>
    <p:extLst>
      <p:ext uri="{BB962C8B-B14F-4D97-AF65-F5344CB8AC3E}">
        <p14:creationId xmlns:p14="http://schemas.microsoft.com/office/powerpoint/2010/main" val="992690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Если ответ не подошёл">
            <a:extLst xmlns:a="http://schemas.openxmlformats.org/drawingml/2006/main">
              <a:ext uri="{FF2B5EF4-FFF2-40B4-BE49-F238E27FC236}">
                <a16:creationId xmlns:a16="http://schemas.microsoft.com/office/drawing/2014/main" id="{848BF0C1-2559-4E69-B914-D75151D2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Если ответ не подошёл</a:t>
            </a:r>
          </a:p>
        </p:txBody>
      </p:sp>
      <p:sp>
        <p:nvSpPr>
          <p:cNvPr id="2" name="Text 06">
            <a:extLst xmlns:a="http://schemas.openxmlformats.org/drawingml/2006/main">
              <a:ext uri="{FF2B5EF4-FFF2-40B4-BE49-F238E27FC236}">
                <a16:creationId xmlns:a16="http://schemas.microsoft.com/office/drawing/2014/main" id="{F0EF8240-F350-4929-9B54-5A43C3AB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fce04d7ad4309"/>
          <a:srcRect xmlns:a="http://schemas.openxmlformats.org/drawingml/2006/main" l="0" t="36234" r="0" b="362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543050"/>
            <a:ext cx="10763250" cy="1666875"/>
          </a:xfrm>
          <a:prstGeom xmlns:a="http://schemas.openxmlformats.org/drawingml/2006/main" prst="rect">
            <a:avLst/>
          </a:prstGeom>
        </p:spPr>
      </p:pic>
      <p:sp>
        <p:nvSpPr>
          <p:cNvPr id="4" name="Text Реальный пример неудачного о">
            <a:extLst xmlns:a="http://schemas.openxmlformats.org/drawingml/2006/main">
              <a:ext uri="{FF2B5EF4-FFF2-40B4-BE49-F238E27FC236}">
                <a16:creationId xmlns:a16="http://schemas.microsoft.com/office/drawing/2014/main" id="{E25340AD-C794-417A-A73D-42CBA1F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Реальный пример неудачного ответа</a:t>
            </a:r>
          </a:p>
        </p:txBody>
      </p:sp>
      <p:sp>
        <p:nvSpPr>
          <p:cNvPr id="5" name="Text Уточните: «Мне нужен только ">
            <a:extLst xmlns:a="http://schemas.openxmlformats.org/drawingml/2006/main">
              <a:ext uri="{FF2B5EF4-FFF2-40B4-BE49-F238E27FC236}">
                <a16:creationId xmlns:a16="http://schemas.microsoft.com/office/drawing/2014/main" id="{E3A08800-1747-46FC-B79A-B70FA4EA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Уточните: «Мне нужен только текст сообщения».</a:t>
            </a:r>
          </a:p>
        </p:txBody>
      </p:sp>
      <p:sp>
        <p:nvSpPr>
          <p:cNvPr id="6" name="Text Начните новый чат или попроб">
            <a:extLst xmlns:a="http://schemas.openxmlformats.org/drawingml/2006/main">
              <a:ext uri="{FF2B5EF4-FFF2-40B4-BE49-F238E27FC236}">
                <a16:creationId xmlns:a16="http://schemas.microsoft.com/office/drawing/2014/main" id="{BE6FE16C-0705-4E5C-A0AB-834382A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Начните новый чат или попробуйте другой сервис.</a:t>
            </a:r>
          </a:p>
        </p:txBody>
      </p:sp>
      <p:sp>
        <p:nvSpPr>
          <p:cNvPr id="7" name="Text Когда ответ получен: «Сделай">
            <a:extLst xmlns:a="http://schemas.openxmlformats.org/drawingml/2006/main">
              <a:ext uri="{FF2B5EF4-FFF2-40B4-BE49-F238E27FC236}">
                <a16:creationId xmlns:a16="http://schemas.microsoft.com/office/drawing/2014/main" id="{CE3A7397-EB80-44F3-BA08-7A269D4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Когда ответ получен: «Сделай короче и проще».</a:t>
            </a:r>
          </a:p>
        </p:txBody>
      </p:sp>
    </p:spTree>
    <p:extLst>
      <p:ext uri="{BB962C8B-B14F-4D97-AF65-F5344CB8AC3E}">
        <p14:creationId xmlns:p14="http://schemas.microsoft.com/office/powerpoint/2010/main" val="797496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Сообщение на двух языках">
            <a:extLst xmlns:a="http://schemas.openxmlformats.org/drawingml/2006/main">
              <a:ext uri="{FF2B5EF4-FFF2-40B4-BE49-F238E27FC236}">
                <a16:creationId xmlns:a16="http://schemas.microsoft.com/office/drawing/2014/main" id="{55CA04FF-A8B4-4A10-BAD3-035728EF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Сообщение на двух языках</a:t>
            </a:r>
          </a:p>
        </p:txBody>
      </p:sp>
      <p:sp>
        <p:nvSpPr>
          <p:cNvPr id="2" name="Text 07">
            <a:extLst xmlns:a="http://schemas.openxmlformats.org/drawingml/2006/main">
              <a:ext uri="{FF2B5EF4-FFF2-40B4-BE49-F238E27FC236}">
                <a16:creationId xmlns:a16="http://schemas.microsoft.com/office/drawing/2014/main" id="{CE1445C4-6FE9-4532-9A41-B23F0B56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 Учебные образцы">
            <a:extLst xmlns:a="http://schemas.openxmlformats.org/drawingml/2006/main">
              <a:ext uri="{FF2B5EF4-FFF2-40B4-BE49-F238E27FC236}">
                <a16:creationId xmlns:a16="http://schemas.microsoft.com/office/drawing/2014/main" id="{DEE68B19-2113-4DA8-934D-2A5535CB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Учебные образцы</a:t>
            </a:r>
          </a:p>
        </p:txBody>
      </p:sp>
      <p:sp>
        <p:nvSpPr>
          <p:cNvPr id="4" name="Text Русский">
            <a:extLst xmlns:a="http://schemas.openxmlformats.org/drawingml/2006/main">
              <a:ext uri="{FF2B5EF4-FFF2-40B4-BE49-F238E27FC236}">
                <a16:creationId xmlns:a16="http://schemas.microsoft.com/office/drawing/2014/main" id="{CCCFFD35-F23E-47C1-AC76-85408CB5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Русский</a:t>
            </a:r>
          </a:p>
        </p:txBody>
      </p:sp>
      <p:sp>
        <p:nvSpPr>
          <p:cNvPr id="5" name="Text Қазақша">
            <a:extLst xmlns:a="http://schemas.openxmlformats.org/drawingml/2006/main">
              <a:ext uri="{FF2B5EF4-FFF2-40B4-BE49-F238E27FC236}">
                <a16:creationId xmlns:a16="http://schemas.microsoft.com/office/drawing/2014/main" id="{27EF04CF-80A2-4EEF-802A-296C781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Қазақша</a:t>
            </a:r>
          </a:p>
        </p:txBody>
      </p:sp>
      <p:sp>
        <p:nvSpPr>
          <p:cNvPr id="6" name="Text Здравствуйте! Можно перенест">
            <a:extLst xmlns:a="http://schemas.openxmlformats.org/drawingml/2006/main">
              <a:ext uri="{FF2B5EF4-FFF2-40B4-BE49-F238E27FC236}">
                <a16:creationId xmlns:a16="http://schemas.microsoft.com/office/drawing/2014/main" id="{2593BBF6-7333-4C24-87EB-09CA9C50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4714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Здравствуйте! Можно перенести нашу встречу с 15:00 на 16:00? Спасибо!</a:t>
            </a:r>
          </a:p>
        </p:txBody>
      </p:sp>
      <p:sp>
        <p:nvSpPr>
          <p:cNvPr id="7" name="Text Сәлеметсіз бе! Кездесуімізді">
            <a:extLst xmlns:a="http://schemas.openxmlformats.org/drawingml/2006/main">
              <a:ext uri="{FF2B5EF4-FFF2-40B4-BE49-F238E27FC236}">
                <a16:creationId xmlns:a16="http://schemas.microsoft.com/office/drawing/2014/main" id="{3D46FE29-3F20-4F33-B498-7691F45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47148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Сәлеметсіз бе! Кездесуімізді 15:00-ден 16:00-ге ауыстыруға бола ма? Рақмет!</a:t>
            </a:r>
          </a:p>
        </p:txBody>
      </p:sp>
      <p:sp>
        <p:nvSpPr>
          <p:cNvPr id="8" name="Text Проверка: одинаковые время, ">
            <a:extLst xmlns:a="http://schemas.openxmlformats.org/drawingml/2006/main">
              <a:ext uri="{FF2B5EF4-FFF2-40B4-BE49-F238E27FC236}">
                <a16:creationId xmlns:a16="http://schemas.microsoft.com/office/drawing/2014/main" id="{6732AF55-7EA2-4412-BC8A-885ADCD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Проверка: одинаковые время, просьба и смысл.</a:t>
            </a:r>
          </a:p>
        </p:txBody>
      </p:sp>
    </p:spTree>
    <p:extLst>
      <p:ext uri="{BB962C8B-B14F-4D97-AF65-F5344CB8AC3E}">
        <p14:creationId xmlns:p14="http://schemas.microsoft.com/office/powerpoint/2010/main" val="1932629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Фото или файл: где начать">
            <a:extLst xmlns:a="http://schemas.openxmlformats.org/drawingml/2006/main">
              <a:ext uri="{FF2B5EF4-FFF2-40B4-BE49-F238E27FC236}">
                <a16:creationId xmlns:a16="http://schemas.microsoft.com/office/drawing/2014/main" id="{0924BA6D-9E47-4B40-98E4-D92D5711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Фото или файл: где начать</a:t>
            </a:r>
          </a:p>
        </p:txBody>
      </p:sp>
      <p:sp>
        <p:nvSpPr>
          <p:cNvPr id="2" name="Text 08">
            <a:extLst xmlns:a="http://schemas.openxmlformats.org/drawingml/2006/main">
              <a:ext uri="{FF2B5EF4-FFF2-40B4-BE49-F238E27FC236}">
                <a16:creationId xmlns:a16="http://schemas.microsoft.com/office/drawing/2014/main" id="{E1605BC4-D2B5-4646-9D2E-BBD02BFD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54bf27e594d4e"/>
          <a:stretch xmlns:a="http://schemas.openxmlformats.org/drawingml/2006/main"/>
        </p:blipFill>
        <p:spPr>
          <a:xfrm xmlns:a="http://schemas.openxmlformats.org/drawingml/2006/main">
            <a:off x="704850" y="1462775"/>
            <a:ext cx="6477000" cy="4313450"/>
          </a:xfrm>
          <a:prstGeom xmlns:a="http://schemas.openxmlformats.org/drawingml/2006/main" prst="rect">
            <a:avLst/>
          </a:prstGeom>
        </p:spPr>
      </p:pic>
      <p:sp>
        <p:nvSpPr>
          <p:cNvPr id="4" name="Text 1. Откройте «+».&#10;&#10;2. Войдите">
            <a:extLst xmlns:a="http://schemas.openxmlformats.org/drawingml/2006/main">
              <a:ext uri="{FF2B5EF4-FFF2-40B4-BE49-F238E27FC236}">
                <a16:creationId xmlns:a16="http://schemas.microsoft.com/office/drawing/2014/main" id="{230BF9C8-50DD-4AD2-A0D1-114992C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1. Откройте «+».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2. Войдите, если сервис попросит.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3. Выберите своё учебное фото или файл.</a:t>
            </a:r>
          </a:p>
        </p:txBody>
      </p:sp>
      <p:sp>
        <p:nvSpPr>
          <p:cNvPr id="5" name="Text Функция недоступна? Вставьте">
            <a:extLst xmlns:a="http://schemas.openxmlformats.org/drawingml/2006/main">
              <a:ext uri="{FF2B5EF4-FFF2-40B4-BE49-F238E27FC236}">
                <a16:creationId xmlns:a16="http://schemas.microsoft.com/office/drawing/2014/main" id="{312030BB-B9C8-4934-82A0-4684F063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Функция недоступна? Вставьте текст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1460409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Понятное объяснение объявлен">
            <a:extLst xmlns:a="http://schemas.openxmlformats.org/drawingml/2006/main">
              <a:ext uri="{FF2B5EF4-FFF2-40B4-BE49-F238E27FC236}">
                <a16:creationId xmlns:a16="http://schemas.microsoft.com/office/drawing/2014/main" id="{E8C71201-7D09-4F88-89EC-AF6357F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Понятное объяснение объявления</a:t>
            </a:r>
          </a:p>
        </p:txBody>
      </p:sp>
      <p:sp>
        <p:nvSpPr>
          <p:cNvPr id="2" name="Text 09">
            <a:extLst xmlns:a="http://schemas.openxmlformats.org/drawingml/2006/main">
              <a:ext uri="{FF2B5EF4-FFF2-40B4-BE49-F238E27FC236}">
                <a16:creationId xmlns:a16="http://schemas.microsoft.com/office/drawing/2014/main" id="{7A6A6A17-F404-4AAF-BA67-D617217F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 Учебное объявление">
            <a:extLst xmlns:a="http://schemas.openxmlformats.org/drawingml/2006/main">
              <a:ext uri="{FF2B5EF4-FFF2-40B4-BE49-F238E27FC236}">
                <a16:creationId xmlns:a16="http://schemas.microsoft.com/office/drawing/2014/main" id="{D6B414C8-7F4A-4917-B89E-ECA47D16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Учебное объявление</a:t>
            </a:r>
          </a:p>
        </p:txBody>
      </p:sp>
      <p:sp>
        <p:nvSpPr>
          <p:cNvPr id="4" name="Text Книжный клуб&#10;25 сентября, 18">
            <a:extLst xmlns:a="http://schemas.openxmlformats.org/drawingml/2006/main">
              <a:ext uri="{FF2B5EF4-FFF2-40B4-BE49-F238E27FC236}">
                <a16:creationId xmlns:a16="http://schemas.microsoft.com/office/drawing/2014/main" id="{E4DD91C9-3CF9-4552-98CC-4111EE13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Книжный клуб</a:t>
            </a:r>
          </a:p>
          <a:p xmlns:a="http://schemas.openxmlformats.org/drawingml/2006/main">
            <a:pPr>
              <a:buNone/>
              <a:defRPr sz="25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25 сентября, 18:00</a:t>
            </a:r>
          </a:p>
          <a:p xmlns:a="http://schemas.openxmlformats.org/drawingml/2006/main">
            <a:pPr>
              <a:buNone/>
              <a:defRPr sz="25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Зал № 2</a:t>
            </a:r>
          </a:p>
          <a:p xmlns:a="http://schemas.openxmlformats.org/drawingml/2006/main">
            <a:pPr>
              <a:buNone/>
              <a:defRPr sz="25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С собой — любимая книга</a:t>
            </a:r>
          </a:p>
        </p:txBody>
      </p:sp>
      <p:sp>
        <p:nvSpPr>
          <p:cNvPr id="5" name="Text Запрос:&#10;«Объясни простыми сл">
            <a:extLst xmlns:a="http://schemas.openxmlformats.org/drawingml/2006/main">
              <a:ext uri="{FF2B5EF4-FFF2-40B4-BE49-F238E27FC236}">
                <a16:creationId xmlns:a16="http://schemas.microsoft.com/office/drawing/2014/main" id="{3A79200F-2797-471B-B158-A409E30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24075"/>
            <a:ext cx="471487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Запрос:</a:t>
            </a:r>
          </a:p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«Объясни простыми словами. Отдельно выпиши дату, время, место и что нужно сделать».</a:t>
            </a:r>
          </a:p>
        </p:txBody>
      </p:sp>
      <p:sp>
        <p:nvSpPr>
          <p:cNvPr id="6" name="Text Проверяем четыре поля по исх">
            <a:extLst xmlns:a="http://schemas.openxmlformats.org/drawingml/2006/main">
              <a:ext uri="{FF2B5EF4-FFF2-40B4-BE49-F238E27FC236}">
                <a16:creationId xmlns:a16="http://schemas.microsoft.com/office/drawing/2014/main" id="{E04F5F4B-D166-4838-BD80-D686DDEE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Проверяем четыре поля по исходному объявлению.</a:t>
            </a:r>
          </a:p>
        </p:txBody>
      </p:sp>
    </p:spTree>
    <p:extLst>
      <p:ext uri="{BB962C8B-B14F-4D97-AF65-F5344CB8AC3E}">
        <p14:creationId xmlns:p14="http://schemas.microsoft.com/office/powerpoint/2010/main" val="7824888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Gemini: вопрос к документу">
            <a:extLst xmlns:a="http://schemas.openxmlformats.org/drawingml/2006/main">
              <a:ext uri="{FF2B5EF4-FFF2-40B4-BE49-F238E27FC236}">
                <a16:creationId xmlns:a16="http://schemas.microsoft.com/office/drawing/2014/main" id="{D97E4D07-D073-4CD8-9415-FB737A1C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Gemini: вопрос к документу</a:t>
            </a:r>
          </a:p>
        </p:txBody>
      </p:sp>
      <p:sp>
        <p:nvSpPr>
          <p:cNvPr id="2" name="Text 10">
            <a:extLst xmlns:a="http://schemas.openxmlformats.org/drawingml/2006/main">
              <a:ext uri="{FF2B5EF4-FFF2-40B4-BE49-F238E27FC236}">
                <a16:creationId xmlns:a16="http://schemas.microsoft.com/office/drawing/2014/main" id="{7239949C-EE4E-478B-9ADD-0ED6AFC9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dd2aa28f047e5"/>
          <a:srcRect xmlns:a="http://schemas.openxmlformats.org/drawingml/2006/main" l="0" t="30492" r="0" b="30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524000"/>
            <a:ext cx="10763250" cy="2362200"/>
          </a:xfrm>
          <a:prstGeom xmlns:a="http://schemas.openxmlformats.org/drawingml/2006/main" prst="rect">
            <a:avLst/>
          </a:prstGeom>
        </p:spPr>
      </p:pic>
      <p:sp>
        <p:nvSpPr>
          <p:cNvPr id="4" name="Text «Изложи главное. Укажи стран">
            <a:extLst xmlns:a="http://schemas.openxmlformats.org/drawingml/2006/main">
              <a:ext uri="{FF2B5EF4-FFF2-40B4-BE49-F238E27FC236}">
                <a16:creationId xmlns:a16="http://schemas.microsoft.com/office/drawing/2014/main" id="{4C5F49C9-3C0F-4E3E-8B0E-19A963C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«Изложи главное. Укажи страницу или раздел,</a:t>
            </a:r>
          </a:p>
          <a:p xmlns:a="http://schemas.openxmlformats.org/drawingml/2006/main">
            <a:pPr>
              <a:buNone/>
              <a:defRPr sz="25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где находится ответ на мой вопрос».</a:t>
            </a:r>
          </a:p>
        </p:txBody>
      </p:sp>
      <p:sp>
        <p:nvSpPr>
          <p:cNvPr id="5" name="Text Проверка: откройте указанное">
            <a:extLst xmlns:a="http://schemas.openxmlformats.org/drawingml/2006/main">
              <a:ext uri="{FF2B5EF4-FFF2-40B4-BE49-F238E27FC236}">
                <a16:creationId xmlns:a16="http://schemas.microsoft.com/office/drawing/2014/main" id="{3E94B20F-C6CD-4821-99DD-8A561892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Проверка: откройте указанное место в документе.</a:t>
            </a:r>
          </a:p>
        </p:txBody>
      </p:sp>
    </p:spTree>
    <p:extLst>
      <p:ext uri="{BB962C8B-B14F-4D97-AF65-F5344CB8AC3E}">
        <p14:creationId xmlns:p14="http://schemas.microsoft.com/office/powerpoint/2010/main" val="1737657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Условия поездки">
            <a:extLst xmlns:a="http://schemas.openxmlformats.org/drawingml/2006/main">
              <a:ext uri="{FF2B5EF4-FFF2-40B4-BE49-F238E27FC236}">
                <a16:creationId xmlns:a16="http://schemas.microsoft.com/office/drawing/2014/main" id="{E68AB8F6-002A-4262-B973-B1BFED33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Условия поездки</a:t>
            </a:r>
          </a:p>
        </p:txBody>
      </p:sp>
      <p:sp>
        <p:nvSpPr>
          <p:cNvPr id="2" name="Text 11">
            <a:extLst xmlns:a="http://schemas.openxmlformats.org/drawingml/2006/main">
              <a:ext uri="{FF2B5EF4-FFF2-40B4-BE49-F238E27FC236}">
                <a16:creationId xmlns:a16="http://schemas.microsoft.com/office/drawing/2014/main" id="{ACD9525D-288D-4719-8229-42614C9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 Куда и когда: маршрут, даты,">
            <a:extLst xmlns:a="http://schemas.openxmlformats.org/drawingml/2006/main">
              <a:ext uri="{FF2B5EF4-FFF2-40B4-BE49-F238E27FC236}">
                <a16:creationId xmlns:a16="http://schemas.microsoft.com/office/drawing/2014/main" id="{3C1BA784-78CA-4126-9004-E6E41F57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Куда и когда: маршрут, даты, число пассажиров</a:t>
            </a:r>
          </a:p>
        </p:txBody>
      </p:sp>
      <p:sp>
        <p:nvSpPr>
          <p:cNvPr id="4" name="Text Что нужно: багаж, удобное вр">
            <a:extLst xmlns:a="http://schemas.openxmlformats.org/drawingml/2006/main">
              <a:ext uri="{FF2B5EF4-FFF2-40B4-BE49-F238E27FC236}">
                <a16:creationId xmlns:a16="http://schemas.microsoft.com/office/drawing/2014/main" id="{2D70DA43-057A-48AE-8EF3-FAD4DA89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Что нужно: багаж, удобное время, пересадки</a:t>
            </a:r>
          </a:p>
        </p:txBody>
      </p:sp>
      <p:sp>
        <p:nvSpPr>
          <p:cNvPr id="5" name="Text Ограничение: бюджет и время ">
            <a:extLst xmlns:a="http://schemas.openxmlformats.org/drawingml/2006/main">
              <a:ext uri="{FF2B5EF4-FFF2-40B4-BE49-F238E27FC236}">
                <a16:creationId xmlns:a16="http://schemas.microsoft.com/office/drawing/2014/main" id="{CC45AAEF-1208-4E8F-8E39-E77857B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Ограничение: бюджет и время прибытия</a:t>
            </a:r>
          </a:p>
        </p:txBody>
      </p:sp>
      <p:sp>
        <p:nvSpPr>
          <p:cNvPr id="6" name="Text Результат: таблица вариантов">
            <a:extLst xmlns:a="http://schemas.openxmlformats.org/drawingml/2006/main">
              <a:ext uri="{FF2B5EF4-FFF2-40B4-BE49-F238E27FC236}">
                <a16:creationId xmlns:a16="http://schemas.microsoft.com/office/drawing/2014/main" id="{16BF422B-B152-40FA-8BCB-B7596E58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Результат: таблица вариантов и вопросы для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1057673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Билет: полная стоимость">
            <a:extLst xmlns:a="http://schemas.openxmlformats.org/drawingml/2006/main">
              <a:ext uri="{FF2B5EF4-FFF2-40B4-BE49-F238E27FC236}">
                <a16:creationId xmlns:a16="http://schemas.microsoft.com/office/drawing/2014/main" id="{DDB0D598-E061-44A8-8BFF-F0E24035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Билет: полная стоимость</a:t>
            </a:r>
          </a:p>
        </p:txBody>
      </p:sp>
      <p:sp>
        <p:nvSpPr>
          <p:cNvPr id="2" name="Text 12">
            <a:extLst xmlns:a="http://schemas.openxmlformats.org/drawingml/2006/main">
              <a:ext uri="{FF2B5EF4-FFF2-40B4-BE49-F238E27FC236}">
                <a16:creationId xmlns:a16="http://schemas.microsoft.com/office/drawing/2014/main" id="{ABDDA970-FE82-4C84-9CC2-20E118F6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 Учебные цены. Нужен багаж и ">
            <a:extLst xmlns:a="http://schemas.openxmlformats.org/drawingml/2006/main">
              <a:ext uri="{FF2B5EF4-FFF2-40B4-BE49-F238E27FC236}">
                <a16:creationId xmlns:a16="http://schemas.microsoft.com/office/drawing/2014/main" id="{4A79404E-BFF1-4906-9896-490ADD6A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Учебные цены. Нужен багаж и прибытие до 20:00.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04850" y="2524125"/>
          <a:ext xmlns:a="http://schemas.openxmlformats.org/drawingml/2006/main" cx="1076325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2381250"/>
                <a:gridCol w="4191000"/>
              </a:tblGrid>
              <a:tr h="7588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Вариант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Билет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Багаж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Итого / прибытие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25 000 ₸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7 000 ₸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32 000 ₸ / 23:30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30 000 ₸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Включён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30 000 ₸ / 18:00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5" name="Text Подходит Б: дешевле с багажо">
            <a:extLst xmlns:a="http://schemas.openxmlformats.org/drawingml/2006/main">
              <a:ext uri="{FF2B5EF4-FFF2-40B4-BE49-F238E27FC236}">
                <a16:creationId xmlns:a16="http://schemas.microsoft.com/office/drawing/2014/main" id="{6D027517-FCD9-458D-8C36-D4D7E00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Подходит Б: дешевле с багажом и вовремя.</a:t>
            </a:r>
          </a:p>
        </p:txBody>
      </p:sp>
    </p:spTree>
    <p:extLst>
      <p:ext uri="{BB962C8B-B14F-4D97-AF65-F5344CB8AC3E}">
        <p14:creationId xmlns:p14="http://schemas.microsoft.com/office/powerpoint/2010/main" val="5728386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Поиск и проверка источников">
            <a:extLst xmlns:a="http://schemas.openxmlformats.org/drawingml/2006/main">
              <a:ext uri="{FF2B5EF4-FFF2-40B4-BE49-F238E27FC236}">
                <a16:creationId xmlns:a16="http://schemas.microsoft.com/office/drawing/2014/main" id="{54249378-A38B-4F07-A9E8-1EF8070A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Поиск и проверка источников</a:t>
            </a:r>
          </a:p>
        </p:txBody>
      </p:sp>
      <p:sp>
        <p:nvSpPr>
          <p:cNvPr id="2" name="Text 13">
            <a:extLst xmlns:a="http://schemas.openxmlformats.org/drawingml/2006/main">
              <a:ext uri="{FF2B5EF4-FFF2-40B4-BE49-F238E27FC236}">
                <a16:creationId xmlns:a16="http://schemas.microsoft.com/office/drawing/2014/main" id="{179792E3-C6CC-4CF8-BAD9-FC727600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ext Perplexity">
            <a:extLst xmlns:a="http://schemas.openxmlformats.org/drawingml/2006/main">
              <a:ext uri="{FF2B5EF4-FFF2-40B4-BE49-F238E27FC236}">
                <a16:creationId xmlns:a16="http://schemas.microsoft.com/office/drawing/2014/main" id="{D5BC115A-75ED-477A-AE79-1F4C49A0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Perplexity</a:t>
            </a:r>
          </a:p>
        </p:txBody>
      </p:sp>
      <p:sp>
        <p:nvSpPr>
          <p:cNvPr id="4" name="Text Ответ со ссылками&#10;на исходны">
            <a:extLst xmlns:a="http://schemas.openxmlformats.org/drawingml/2006/main">
              <a:ext uri="{FF2B5EF4-FFF2-40B4-BE49-F238E27FC236}">
                <a16:creationId xmlns:a16="http://schemas.microsoft.com/office/drawing/2014/main" id="{BE969687-5E91-40A4-AC9C-78856330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Ответ со ссылками</a:t>
            </a:r>
          </a:p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на исходные материалы</a:t>
            </a:r>
          </a:p>
        </p:txBody>
      </p:sp>
      <p:sp>
        <p:nvSpPr>
          <p:cNvPr id="5" name="Text Grok">
            <a:extLst xmlns:a="http://schemas.openxmlformats.org/drawingml/2006/main">
              <a:ext uri="{FF2B5EF4-FFF2-40B4-BE49-F238E27FC236}">
                <a16:creationId xmlns:a16="http://schemas.microsoft.com/office/drawing/2014/main" id="{DF0FA113-EF91-42C0-827C-7DFEEDA2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Grok</a:t>
            </a:r>
          </a:p>
        </p:txBody>
      </p:sp>
      <p:sp>
        <p:nvSpPr>
          <p:cNvPr id="6" name="Text Поиск по вебу&#10;и публичным со">
            <a:extLst xmlns:a="http://schemas.openxmlformats.org/drawingml/2006/main">
              <a:ext uri="{FF2B5EF4-FFF2-40B4-BE49-F238E27FC236}">
                <a16:creationId xmlns:a16="http://schemas.microsoft.com/office/drawing/2014/main" id="{82B9863E-F15F-4125-9A30-4D883C9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Поиск по вебу</a:t>
            </a:r>
          </a:p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и публичным сообщениям X</a:t>
            </a:r>
          </a:p>
        </p:txBody>
      </p:sp>
      <p:sp>
        <p:nvSpPr>
          <p:cNvPr id="7" name="Text «Укажи источник и дату. Отме">
            <a:extLst xmlns:a="http://schemas.openxmlformats.org/drawingml/2006/main">
              <a:ext uri="{FF2B5EF4-FFF2-40B4-BE49-F238E27FC236}">
                <a16:creationId xmlns:a16="http://schemas.microsoft.com/office/drawing/2014/main" id="{5BF22E70-2CAA-43D9-8804-98222537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«Укажи источник и дату. Отметь, что не подтверждено».</a:t>
            </a:r>
          </a:p>
        </p:txBody>
      </p:sp>
      <p:sp>
        <p:nvSpPr>
          <p:cNvPr id="8" name="Text Важный факт проверяем на офи">
            <a:extLst xmlns:a="http://schemas.openxmlformats.org/drawingml/2006/main">
              <a:ext uri="{FF2B5EF4-FFF2-40B4-BE49-F238E27FC236}">
                <a16:creationId xmlns:a16="http://schemas.microsoft.com/office/drawing/2014/main" id="{C58FB0F8-90DB-4EBE-9306-74EBE240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Важный факт проверяем на официальном сайте.</a:t>
            </a:r>
          </a:p>
        </p:txBody>
      </p:sp>
    </p:spTree>
    <p:extLst>
      <p:ext uri="{BB962C8B-B14F-4D97-AF65-F5344CB8AC3E}">
        <p14:creationId xmlns:p14="http://schemas.microsoft.com/office/powerpoint/2010/main" val="8130870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Perplexity: ручная кладь">
            <a:extLst xmlns:a="http://schemas.openxmlformats.org/drawingml/2006/main">
              <a:ext uri="{FF2B5EF4-FFF2-40B4-BE49-F238E27FC236}">
                <a16:creationId xmlns:a16="http://schemas.microsoft.com/office/drawing/2014/main" id="{03CF1CC9-993D-4040-926E-6F942A0D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Perplexity: ручная кладь</a:t>
            </a:r>
          </a:p>
        </p:txBody>
      </p:sp>
      <p:sp>
        <p:nvSpPr>
          <p:cNvPr id="2" name="Extra page 14">
            <a:extLst xmlns:a="http://schemas.openxmlformats.org/drawingml/2006/main">
              <a:ext uri="{FF2B5EF4-FFF2-40B4-BE49-F238E27FC236}">
                <a16:creationId xmlns:a16="http://schemas.microsoft.com/office/drawing/2014/main" id="{78F4EC6E-6E72-467D-B4E3-DE6BCEB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 Нужно понять, какую сумку вз">
            <a:extLst xmlns:a="http://schemas.openxmlformats.org/drawingml/2006/main">
              <a:ext uri="{FF2B5EF4-FFF2-40B4-BE49-F238E27FC236}">
                <a16:creationId xmlns:a16="http://schemas.microsoft.com/office/drawing/2014/main" id="{AE26660C-F20F-4F41-98D5-ACD203A0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Нужно понять, какую сумку взять в поездку.</a:t>
            </a:r>
          </a:p>
        </p:txBody>
      </p:sp>
      <p:sp>
        <p:nvSpPr>
          <p:cNvPr id="4" name="Text «Сравни бесплатную ручную кл">
            <a:extLst xmlns:a="http://schemas.openxmlformats.org/drawingml/2006/main">
              <a:ext uri="{FF2B5EF4-FFF2-40B4-BE49-F238E27FC236}">
                <a16:creationId xmlns:a16="http://schemas.microsoft.com/office/drawing/2014/main" id="{B20E83E7-8475-4AD6-A10E-FBEF0BD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06680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«Сравни бесплатную ручную кладь Air Astana (эконом) и FlyArystan на 15.09.2026. Таблица: вес, размеры, число мест. Только официальные сайты. Дай ссылки и дату изменения правил».</a:t>
            </a:r>
          </a:p>
        </p:txBody>
      </p:sp>
      <p:sp>
        <p:nvSpPr>
          <p:cNvPr id="5" name="Text perplexity.ai  ·  новый запр">
            <a:extLst xmlns:a="http://schemas.openxmlformats.org/drawingml/2006/main">
              <a:ext uri="{FF2B5EF4-FFF2-40B4-BE49-F238E27FC236}">
                <a16:creationId xmlns:a16="http://schemas.microsoft.com/office/drawing/2014/main" id="{63F80052-FE10-4BF6-96DA-5FBDFD0E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perplexity.ai  ·  новый запрос  ·  ответ со ссылками</a:t>
            </a:r>
          </a:p>
        </p:txBody>
      </p:sp>
    </p:spTree>
    <p:extLst>
      <p:ext uri="{BB962C8B-B14F-4D97-AF65-F5344CB8AC3E}">
        <p14:creationId xmlns:p14="http://schemas.microsoft.com/office/powerpoint/2010/main" val="1226262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Perplexity: реальный ответ">
            <a:extLst xmlns:a="http://schemas.openxmlformats.org/drawingml/2006/main">
              <a:ext uri="{FF2B5EF4-FFF2-40B4-BE49-F238E27FC236}">
                <a16:creationId xmlns:a16="http://schemas.microsoft.com/office/drawing/2014/main" id="{C067F347-A92A-444E-818C-90271493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Perplexity: реальный ответ</a:t>
            </a:r>
          </a:p>
        </p:txBody>
      </p:sp>
      <p:sp>
        <p:nvSpPr>
          <p:cNvPr id="2" name="Extra page 15">
            <a:extLst xmlns:a="http://schemas.openxmlformats.org/drawingml/2006/main">
              <a:ext uri="{FF2B5EF4-FFF2-40B4-BE49-F238E27FC236}">
                <a16:creationId xmlns:a16="http://schemas.microsoft.com/office/drawing/2014/main" id="{370E3A7B-2C50-43A9-9DB8-56EFE472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 Сверху вниз: вес, размеры, ч">
            <a:extLst xmlns:a="http://schemas.openxmlformats.org/drawingml/2006/main">
              <a:ext uri="{FF2B5EF4-FFF2-40B4-BE49-F238E27FC236}">
                <a16:creationId xmlns:a16="http://schemas.microsoft.com/office/drawing/2014/main" id="{00EA28A1-7BC6-42B4-A9BE-4F75AC33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Сверху вниз: вес, размеры, число мест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c09252c8e4f98"/>
          <a:stretch xmlns:a="http://schemas.openxmlformats.org/drawingml/2006/main"/>
        </p:blipFill>
        <p:spPr>
          <a:xfrm xmlns:a="http://schemas.openxmlformats.org/drawingml/2006/main">
            <a:off x="1948462" y="2333625"/>
            <a:ext cx="8276026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Text Фрагмент ответа на русском. ">
            <a:extLst xmlns:a="http://schemas.openxmlformats.org/drawingml/2006/main">
              <a:ext uri="{FF2B5EF4-FFF2-40B4-BE49-F238E27FC236}">
                <a16:creationId xmlns:a16="http://schemas.microsoft.com/office/drawing/2014/main" id="{047C32EC-6EB4-40D4-A749-1AF7E5F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Фрагмент ответа на русском. Следующий шаг: открыть источник.</a:t>
            </a:r>
          </a:p>
        </p:txBody>
      </p:sp>
    </p:spTree>
    <p:extLst>
      <p:ext uri="{BB962C8B-B14F-4D97-AF65-F5344CB8AC3E}">
        <p14:creationId xmlns:p14="http://schemas.microsoft.com/office/powerpoint/2010/main" val="10060959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Проверка даты обнаружила про">
            <a:extLst xmlns:a="http://schemas.openxmlformats.org/drawingml/2006/main">
              <a:ext uri="{FF2B5EF4-FFF2-40B4-BE49-F238E27FC236}">
                <a16:creationId xmlns:a16="http://schemas.microsoft.com/office/drawing/2014/main" id="{BF1B4AA8-0E40-4D7A-AB65-20AB1E40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Проверка даты обнаружила пропуск</a:t>
            </a:r>
          </a:p>
        </p:txBody>
      </p:sp>
      <p:sp>
        <p:nvSpPr>
          <p:cNvPr id="2" name="Extra page 16">
            <a:extLst xmlns:a="http://schemas.openxmlformats.org/drawingml/2006/main">
              <a:ext uri="{FF2B5EF4-FFF2-40B4-BE49-F238E27FC236}">
                <a16:creationId xmlns:a16="http://schemas.microsoft.com/office/drawing/2014/main" id="{CFC62A56-39DC-4F01-A8FC-6BEDA3FA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1076325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667375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проверили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Официальное подтверждение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Бесплатная ручная кладь FlyArystan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7 кг, 1 место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Когда изменилось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 01.03.2026: было 5 кг, стало 7 кг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4" name="Text Числа верны. История изменен">
            <a:extLst xmlns:a="http://schemas.openxmlformats.org/drawingml/2006/main">
              <a:ext uri="{FF2B5EF4-FFF2-40B4-BE49-F238E27FC236}">
                <a16:creationId xmlns:a16="http://schemas.microsoft.com/office/drawing/2014/main" id="{FB4692F1-CFB7-407E-AA0B-75B1812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Числа верны. История изменения правила пропущена.</a:t>
            </a:r>
          </a:p>
        </p:txBody>
      </p:sp>
      <p:sp>
        <p:nvSpPr>
          <p:cNvPr id="5" name="Text Уточнение: «Учти эту официал">
            <a:extLst xmlns:a="http://schemas.openxmlformats.org/drawingml/2006/main">
              <a:ext uri="{FF2B5EF4-FFF2-40B4-BE49-F238E27FC236}">
                <a16:creationId xmlns:a16="http://schemas.microsoft.com/office/drawing/2014/main" id="{F63545B2-0149-43D5-BC37-E56B5F5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Уточнение: «Учти эту официальную новость и исправь ответ».</a:t>
            </a:r>
          </a:p>
        </p:txBody>
      </p:sp>
    </p:spTree>
    <p:extLst>
      <p:ext uri="{BB962C8B-B14F-4D97-AF65-F5344CB8AC3E}">
        <p14:creationId xmlns:p14="http://schemas.microsoft.com/office/powerpoint/2010/main" val="3093894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Perplexity: сравнение перед ">
            <a:extLst xmlns:a="http://schemas.openxmlformats.org/drawingml/2006/main">
              <a:ext uri="{FF2B5EF4-FFF2-40B4-BE49-F238E27FC236}">
                <a16:creationId xmlns:a16="http://schemas.microsoft.com/office/drawing/2014/main" id="{0BBE774C-A6B1-490E-A452-DA623479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Perplexity: сравнение перед покупкой</a:t>
            </a:r>
          </a:p>
        </p:txBody>
      </p:sp>
      <p:sp>
        <p:nvSpPr>
          <p:cNvPr id="2" name="Extra page 17">
            <a:extLst xmlns:a="http://schemas.openxmlformats.org/drawingml/2006/main">
              <a:ext uri="{FF2B5EF4-FFF2-40B4-BE49-F238E27FC236}">
                <a16:creationId xmlns:a16="http://schemas.microsoft.com/office/drawing/2014/main" id="{E0770ED3-EC57-4773-8049-2EC8AC4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 Выберите две модели: чайник,">
            <a:extLst xmlns:a="http://schemas.openxmlformats.org/drawingml/2006/main">
              <a:ext uri="{FF2B5EF4-FFF2-40B4-BE49-F238E27FC236}">
                <a16:creationId xmlns:a16="http://schemas.microsoft.com/office/drawing/2014/main" id="{D0E14593-4BF0-443D-90EC-5D483DCE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Выберите две модели: чайник, пылесос или принтер.</a:t>
            </a:r>
          </a:p>
        </p:txBody>
      </p:sp>
      <p:sp>
        <p:nvSpPr>
          <p:cNvPr id="4" name="Text «Сравни эти две модели: [ссы">
            <a:extLst xmlns:a="http://schemas.openxmlformats.org/drawingml/2006/main">
              <a:ext uri="{FF2B5EF4-FFF2-40B4-BE49-F238E27FC236}">
                <a16:creationId xmlns:a16="http://schemas.microsoft.com/office/drawing/2014/main" id="{5F553641-18FC-432E-AB61-B787B946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«Сравни эти две модели: [ссылки]. Проверь характеристики на сайтах производителей. Для моих условий [условия] покажи различия, расходники и ограничения. Цены укажи с датой и продавцом, если они доступны».</a:t>
            </a:r>
          </a:p>
        </p:txBody>
      </p:sp>
      <p:sp>
        <p:nvSpPr>
          <p:cNvPr id="5" name="Text Проверка: точная модель, ком">
            <a:extLst xmlns:a="http://schemas.openxmlformats.org/drawingml/2006/main">
              <a:ext uri="{FF2B5EF4-FFF2-40B4-BE49-F238E27FC236}">
                <a16:creationId xmlns:a16="http://schemas.microsoft.com/office/drawing/2014/main" id="{506A4F14-D2E8-412E-81A0-0EFDB0BD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054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Проверка: точная модель, комплектация, дата и ссылка.</a:t>
            </a:r>
          </a:p>
        </p:txBody>
      </p:sp>
    </p:spTree>
    <p:extLst>
      <p:ext uri="{BB962C8B-B14F-4D97-AF65-F5344CB8AC3E}">
        <p14:creationId xmlns:p14="http://schemas.microsoft.com/office/powerpoint/2010/main" val="5806502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Grok: разговор о приоритетах">
            <a:extLst xmlns:a="http://schemas.openxmlformats.org/drawingml/2006/main">
              <a:ext uri="{FF2B5EF4-FFF2-40B4-BE49-F238E27FC236}">
                <a16:creationId xmlns:a16="http://schemas.microsoft.com/office/drawing/2014/main" id="{96F58FD1-3D2F-430D-BE9D-320EA046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Grok: разговор о приоритетах</a:t>
            </a:r>
          </a:p>
        </p:txBody>
      </p:sp>
      <p:sp>
        <p:nvSpPr>
          <p:cNvPr id="2" name="Extra page 18">
            <a:extLst xmlns:a="http://schemas.openxmlformats.org/drawingml/2006/main">
              <a:ext uri="{FF2B5EF4-FFF2-40B4-BE49-F238E27FC236}">
                <a16:creationId xmlns:a16="http://schemas.microsoft.com/office/drawing/2014/main" id="{10643A74-41B3-4119-AB6F-38CF7C78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 Работы на 12 часов. В рабоче">
            <a:extLst xmlns:a="http://schemas.openxmlformats.org/drawingml/2006/main">
              <a:ext uri="{FF2B5EF4-FFF2-40B4-BE49-F238E27FC236}">
                <a16:creationId xmlns:a16="http://schemas.microsoft.com/office/drawing/2014/main" id="{CBB32553-B0E5-4566-A14A-312DD9C1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Работы на 12 часов. В рабочем дне 8 часов.</a:t>
            </a:r>
          </a:p>
        </p:txBody>
      </p:sp>
      <p:sp>
        <p:nvSpPr>
          <p:cNvPr id="4" name="Text «Ты руководитель, я сотрудни">
            <a:extLst xmlns:a="http://schemas.openxmlformats.org/drawingml/2006/main">
              <a:ext uri="{FF2B5EF4-FFF2-40B4-BE49-F238E27FC236}">
                <a16:creationId xmlns:a16="http://schemas.microsoft.com/office/drawing/2014/main" id="{04D70BB6-4887-4428-84B0-291C59B8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668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«Ты руководитель, я сотрудник. Отчёт займёт 5 часов, сверка заявок 4, письма 3. Всё нужно сегодня. Помоги обсудить приоритеты спокойно. Задавай по одному вопросу и жди моего ответа».</a:t>
            </a:r>
          </a:p>
        </p:txBody>
      </p:sp>
      <p:sp>
        <p:nvSpPr>
          <p:cNvPr id="5" name="Text grok.com  ·  новый чат  ·  о">
            <a:extLst xmlns:a="http://schemas.openxmlformats.org/drawingml/2006/main">
              <a:ext uri="{FF2B5EF4-FFF2-40B4-BE49-F238E27FC236}">
                <a16:creationId xmlns:a16="http://schemas.microsoft.com/office/drawing/2014/main" id="{A7A2FD2B-24C3-42E5-A021-7CAD3929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grok.com  ·  новый чат  ·  отвечаем по очереди</a:t>
            </a:r>
          </a:p>
        </p:txBody>
      </p:sp>
    </p:spTree>
    <p:extLst>
      <p:ext uri="{BB962C8B-B14F-4D97-AF65-F5344CB8AC3E}">
        <p14:creationId xmlns:p14="http://schemas.microsoft.com/office/powerpoint/2010/main" val="20941925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Репетиция короткого разговор">
            <a:extLst xmlns:a="http://schemas.openxmlformats.org/drawingml/2006/main">
              <a:ext uri="{FF2B5EF4-FFF2-40B4-BE49-F238E27FC236}">
                <a16:creationId xmlns:a16="http://schemas.microsoft.com/office/drawing/2014/main" id="{2693ACE5-2DEB-423C-9E51-DA3D5B0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Репетиция короткого разговора</a:t>
            </a:r>
          </a:p>
        </p:txBody>
      </p:sp>
      <p:sp>
        <p:nvSpPr>
          <p:cNvPr id="2" name="Extra page 19">
            <a:extLst xmlns:a="http://schemas.openxmlformats.org/drawingml/2006/main">
              <a:ext uri="{FF2B5EF4-FFF2-40B4-BE49-F238E27FC236}">
                <a16:creationId xmlns:a16="http://schemas.microsoft.com/office/drawing/2014/main" id="{D50AFA82-EB67-4D14-AB79-7148E402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ext Учебный диалог">
            <a:extLst xmlns:a="http://schemas.openxmlformats.org/drawingml/2006/main">
              <a:ext uri="{FF2B5EF4-FFF2-40B4-BE49-F238E27FC236}">
                <a16:creationId xmlns:a16="http://schemas.microsoft.com/office/drawing/2014/main" id="{507EE6CA-C599-4B45-B09D-3F0A655A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Учебный диалог</a:t>
            </a:r>
          </a:p>
        </p:txBody>
      </p:sp>
      <p:sp>
        <p:nvSpPr>
          <p:cNvPr id="4" name="Text Руководитель: «Почему не усп">
            <a:extLst xmlns:a="http://schemas.openxmlformats.org/drawingml/2006/main">
              <a:ext uri="{FF2B5EF4-FFF2-40B4-BE49-F238E27FC236}">
                <a16:creationId xmlns:a16="http://schemas.microsoft.com/office/drawing/2014/main" id="{C1F5271C-674A-4439-A1C9-D3867F65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Руководитель: «Почему не успеваем всё сегодня?»</a:t>
            </a:r>
          </a:p>
        </p:txBody>
      </p:sp>
      <p:sp>
        <p:nvSpPr>
          <p:cNvPr id="5" name="Text Сотрудник: «Задачи требуют 1">
            <a:extLst xmlns:a="http://schemas.openxmlformats.org/drawingml/2006/main">
              <a:ext uri="{FF2B5EF4-FFF2-40B4-BE49-F238E27FC236}">
                <a16:creationId xmlns:a16="http://schemas.microsoft.com/office/drawing/2014/main" id="{A859AF59-7B60-45D5-9248-8AB1F5E8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106680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Сотрудник: «Задачи требуют 12 часов, доступно 8. Что важнее завершить сегодня? Остальное предлагаю перенести или передать».</a:t>
            </a:r>
          </a:p>
        </p:txBody>
      </p:sp>
      <p:sp>
        <p:nvSpPr>
          <p:cNvPr id="6" name="Text Уточнение Grok: «Оцени мой о">
            <a:extLst xmlns:a="http://schemas.openxmlformats.org/drawingml/2006/main">
              <a:ext uri="{FF2B5EF4-FFF2-40B4-BE49-F238E27FC236}">
                <a16:creationId xmlns:a16="http://schemas.microsoft.com/office/drawing/2014/main" id="{13A18581-DBDD-4EFD-ADFA-1EC4C1DA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Уточнение Grok: «Оцени мой ответ и предложи более короткую фразу».</a:t>
            </a:r>
          </a:p>
        </p:txBody>
      </p:sp>
    </p:spTree>
    <p:extLst>
      <p:ext uri="{BB962C8B-B14F-4D97-AF65-F5344CB8AC3E}">
        <p14:creationId xmlns:p14="http://schemas.microsoft.com/office/powerpoint/2010/main" val="1041038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Как проверить свой ответ">
            <a:extLst xmlns:a="http://schemas.openxmlformats.org/drawingml/2006/main">
              <a:ext uri="{FF2B5EF4-FFF2-40B4-BE49-F238E27FC236}">
                <a16:creationId xmlns:a16="http://schemas.microsoft.com/office/drawing/2014/main" id="{E5CBF408-D9FD-42FF-B282-F72AD4BB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Как проверить свой ответ</a:t>
            </a:r>
          </a:p>
        </p:txBody>
      </p:sp>
      <p:sp>
        <p:nvSpPr>
          <p:cNvPr id="2" name="Extra page 20">
            <a:extLst xmlns:a="http://schemas.openxmlformats.org/drawingml/2006/main">
              <a:ext uri="{FF2B5EF4-FFF2-40B4-BE49-F238E27FC236}">
                <a16:creationId xmlns:a16="http://schemas.microsoft.com/office/drawing/2014/main" id="{39D52C58-E0E3-4423-A058-D61FC6B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Text 5 + 4 + 3 = 12 часов. Не хва">
            <a:extLst xmlns:a="http://schemas.openxmlformats.org/drawingml/2006/main">
              <a:ext uri="{FF2B5EF4-FFF2-40B4-BE49-F238E27FC236}">
                <a16:creationId xmlns:a16="http://schemas.microsoft.com/office/drawing/2014/main" id="{E18D27F6-9DBE-40A5-9670-437E45F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5 + 4 + 3 = 12 часов. Не хватает 4 часов.</a:t>
            </a:r>
          </a:p>
        </p:txBody>
      </p:sp>
      <p:sp>
        <p:nvSpPr>
          <p:cNvPr id="4" name="Text Есть факты и конкретная оцен">
            <a:extLst xmlns:a="http://schemas.openxmlformats.org/drawingml/2006/main">
              <a:ext uri="{FF2B5EF4-FFF2-40B4-BE49-F238E27FC236}">
                <a16:creationId xmlns:a16="http://schemas.microsoft.com/office/drawing/2014/main" id="{6A47B5EE-C59C-4153-BBD3-F3C5969B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Есть факты и конкретная оценка времени.</a:t>
            </a:r>
          </a:p>
        </p:txBody>
      </p:sp>
      <p:sp>
        <p:nvSpPr>
          <p:cNvPr id="5" name="Text Есть вопрос о приоритетах и ">
            <a:extLst xmlns:a="http://schemas.openxmlformats.org/drawingml/2006/main">
              <a:ext uri="{FF2B5EF4-FFF2-40B4-BE49-F238E27FC236}">
                <a16:creationId xmlns:a16="http://schemas.microsoft.com/office/drawing/2014/main" id="{0B4CBE70-AB52-4C71-90CD-0AEFF8AF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Есть вопрос о приоритетах и выполнимый вариант.</a:t>
            </a:r>
          </a:p>
        </p:txBody>
      </p:sp>
      <p:sp>
        <p:nvSpPr>
          <p:cNvPr id="6" name="Text Нет обвинений и обещания сде">
            <a:extLst xmlns:a="http://schemas.openxmlformats.org/drawingml/2006/main">
              <a:ext uri="{FF2B5EF4-FFF2-40B4-BE49-F238E27FC236}">
                <a16:creationId xmlns:a16="http://schemas.microsoft.com/office/drawing/2014/main" id="{DFE8B13D-A29B-4B90-8C37-8A9D3DC8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Нет обвинений и обещания сделать невозможное.</a:t>
            </a:r>
          </a:p>
        </p:txBody>
      </p:sp>
    </p:spTree>
    <p:extLst>
      <p:ext uri="{BB962C8B-B14F-4D97-AF65-F5344CB8AC3E}">
        <p14:creationId xmlns:p14="http://schemas.microsoft.com/office/powerpoint/2010/main" val="8206204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Grok: план дня без перегруза">
            <a:extLst xmlns:a="http://schemas.openxmlformats.org/drawingml/2006/main">
              <a:ext uri="{FF2B5EF4-FFF2-40B4-BE49-F238E27FC236}">
                <a16:creationId xmlns:a16="http://schemas.microsoft.com/office/drawing/2014/main" id="{B139D9E2-EC7C-47A3-9915-95D7250D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Grok: план дня без перегруза</a:t>
            </a:r>
          </a:p>
        </p:txBody>
      </p:sp>
      <p:sp>
        <p:nvSpPr>
          <p:cNvPr id="2" name="Extra page 21">
            <a:extLst xmlns:a="http://schemas.openxmlformats.org/drawingml/2006/main">
              <a:ext uri="{FF2B5EF4-FFF2-40B4-BE49-F238E27FC236}">
                <a16:creationId xmlns:a16="http://schemas.microsoft.com/office/drawing/2014/main" id="{FCAC3B62-C714-4393-BACF-B3C2E72C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Text «С 10:00 до 16:00 нужно купи">
            <a:extLst xmlns:a="http://schemas.openxmlformats.org/drawingml/2006/main">
              <a:ext uri="{FF2B5EF4-FFF2-40B4-BE49-F238E27FC236}">
                <a16:creationId xmlns:a16="http://schemas.microsoft.com/office/drawing/2014/main" id="{CCA3A64A-601E-418D-9235-114F20DF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«С 10:00 до 16:00 нужно купить продукты, зайти в сервисный центр и навестить родителей. Оставь время на обед и запас 30 минут. Сначала спроси про дорогу и длительность дел. Затем составь реалистичный план».</a:t>
            </a:r>
          </a:p>
        </p:txBody>
      </p:sp>
      <p:sp>
        <p:nvSpPr>
          <p:cNvPr id="4" name="Text Второй ход: «Я задержался на">
            <a:extLst xmlns:a="http://schemas.openxmlformats.org/drawingml/2006/main">
              <a:ext uri="{FF2B5EF4-FFF2-40B4-BE49-F238E27FC236}">
                <a16:creationId xmlns:a16="http://schemas.microsoft.com/office/drawing/2014/main" id="{74ED6DE2-E14A-4EE1-A4C5-866C5BBD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Второй ход: «Я задержался на 40 минут. Что перенести?»</a:t>
            </a:r>
          </a:p>
        </p:txBody>
      </p:sp>
      <p:sp>
        <p:nvSpPr>
          <p:cNvPr id="5" name="Text Проверка: нет пересечений, у">
            <a:extLst xmlns:a="http://schemas.openxmlformats.org/drawingml/2006/main">
              <a:ext uri="{FF2B5EF4-FFF2-40B4-BE49-F238E27FC236}">
                <a16:creationId xmlns:a16="http://schemas.microsoft.com/office/drawing/2014/main" id="{3C927BC3-848A-4482-8318-381A33B0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Проверка: нет пересечений, учтены дорога и запас.</a:t>
            </a:r>
          </a:p>
        </p:txBody>
      </p:sp>
    </p:spTree>
    <p:extLst>
      <p:ext uri="{BB962C8B-B14F-4D97-AF65-F5344CB8AC3E}">
        <p14:creationId xmlns:p14="http://schemas.microsoft.com/office/powerpoint/2010/main" val="8032444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Выбор вуза для ребёнка">
            <a:extLst xmlns:a="http://schemas.openxmlformats.org/drawingml/2006/main">
              <a:ext uri="{FF2B5EF4-FFF2-40B4-BE49-F238E27FC236}">
                <a16:creationId xmlns:a16="http://schemas.microsoft.com/office/drawing/2014/main" id="{0D87FF6D-E591-46BA-BC46-29907D82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Выбор вуза для ребёнка</a:t>
            </a:r>
          </a:p>
        </p:txBody>
      </p:sp>
      <p:sp>
        <p:nvSpPr>
          <p:cNvPr id="2" name="Text 14">
            <a:extLst xmlns:a="http://schemas.openxmlformats.org/drawingml/2006/main">
              <a:ext uri="{FF2B5EF4-FFF2-40B4-BE49-F238E27FC236}">
                <a16:creationId xmlns:a16="http://schemas.microsoft.com/office/drawing/2014/main" id="{6F216F56-01E3-4A0E-8F4A-18FEAC57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Text Сравниваем по своим условиям">
            <a:extLst xmlns:a="http://schemas.openxmlformats.org/drawingml/2006/main">
              <a:ext uri="{FF2B5EF4-FFF2-40B4-BE49-F238E27FC236}">
                <a16:creationId xmlns:a16="http://schemas.microsoft.com/office/drawing/2014/main" id="{F3BADFF8-8C56-4449-9353-F1A3F31C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Сравниваем по своим условиям</a:t>
            </a:r>
          </a:p>
        </p:txBody>
      </p:sp>
      <p:sp>
        <p:nvSpPr>
          <p:cNvPr id="4" name="Text Направление, город и язык об">
            <a:extLst xmlns:a="http://schemas.openxmlformats.org/drawingml/2006/main">
              <a:ext uri="{FF2B5EF4-FFF2-40B4-BE49-F238E27FC236}">
                <a16:creationId xmlns:a16="http://schemas.microsoft.com/office/drawing/2014/main" id="{B269B990-4F66-43FF-97CE-BF7E1E6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Направление, город и язык обучения</a:t>
            </a:r>
          </a:p>
        </p:txBody>
      </p:sp>
      <p:sp>
        <p:nvSpPr>
          <p:cNvPr id="5" name="Text Стоимость и общежитие">
            <a:extLst xmlns:a="http://schemas.openxmlformats.org/drawingml/2006/main">
              <a:ext uri="{FF2B5EF4-FFF2-40B4-BE49-F238E27FC236}">
                <a16:creationId xmlns:a16="http://schemas.microsoft.com/office/drawing/2014/main" id="{30B2F040-1858-4B28-B4E4-27E2A1A2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Стоимость и общежитие</a:t>
            </a:r>
          </a:p>
        </p:txBody>
      </p:sp>
      <p:sp>
        <p:nvSpPr>
          <p:cNvPr id="6" name="Text Условия поступления на нужны">
            <a:extLst xmlns:a="http://schemas.openxmlformats.org/drawingml/2006/main">
              <a:ext uri="{FF2B5EF4-FFF2-40B4-BE49-F238E27FC236}">
                <a16:creationId xmlns:a16="http://schemas.microsoft.com/office/drawing/2014/main" id="{40E7BFFC-4DFD-4EA0-BE98-BC6CA2B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Условия поступления на нужный год</a:t>
            </a:r>
          </a:p>
        </p:txBody>
      </p:sp>
      <p:sp>
        <p:nvSpPr>
          <p:cNvPr id="7" name="Text Итог: таблица и вопросы приё">
            <a:extLst xmlns:a="http://schemas.openxmlformats.org/drawingml/2006/main">
              <a:ext uri="{FF2B5EF4-FFF2-40B4-BE49-F238E27FC236}">
                <a16:creationId xmlns:a16="http://schemas.microsoft.com/office/drawing/2014/main" id="{7F09A7FD-01F5-461F-9C3D-4F20DB2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62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Итог: таблица и вопросы приёмной комиссии.</a:t>
            </a:r>
          </a:p>
          <a:p xmlns:a="http://schemas.openxmlformats.org/drawingml/2006/main">
            <a:pPr>
              <a:buNone/>
              <a:defRPr sz="21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Каждое актуальное условие проверяем на сайте вуза.</a:t>
            </a:r>
          </a:p>
        </p:txBody>
      </p:sp>
    </p:spTree>
    <p:extLst>
      <p:ext uri="{BB962C8B-B14F-4D97-AF65-F5344CB8AC3E}">
        <p14:creationId xmlns:p14="http://schemas.microsoft.com/office/powerpoint/2010/main" val="11290889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Изображение для приглашения">
            <a:extLst xmlns:a="http://schemas.openxmlformats.org/drawingml/2006/main">
              <a:ext uri="{FF2B5EF4-FFF2-40B4-BE49-F238E27FC236}">
                <a16:creationId xmlns:a16="http://schemas.microsoft.com/office/drawing/2014/main" id="{1BDA7017-2388-49C9-859D-96B24D35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Изображение для приглашения</a:t>
            </a:r>
          </a:p>
        </p:txBody>
      </p:sp>
      <p:sp>
        <p:nvSpPr>
          <p:cNvPr id="2" name="Text 15">
            <a:extLst xmlns:a="http://schemas.openxmlformats.org/drawingml/2006/main">
              <a:ext uri="{FF2B5EF4-FFF2-40B4-BE49-F238E27FC236}">
                <a16:creationId xmlns:a16="http://schemas.microsoft.com/office/drawing/2014/main" id="{818AEF14-5E99-4143-8911-38412E33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20f432d0439e"/>
          <a:stretch xmlns:a="http://schemas.openxmlformats.org/drawingml/2006/main"/>
        </p:blipFill>
        <p:spPr>
          <a:xfrm xmlns:a="http://schemas.openxmlformats.org/drawingml/2006/main">
            <a:off x="717550" y="1524000"/>
            <a:ext cx="5880100" cy="4410075"/>
          </a:xfrm>
          <a:prstGeom xmlns:a="http://schemas.openxmlformats.org/drawingml/2006/main" prst="rect">
            <a:avLst/>
          </a:prstGeom>
        </p:spPr>
      </p:pic>
      <p:sp>
        <p:nvSpPr>
          <p:cNvPr id="4" name="Text «Приглашение на семейный ужи">
            <a:extLst xmlns:a="http://schemas.openxmlformats.org/drawingml/2006/main">
              <a:ext uri="{FF2B5EF4-FFF2-40B4-BE49-F238E27FC236}">
                <a16:creationId xmlns:a16="http://schemas.microsoft.com/office/drawing/2014/main" id="{53ECA03F-8895-43BC-BEC4-A3205C2E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43075"/>
            <a:ext cx="4286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«Приглашение на семейный ужин. Тёплые цвета, цветы по краям. В центре — место для текста».</a:t>
            </a:r>
          </a:p>
        </p:txBody>
      </p:sp>
      <p:sp>
        <p:nvSpPr>
          <p:cNvPr id="5" name="Text Учебный пример, созданный ИИ">
            <a:extLst xmlns:a="http://schemas.openxmlformats.org/drawingml/2006/main">
              <a:ext uri="{FF2B5EF4-FFF2-40B4-BE49-F238E27FC236}">
                <a16:creationId xmlns:a16="http://schemas.microsoft.com/office/drawing/2014/main" id="{D4884108-3B8B-4ECC-82FC-41A772EB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Учебный пример, созданный ИИ</a:t>
            </a:r>
          </a:p>
        </p:txBody>
      </p:sp>
    </p:spTree>
    <p:extLst>
      <p:ext uri="{BB962C8B-B14F-4D97-AF65-F5344CB8AC3E}">
        <p14:creationId xmlns:p14="http://schemas.microsoft.com/office/powerpoint/2010/main" val="16486305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Изменение одной детали">
            <a:extLst xmlns:a="http://schemas.openxmlformats.org/drawingml/2006/main">
              <a:ext uri="{FF2B5EF4-FFF2-40B4-BE49-F238E27FC236}">
                <a16:creationId xmlns:a16="http://schemas.microsoft.com/office/drawing/2014/main" id="{722637CF-6B1D-471C-AA45-6468526A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Изменение одной детали</a:t>
            </a:r>
          </a:p>
        </p:txBody>
      </p:sp>
      <p:sp>
        <p:nvSpPr>
          <p:cNvPr id="2" name="Text 16">
            <a:extLst xmlns:a="http://schemas.openxmlformats.org/drawingml/2006/main">
              <a:ext uri="{FF2B5EF4-FFF2-40B4-BE49-F238E27FC236}">
                <a16:creationId xmlns:a16="http://schemas.microsoft.com/office/drawing/2014/main" id="{061253DA-DA03-4D70-B9C8-2E4117E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Text До">
            <a:extLst xmlns:a="http://schemas.openxmlformats.org/drawingml/2006/main">
              <a:ext uri="{FF2B5EF4-FFF2-40B4-BE49-F238E27FC236}">
                <a16:creationId xmlns:a16="http://schemas.microsoft.com/office/drawing/2014/main" id="{CCA964AF-1427-424A-9285-3C7ECBA8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4" name="Text После">
            <a:extLst xmlns:a="http://schemas.openxmlformats.org/drawingml/2006/main">
              <a:ext uri="{FF2B5EF4-FFF2-40B4-BE49-F238E27FC236}">
                <a16:creationId xmlns:a16="http://schemas.microsoft.com/office/drawing/2014/main" id="{550BDD9B-AD1F-423C-BD6E-0057C055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356df02154537"/>
          <a:stretch xmlns:a="http://schemas.openxmlformats.org/drawingml/2006/main"/>
        </p:blipFill>
        <p:spPr>
          <a:xfrm xmlns:a="http://schemas.openxmlformats.org/drawingml/2006/main">
            <a:off x="714375" y="1971675"/>
            <a:ext cx="5029200" cy="37719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d78a3044d40f1"/>
          <a:stretch xmlns:a="http://schemas.openxmlformats.org/drawingml/2006/main"/>
        </p:blipFill>
        <p:spPr>
          <a:xfrm xmlns:a="http://schemas.openxmlformats.org/drawingml/2006/main">
            <a:off x="6391275" y="1971675"/>
            <a:ext cx="5029200" cy="3771900"/>
          </a:xfrm>
          <a:prstGeom xmlns:a="http://schemas.openxmlformats.org/drawingml/2006/main" prst="rect">
            <a:avLst/>
          </a:prstGeom>
        </p:spPr>
      </p:pic>
      <p:sp>
        <p:nvSpPr>
          <p:cNvPr id="7" name="Text «Сделай фон светлее. Сохрани">
            <a:extLst xmlns:a="http://schemas.openxmlformats.org/drawingml/2006/main">
              <a:ext uri="{FF2B5EF4-FFF2-40B4-BE49-F238E27FC236}">
                <a16:creationId xmlns:a16="http://schemas.microsoft.com/office/drawing/2014/main" id="{9112D080-3BF8-47A5-B728-15A75D83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«Сделай фон светлее. Сохрани расположение цветов».</a:t>
            </a:r>
          </a:p>
        </p:txBody>
      </p:sp>
    </p:spTree>
    <p:extLst>
      <p:ext uri="{BB962C8B-B14F-4D97-AF65-F5344CB8AC3E}">
        <p14:creationId xmlns:p14="http://schemas.microsoft.com/office/powerpoint/2010/main" val="5421099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Gamma: текст в презентацию">
            <a:extLst xmlns:a="http://schemas.openxmlformats.org/drawingml/2006/main">
              <a:ext uri="{FF2B5EF4-FFF2-40B4-BE49-F238E27FC236}">
                <a16:creationId xmlns:a16="http://schemas.microsoft.com/office/drawing/2014/main" id="{50B679BE-D4AD-47AD-9316-36531ED2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Gamma: текст в презентацию</a:t>
            </a:r>
          </a:p>
        </p:txBody>
      </p:sp>
      <p:sp>
        <p:nvSpPr>
          <p:cNvPr id="2" name="Text 17">
            <a:extLst xmlns:a="http://schemas.openxmlformats.org/drawingml/2006/main">
              <a:ext uri="{FF2B5EF4-FFF2-40B4-BE49-F238E27FC236}">
                <a16:creationId xmlns:a16="http://schemas.microsoft.com/office/drawing/2014/main" id="{F2909512-C303-44ED-B2AD-480822E7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Text 1. Подготовьте короткий пров">
            <a:extLst xmlns:a="http://schemas.openxmlformats.org/drawingml/2006/main">
              <a:ext uri="{FF2B5EF4-FFF2-40B4-BE49-F238E27FC236}">
                <a16:creationId xmlns:a16="http://schemas.microsoft.com/office/drawing/2014/main" id="{939DBE7E-07C3-4959-8D5B-1D9D8435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1. Подготовьте короткий проверенный текст.</a:t>
            </a:r>
          </a:p>
        </p:txBody>
      </p:sp>
      <p:sp>
        <p:nvSpPr>
          <p:cNvPr id="4" name="Text 2. В Gamma выберите создание">
            <a:extLst xmlns:a="http://schemas.openxmlformats.org/drawingml/2006/main">
              <a:ext uri="{FF2B5EF4-FFF2-40B4-BE49-F238E27FC236}">
                <a16:creationId xmlns:a16="http://schemas.microsoft.com/office/drawing/2014/main" id="{9AA0FAC8-8732-4C71-BF57-C308E13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2. В Gamma выберите создание из текста: Paste.</a:t>
            </a:r>
          </a:p>
        </p:txBody>
      </p:sp>
      <p:sp>
        <p:nvSpPr>
          <p:cNvPr id="5" name="Text 3. Укажите аудиторию, язык и">
            <a:extLst xmlns:a="http://schemas.openxmlformats.org/drawingml/2006/main">
              <a:ext uri="{FF2B5EF4-FFF2-40B4-BE49-F238E27FC236}">
                <a16:creationId xmlns:a16="http://schemas.microsoft.com/office/drawing/2014/main" id="{C9FDB51B-4299-47F7-96A4-AE48F689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3. Укажите аудиторию, язык и число слайдов.</a:t>
            </a:r>
          </a:p>
        </p:txBody>
      </p:sp>
      <p:sp>
        <p:nvSpPr>
          <p:cNvPr id="6" name="Text 4. Проверьте содержание и ви">
            <a:extLst xmlns:a="http://schemas.openxmlformats.org/drawingml/2006/main">
              <a:ext uri="{FF2B5EF4-FFF2-40B4-BE49-F238E27FC236}">
                <a16:creationId xmlns:a16="http://schemas.microsoft.com/office/drawing/2014/main" id="{F6E95988-A6BC-4271-A413-1A062D9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4. Проверьте содержание и вид готовых слайдов.</a:t>
            </a:r>
          </a:p>
        </p:txBody>
      </p:sp>
      <p:sp>
        <p:nvSpPr>
          <p:cNvPr id="7" name="Text gamma.app">
            <a:extLst xmlns:a="http://schemas.openxmlformats.org/drawingml/2006/main">
              <a:ext uri="{FF2B5EF4-FFF2-40B4-BE49-F238E27FC236}">
                <a16:creationId xmlns:a16="http://schemas.microsoft.com/office/drawing/2014/main" id="{5A2FF40C-0CCF-4ED9-9377-18AA632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gamma.app</a:t>
            </a:r>
          </a:p>
        </p:txBody>
      </p:sp>
    </p:spTree>
    <p:extLst>
      <p:ext uri="{BB962C8B-B14F-4D97-AF65-F5344CB8AC3E}">
        <p14:creationId xmlns:p14="http://schemas.microsoft.com/office/powerpoint/2010/main" val="13574141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Excel: разбираем 300 строк">
            <a:extLst xmlns:a="http://schemas.openxmlformats.org/drawingml/2006/main">
              <a:ext uri="{FF2B5EF4-FFF2-40B4-BE49-F238E27FC236}">
                <a16:creationId xmlns:a16="http://schemas.microsoft.com/office/drawing/2014/main" id="{48E1913A-482B-4E94-B9AC-13E93B74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Excel: разбираем 300 строк</a:t>
            </a:r>
          </a:p>
        </p:txBody>
      </p:sp>
      <p:sp>
        <p:nvSpPr>
          <p:cNvPr id="2" name="Text 18">
            <a:extLst xmlns:a="http://schemas.openxmlformats.org/drawingml/2006/main">
              <a:ext uri="{FF2B5EF4-FFF2-40B4-BE49-F238E27FC236}">
                <a16:creationId xmlns:a16="http://schemas.microsoft.com/office/drawing/2014/main" id="{9F0D54FC-DBA5-4868-AA77-CBD79F3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0db2b80ba45c4"/>
          <a:stretch xmlns:a="http://schemas.openxmlformats.org/drawingml/2006/main"/>
        </p:blipFill>
        <p:spPr>
          <a:xfrm xmlns:a="http://schemas.openxmlformats.org/drawingml/2006/main">
            <a:off x="1296030" y="1524000"/>
            <a:ext cx="9599939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Text Исходный файл приложен. Данн">
            <a:extLst xmlns:a="http://schemas.openxmlformats.org/drawingml/2006/main">
              <a:ext uri="{FF2B5EF4-FFF2-40B4-BE49-F238E27FC236}">
                <a16:creationId xmlns:a16="http://schemas.microsoft.com/office/drawing/2014/main" id="{4873AF7D-F6FA-42D1-86F3-7B607AF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Исходный файл приложен. Данные вымышлены.</a:t>
            </a:r>
          </a:p>
        </p:txBody>
      </p:sp>
    </p:spTree>
    <p:extLst>
      <p:ext uri="{BB962C8B-B14F-4D97-AF65-F5344CB8AC3E}">
        <p14:creationId xmlns:p14="http://schemas.microsoft.com/office/powerpoint/2010/main" val="7522080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Данные Excel в чате Gemini">
            <a:extLst xmlns:a="http://schemas.openxmlformats.org/drawingml/2006/main">
              <a:ext uri="{FF2B5EF4-FFF2-40B4-BE49-F238E27FC236}">
                <a16:creationId xmlns:a16="http://schemas.microsoft.com/office/drawing/2014/main" id="{A5373ED1-A773-489D-88E6-E7BB3F4F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Данные Excel в чате Gemini</a:t>
            </a:r>
          </a:p>
        </p:txBody>
      </p:sp>
      <p:sp>
        <p:nvSpPr>
          <p:cNvPr id="2" name="Text 19">
            <a:extLst xmlns:a="http://schemas.openxmlformats.org/drawingml/2006/main">
              <a:ext uri="{FF2B5EF4-FFF2-40B4-BE49-F238E27FC236}">
                <a16:creationId xmlns:a16="http://schemas.microsoft.com/office/drawing/2014/main" id="{592FE014-CD62-4CE4-B8FB-EDA0E411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Text Скопируйте A4:G304 и вставьт">
            <a:extLst xmlns:a="http://schemas.openxmlformats.org/drawingml/2006/main">
              <a:ext uri="{FF2B5EF4-FFF2-40B4-BE49-F238E27FC236}">
                <a16:creationId xmlns:a16="http://schemas.microsoft.com/office/drawing/2014/main" id="{13D04DEB-0FCB-4AAB-B586-6875359E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Скопируйте A4:G304 и вставьте после запроса.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ebbd1a26e4970"/>
          <a:stretch xmlns:a="http://schemas.openxmlformats.org/drawingml/2006/main"/>
        </p:blipFill>
        <p:spPr>
          <a:xfrm xmlns:a="http://schemas.openxmlformats.org/drawingml/2006/main">
            <a:off x="1321074" y="2238375"/>
            <a:ext cx="9530801" cy="3390900"/>
          </a:xfrm>
          <a:prstGeom xmlns:a="http://schemas.openxmlformats.org/drawingml/2006/main" prst="rect">
            <a:avLst/>
          </a:prstGeom>
        </p:spPr>
      </p:pic>
      <p:sp>
        <p:nvSpPr>
          <p:cNvPr id="5" name="Text В этом показе данные скопиро">
            <a:extLst xmlns:a="http://schemas.openxmlformats.org/drawingml/2006/main">
              <a:ext uri="{FF2B5EF4-FFF2-40B4-BE49-F238E27FC236}">
                <a16:creationId xmlns:a16="http://schemas.microsoft.com/office/drawing/2014/main" id="{BB571FC2-2AC4-4A93-9B6E-233893FD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В этом показе данные скопированы из таблицы в чат.</a:t>
            </a:r>
          </a:p>
        </p:txBody>
      </p:sp>
    </p:spTree>
    <p:extLst>
      <p:ext uri="{BB962C8B-B14F-4D97-AF65-F5344CB8AC3E}">
        <p14:creationId xmlns:p14="http://schemas.microsoft.com/office/powerpoint/2010/main" val="11005768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Что именно просим посчитать">
            <a:extLst xmlns:a="http://schemas.openxmlformats.org/drawingml/2006/main">
              <a:ext uri="{FF2B5EF4-FFF2-40B4-BE49-F238E27FC236}">
                <a16:creationId xmlns:a16="http://schemas.microsoft.com/office/drawing/2014/main" id="{046A73B1-E550-43EB-83DE-069C7078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Что именно просим посчитать</a:t>
            </a:r>
          </a:p>
        </p:txBody>
      </p:sp>
      <p:sp>
        <p:nvSpPr>
          <p:cNvPr id="2" name="Text 20">
            <a:extLst xmlns:a="http://schemas.openxmlformats.org/drawingml/2006/main">
              <a:ext uri="{FF2B5EF4-FFF2-40B4-BE49-F238E27FC236}">
                <a16:creationId xmlns:a16="http://schemas.microsoft.com/office/drawing/2014/main" id="{5F2CCFD0-B1BB-430D-A28B-110E8D3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Text Сколько строк и сколько уник">
            <a:extLst xmlns:a="http://schemas.openxmlformats.org/drawingml/2006/main">
              <a:ext uri="{FF2B5EF4-FFF2-40B4-BE49-F238E27FC236}">
                <a16:creationId xmlns:a16="http://schemas.microsoft.com/office/drawing/2014/main" id="{F3F31105-9DB6-4175-AE0A-A2B39D18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57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Сколько строк и сколько уникальных ID?</a:t>
            </a:r>
          </a:p>
        </p:txBody>
      </p:sp>
      <p:sp>
        <p:nvSpPr>
          <p:cNvPr id="4" name="Text Сколько закрытых, новых и на">
            <a:extLst xmlns:a="http://schemas.openxmlformats.org/drawingml/2006/main">
              <a:ext uri="{FF2B5EF4-FFF2-40B4-BE49-F238E27FC236}">
                <a16:creationId xmlns:a16="http://schemas.microsoft.com/office/drawing/2014/main" id="{986BFCE0-DC3F-4BE3-AC42-BA1EF7A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57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Сколько закрытых, новых и находящихся в работе?</a:t>
            </a:r>
          </a:p>
        </p:txBody>
      </p:sp>
      <p:sp>
        <p:nvSpPr>
          <p:cNvPr id="5" name="Text Какие незакрытые строки прос">
            <a:extLst xmlns:a="http://schemas.openxmlformats.org/drawingml/2006/main">
              <a:ext uri="{FF2B5EF4-FFF2-40B4-BE49-F238E27FC236}">
                <a16:creationId xmlns:a16="http://schemas.microsoft.com/office/drawing/2014/main" id="{BDFA94EB-4D4C-4A9E-B46B-01E5FB36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057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Какие незакрытые строки просрочены на 15.09.2026?</a:t>
            </a:r>
          </a:p>
        </p:txBody>
      </p:sp>
      <p:sp>
        <p:nvSpPr>
          <p:cNvPr id="6" name="Text Какие ID повторяются? Где не">
            <a:extLst xmlns:a="http://schemas.openxmlformats.org/drawingml/2006/main">
              <a:ext uri="{FF2B5EF4-FFF2-40B4-BE49-F238E27FC236}">
                <a16:creationId xmlns:a16="http://schemas.microsoft.com/office/drawing/2014/main" id="{A44A6DF3-7B40-4B5B-ABB4-5FFC564E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57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Какие ID повторяются? Где нет ответственного?</a:t>
            </a:r>
          </a:p>
        </p:txBody>
      </p:sp>
      <p:sp>
        <p:nvSpPr>
          <p:cNvPr id="7" name="Text Все 300 строк и точное прави">
            <a:extLst xmlns:a="http://schemas.openxmlformats.org/drawingml/2006/main">
              <a:ext uri="{FF2B5EF4-FFF2-40B4-BE49-F238E27FC236}">
                <a16:creationId xmlns:a16="http://schemas.microsoft.com/office/drawing/2014/main" id="{0D3C882B-F8B1-4360-92F0-939F932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Все 300 строк и точное правило просрочки.</a:t>
            </a:r>
          </a:p>
        </p:txBody>
      </p:sp>
    </p:spTree>
    <p:extLst>
      <p:ext uri="{BB962C8B-B14F-4D97-AF65-F5344CB8AC3E}">
        <p14:creationId xmlns:p14="http://schemas.microsoft.com/office/powerpoint/2010/main" val="19603607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Реальный ответ по Excel">
            <a:extLst xmlns:a="http://schemas.openxmlformats.org/drawingml/2006/main">
              <a:ext uri="{FF2B5EF4-FFF2-40B4-BE49-F238E27FC236}">
                <a16:creationId xmlns:a16="http://schemas.microsoft.com/office/drawing/2014/main" id="{48B7D682-A058-4446-9A18-36E5F758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Реальный ответ по Excel</a:t>
            </a:r>
          </a:p>
        </p:txBody>
      </p:sp>
      <p:sp>
        <p:nvSpPr>
          <p:cNvPr id="2" name="Text 21">
            <a:extLst xmlns:a="http://schemas.openxmlformats.org/drawingml/2006/main">
              <a:ext uri="{FF2B5EF4-FFF2-40B4-BE49-F238E27FC236}">
                <a16:creationId xmlns:a16="http://schemas.microsoft.com/office/drawing/2014/main" id="{D6382309-E8A2-4F36-A8D1-DAEE6F1C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2a0a371054539"/>
          <a:stretch xmlns:a="http://schemas.openxmlformats.org/drawingml/2006/main"/>
        </p:blipFill>
        <p:spPr>
          <a:xfrm xmlns:a="http://schemas.openxmlformats.org/drawingml/2006/main">
            <a:off x="2360971" y="1381125"/>
            <a:ext cx="7451008" cy="4619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98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Проверяем результат расчёта">
            <a:extLst xmlns:a="http://schemas.openxmlformats.org/drawingml/2006/main">
              <a:ext uri="{FF2B5EF4-FFF2-40B4-BE49-F238E27FC236}">
                <a16:creationId xmlns:a16="http://schemas.microsoft.com/office/drawing/2014/main" id="{C7A6B152-FDAF-4881-B4EC-A9AD664D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Проверяем результат расчёта</a:t>
            </a:r>
          </a:p>
        </p:txBody>
      </p:sp>
      <p:sp>
        <p:nvSpPr>
          <p:cNvPr id="2" name="Text 22">
            <a:extLst xmlns:a="http://schemas.openxmlformats.org/drawingml/2006/main">
              <a:ext uri="{FF2B5EF4-FFF2-40B4-BE49-F238E27FC236}">
                <a16:creationId xmlns:a16="http://schemas.microsoft.com/office/drawing/2014/main" id="{8E03A6E9-C9E5-4C03-89A7-6CCA166B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4850" y="1524000"/>
          <a:ext xmlns:a="http://schemas.openxmlformats.org/drawingml/2006/main" cx="107632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667000"/>
              </a:tblGrid>
              <a:tr h="6858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Контроль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Строк / уникальных ID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300 / 298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Закрыта / В работе / Новая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180 / 60 / 60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Просроченные строки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Нет ответственного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4" name="Text Повторы: Z-007 и Z-014. Снач">
            <a:extLst xmlns:a="http://schemas.openxmlformats.org/drawingml/2006/main">
              <a:ext uri="{FF2B5EF4-FFF2-40B4-BE49-F238E27FC236}">
                <a16:creationId xmlns:a16="http://schemas.microsoft.com/office/drawing/2014/main" id="{563E9180-EF22-42A1-AD18-3D28145F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Повторы: Z-007 и Z-014. Сначала выясняем причину.</a:t>
            </a:r>
          </a:p>
        </p:txBody>
      </p:sp>
    </p:spTree>
    <p:extLst>
      <p:ext uri="{BB962C8B-B14F-4D97-AF65-F5344CB8AC3E}">
        <p14:creationId xmlns:p14="http://schemas.microsoft.com/office/powerpoint/2010/main" val="20441224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Действия по результатам пров">
            <a:extLst xmlns:a="http://schemas.openxmlformats.org/drawingml/2006/main">
              <a:ext uri="{FF2B5EF4-FFF2-40B4-BE49-F238E27FC236}">
                <a16:creationId xmlns:a16="http://schemas.microsoft.com/office/drawing/2014/main" id="{1FF6F9F6-C7F7-4DFE-B603-70450C1C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Действия по результатам проверки</a:t>
            </a:r>
          </a:p>
        </p:txBody>
      </p:sp>
      <p:sp>
        <p:nvSpPr>
          <p:cNvPr id="2" name="Text 23">
            <a:extLst xmlns:a="http://schemas.openxmlformats.org/drawingml/2006/main">
              <a:ext uri="{FF2B5EF4-FFF2-40B4-BE49-F238E27FC236}">
                <a16:creationId xmlns:a16="http://schemas.microsoft.com/office/drawing/2014/main" id="{CB7A7E83-5DD5-443C-BF2A-B9A52E53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Text Уточнить два повторяющихся I">
            <a:extLst xmlns:a="http://schemas.openxmlformats.org/drawingml/2006/main">
              <a:ext uri="{FF2B5EF4-FFF2-40B4-BE49-F238E27FC236}">
                <a16:creationId xmlns:a16="http://schemas.microsoft.com/office/drawing/2014/main" id="{F2FFC646-3393-4593-B628-E376258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Уточнить два повторяющихся ID.</a:t>
            </a:r>
          </a:p>
        </p:txBody>
      </p:sp>
      <p:sp>
        <p:nvSpPr>
          <p:cNvPr id="4" name="Text Назначить ответственных для ">
            <a:extLst xmlns:a="http://schemas.openxmlformats.org/drawingml/2006/main">
              <a:ext uri="{FF2B5EF4-FFF2-40B4-BE49-F238E27FC236}">
                <a16:creationId xmlns:a16="http://schemas.microsoft.com/office/drawing/2014/main" id="{F454E25B-8FB7-4198-A5F8-97E40E8B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Назначить ответственных для 10 строк.</a:t>
            </a:r>
          </a:p>
        </p:txBody>
      </p:sp>
      <p:sp>
        <p:nvSpPr>
          <p:cNvPr id="5" name="Text Разобрать 75 просроченных ст">
            <a:extLst xmlns:a="http://schemas.openxmlformats.org/drawingml/2006/main">
              <a:ext uri="{FF2B5EF4-FFF2-40B4-BE49-F238E27FC236}">
                <a16:creationId xmlns:a16="http://schemas.microsoft.com/office/drawing/2014/main" id="{4368C807-4903-453A-9DD1-B08F3C54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Разобрать 75 просроченных строк с владельцами задач.</a:t>
            </a:r>
          </a:p>
        </p:txBody>
      </p:sp>
      <p:sp>
        <p:nvSpPr>
          <p:cNvPr id="6" name="Text Это предложения по проверенн">
            <a:extLst xmlns:a="http://schemas.openxmlformats.org/drawingml/2006/main">
              <a:ext uri="{FF2B5EF4-FFF2-40B4-BE49-F238E27FC236}">
                <a16:creationId xmlns:a16="http://schemas.microsoft.com/office/drawing/2014/main" id="{7073C784-AD9A-42EF-B7C8-F9029B81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Это предложения по проверенным данным, а не выполненные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7116501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Word: протокол в список пору">
            <a:extLst xmlns:a="http://schemas.openxmlformats.org/drawingml/2006/main">
              <a:ext uri="{FF2B5EF4-FFF2-40B4-BE49-F238E27FC236}">
                <a16:creationId xmlns:a16="http://schemas.microsoft.com/office/drawing/2014/main" id="{A2D63123-5ED6-4B5F-BA43-CC3BF1D3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Word: протокол в список поручений</a:t>
            </a:r>
          </a:p>
        </p:txBody>
      </p:sp>
      <p:sp>
        <p:nvSpPr>
          <p:cNvPr id="2" name="Text 24">
            <a:extLst xmlns:a="http://schemas.openxmlformats.org/drawingml/2006/main">
              <a:ext uri="{FF2B5EF4-FFF2-40B4-BE49-F238E27FC236}">
                <a16:creationId xmlns:a16="http://schemas.microsoft.com/office/drawing/2014/main" id="{7F7EE2CD-6CFE-4802-BBD3-F2F089E9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e0595df4d4820"/>
          <a:stretch xmlns:a="http://schemas.openxmlformats.org/drawingml/2006/main"/>
        </p:blipFill>
        <p:spPr>
          <a:xfrm xmlns:a="http://schemas.openxmlformats.org/drawingml/2006/main">
            <a:off x="2041398" y="1428750"/>
            <a:ext cx="3232404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ext Кто что делает?&#10;&#10;К какому ср">
            <a:extLst xmlns:a="http://schemas.openxmlformats.org/drawingml/2006/main">
              <a:ext uri="{FF2B5EF4-FFF2-40B4-BE49-F238E27FC236}">
                <a16:creationId xmlns:a16="http://schemas.microsoft.com/office/drawing/2014/main" id="{0C8F167D-10FE-41B1-BD2F-AF62F50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28800"/>
            <a:ext cx="433387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Кто что делает?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7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К какому сроку?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7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Что ещё не решено?</a:t>
            </a:r>
          </a:p>
        </p:txBody>
      </p:sp>
    </p:spTree>
    <p:extLst>
      <p:ext uri="{BB962C8B-B14F-4D97-AF65-F5344CB8AC3E}">
        <p14:creationId xmlns:p14="http://schemas.microsoft.com/office/powerpoint/2010/main" val="19518848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Запрос к тексту Word">
            <a:extLst xmlns:a="http://schemas.openxmlformats.org/drawingml/2006/main">
              <a:ext uri="{FF2B5EF4-FFF2-40B4-BE49-F238E27FC236}">
                <a16:creationId xmlns:a16="http://schemas.microsoft.com/office/drawing/2014/main" id="{24DA3DE1-309A-42CB-9B39-FDC2986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Запрос к тексту Word</a:t>
            </a:r>
          </a:p>
        </p:txBody>
      </p:sp>
      <p:sp>
        <p:nvSpPr>
          <p:cNvPr id="2" name="Text 25">
            <a:extLst xmlns:a="http://schemas.openxmlformats.org/drawingml/2006/main">
              <a:ext uri="{FF2B5EF4-FFF2-40B4-BE49-F238E27FC236}">
                <a16:creationId xmlns:a16="http://schemas.microsoft.com/office/drawing/2014/main" id="{07C621C1-3B9B-4750-ADF2-127DE020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Text Скопируйте текст протокола в">
            <a:extLst xmlns:a="http://schemas.openxmlformats.org/drawingml/2006/main">
              <a:ext uri="{FF2B5EF4-FFF2-40B4-BE49-F238E27FC236}">
                <a16:creationId xmlns:a16="http://schemas.microsoft.com/office/drawing/2014/main" id="{FE977E45-FEB5-4F14-A64F-1F8876CE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066800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Скопируйте текст протокола в чат.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Попросите таблицу: поручение, ответственный, срок.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Предложения без решения вынесите отдельно.</a:t>
            </a:r>
          </a:p>
        </p:txBody>
      </p:sp>
      <p:sp>
        <p:nvSpPr>
          <p:cNvPr id="4" name="Text «Не указано» лучше, чем прид">
            <a:extLst xmlns:a="http://schemas.openxmlformats.org/drawingml/2006/main">
              <a:ext uri="{FF2B5EF4-FFF2-40B4-BE49-F238E27FC236}">
                <a16:creationId xmlns:a16="http://schemas.microsoft.com/office/drawing/2014/main" id="{9C30FD80-5D41-4893-AFEF-F61FC350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«Не указано» лучше, чем придуманный человек или срок.</a:t>
            </a:r>
          </a:p>
        </p:txBody>
      </p:sp>
    </p:spTree>
    <p:extLst>
      <p:ext uri="{BB962C8B-B14F-4D97-AF65-F5344CB8AC3E}">
        <p14:creationId xmlns:p14="http://schemas.microsoft.com/office/powerpoint/2010/main" val="5429066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Реальный ответ по протоколу">
            <a:extLst xmlns:a="http://schemas.openxmlformats.org/drawingml/2006/main">
              <a:ext uri="{FF2B5EF4-FFF2-40B4-BE49-F238E27FC236}">
                <a16:creationId xmlns:a16="http://schemas.microsoft.com/office/drawing/2014/main" id="{DEC65DAB-024C-4B18-B807-635ED3C6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Реальный ответ по протоколу</a:t>
            </a:r>
          </a:p>
        </p:txBody>
      </p:sp>
      <p:sp>
        <p:nvSpPr>
          <p:cNvPr id="2" name="Text 26">
            <a:extLst xmlns:a="http://schemas.openxmlformats.org/drawingml/2006/main">
              <a:ext uri="{FF2B5EF4-FFF2-40B4-BE49-F238E27FC236}">
                <a16:creationId xmlns:a16="http://schemas.microsoft.com/office/drawing/2014/main" id="{D939CC20-9A59-4E68-8CCE-CB1E4126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9ed2d8c4f4bea"/>
          <a:stretch xmlns:a="http://schemas.openxmlformats.org/drawingml/2006/main"/>
        </p:blipFill>
        <p:spPr>
          <a:xfrm xmlns:a="http://schemas.openxmlformats.org/drawingml/2006/main">
            <a:off x="2474913" y="1381125"/>
            <a:ext cx="7223125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Text Реальный ответ Gemini по тек">
            <a:extLst xmlns:a="http://schemas.openxmlformats.org/drawingml/2006/main">
              <a:ext uri="{FF2B5EF4-FFF2-40B4-BE49-F238E27FC236}">
                <a16:creationId xmlns:a16="http://schemas.microsoft.com/office/drawing/2014/main" id="{098755EE-6F24-40AF-9839-E5C1C66E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Реальный ответ Gemini по тексту протокола.</a:t>
            </a:r>
          </a:p>
        </p:txBody>
      </p:sp>
    </p:spTree>
    <p:extLst>
      <p:ext uri="{BB962C8B-B14F-4D97-AF65-F5344CB8AC3E}">
        <p14:creationId xmlns:p14="http://schemas.microsoft.com/office/powerpoint/2010/main" val="14778007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Проверяем смысл, а не только">
            <a:extLst xmlns:a="http://schemas.openxmlformats.org/drawingml/2006/main">
              <a:ext uri="{FF2B5EF4-FFF2-40B4-BE49-F238E27FC236}">
                <a16:creationId xmlns:a16="http://schemas.microsoft.com/office/drawing/2014/main" id="{73FE3B6D-A8B9-4ABB-9B2E-E8A492D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Проверяем смысл, а не только текст</a:t>
            </a:r>
          </a:p>
        </p:txBody>
      </p:sp>
      <p:sp>
        <p:nvSpPr>
          <p:cNvPr id="2" name="Text 27">
            <a:extLst xmlns:a="http://schemas.openxmlformats.org/drawingml/2006/main">
              <a:ext uri="{FF2B5EF4-FFF2-40B4-BE49-F238E27FC236}">
                <a16:creationId xmlns:a16="http://schemas.microsoft.com/office/drawing/2014/main" id="{F3E3616E-0EDE-436E-A96E-C38F0FD4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Text Бронирование зала: ответстве">
            <a:extLst xmlns:a="http://schemas.openxmlformats.org/drawingml/2006/main">
              <a:ext uri="{FF2B5EF4-FFF2-40B4-BE49-F238E27FC236}">
                <a16:creationId xmlns:a16="http://schemas.microsoft.com/office/drawing/2014/main" id="{4690F5BE-F267-4A78-9585-828C3064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57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Бронирование зала: ответственный не назначен.</a:t>
            </a:r>
          </a:p>
        </p:txBody>
      </p:sp>
      <p:sp>
        <p:nvSpPr>
          <p:cNvPr id="4" name="Text Список канцелярии: срок не о">
            <a:extLst xmlns:a="http://schemas.openxmlformats.org/drawingml/2006/main">
              <a:ext uri="{FF2B5EF4-FFF2-40B4-BE49-F238E27FC236}">
                <a16:creationId xmlns:a16="http://schemas.microsoft.com/office/drawing/2014/main" id="{9419BEF9-7DAD-4C7B-AEBC-5D872580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Список канцелярии: срок не определён.</a:t>
            </a:r>
          </a:p>
        </p:txBody>
      </p:sp>
      <p:sp>
        <p:nvSpPr>
          <p:cNvPr id="5" name="Text Кофе-брейк: предложение, реш">
            <a:extLst xmlns:a="http://schemas.openxmlformats.org/drawingml/2006/main">
              <a:ext uri="{FF2B5EF4-FFF2-40B4-BE49-F238E27FC236}">
                <a16:creationId xmlns:a16="http://schemas.microsoft.com/office/drawing/2014/main" id="{71447091-F070-4D96-94BF-1E9A7996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Кофе-брейк: предложение, решения ещё нет.</a:t>
            </a:r>
          </a:p>
        </p:txBody>
      </p:sp>
      <p:sp>
        <p:nvSpPr>
          <p:cNvPr id="6" name="Text Уточнение: «Напиши короткое ">
            <a:extLst xmlns:a="http://schemas.openxmlformats.org/drawingml/2006/main">
              <a:ext uri="{FF2B5EF4-FFF2-40B4-BE49-F238E27FC236}">
                <a16:creationId xmlns:a16="http://schemas.microsoft.com/office/drawing/2014/main" id="{0EFC151D-763F-4369-9AA2-390D5B4E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Уточнение: «Напиши короткое сообщение коллегам с этими вопросами».</a:t>
            </a:r>
          </a:p>
        </p:txBody>
      </p:sp>
    </p:spTree>
    <p:extLst>
      <p:ext uri="{BB962C8B-B14F-4D97-AF65-F5344CB8AC3E}">
        <p14:creationId xmlns:p14="http://schemas.microsoft.com/office/powerpoint/2010/main" val="5552009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0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Задача, которую выберете вы">
            <a:extLst xmlns:a="http://schemas.openxmlformats.org/drawingml/2006/main">
              <a:ext uri="{FF2B5EF4-FFF2-40B4-BE49-F238E27FC236}">
                <a16:creationId xmlns:a16="http://schemas.microsoft.com/office/drawing/2014/main" id="{5DD8E844-A2EC-44DB-8CC1-AFB2A73D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6F1"/>
                </a:solidFill>
                <a:latin typeface="Arial"/>
                <a:ea typeface="Arial"/>
                <a:cs typeface="Arial"/>
              </a:rPr>
              <a:t>Задача, которую выберете вы</a:t>
            </a:r>
          </a:p>
        </p:txBody>
      </p:sp>
      <p:sp>
        <p:nvSpPr>
          <p:cNvPr id="2" name="Text 28">
            <a:extLst xmlns:a="http://schemas.openxmlformats.org/drawingml/2006/main">
              <a:ext uri="{FF2B5EF4-FFF2-40B4-BE49-F238E27FC236}">
                <a16:creationId xmlns:a16="http://schemas.microsoft.com/office/drawing/2014/main" id="{4E36F9AE-E9F5-4B2B-811D-81FDD5F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DC7D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C7D4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Text Написать нужное сообщение">
            <a:extLst xmlns:a="http://schemas.openxmlformats.org/drawingml/2006/main">
              <a:ext uri="{FF2B5EF4-FFF2-40B4-BE49-F238E27FC236}">
                <a16:creationId xmlns:a16="http://schemas.microsoft.com/office/drawing/2014/main" id="{2A3539AF-C086-4C70-BCB5-278BD1F7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Написать нужное сообщение</a:t>
            </a:r>
          </a:p>
        </p:txBody>
      </p:sp>
      <p:sp>
        <p:nvSpPr>
          <p:cNvPr id="4" name="Text Понять объявление или докуме">
            <a:extLst xmlns:a="http://schemas.openxmlformats.org/drawingml/2006/main">
              <a:ext uri="{FF2B5EF4-FFF2-40B4-BE49-F238E27FC236}">
                <a16:creationId xmlns:a16="http://schemas.microsoft.com/office/drawing/2014/main" id="{93CB1E4F-D69D-4EBA-8EB1-D67B6F57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Понять объявление или документ</a:t>
            </a:r>
          </a:p>
        </p:txBody>
      </p:sp>
      <p:sp>
        <p:nvSpPr>
          <p:cNvPr id="5" name="Text Сравнить два варианта покупк">
            <a:extLst xmlns:a="http://schemas.openxmlformats.org/drawingml/2006/main">
              <a:ext uri="{FF2B5EF4-FFF2-40B4-BE49-F238E27FC236}">
                <a16:creationId xmlns:a16="http://schemas.microsoft.com/office/drawing/2014/main" id="{980495B7-F459-4BE8-9A94-99184B1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Сравнить два варианта покупки или поездки</a:t>
            </a:r>
          </a:p>
        </p:txBody>
      </p:sp>
      <p:sp>
        <p:nvSpPr>
          <p:cNvPr id="6" name="Text Создать приглашение или упор">
            <a:extLst xmlns:a="http://schemas.openxmlformats.org/drawingml/2006/main">
              <a:ext uri="{FF2B5EF4-FFF2-40B4-BE49-F238E27FC236}">
                <a16:creationId xmlns:a16="http://schemas.microsoft.com/office/drawing/2014/main" id="{A14D494A-0836-4742-A9A0-EE5F3019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Создать приглашение или упорядочить заметки</a:t>
            </a:r>
          </a:p>
        </p:txBody>
      </p:sp>
      <p:sp>
        <p:nvSpPr>
          <p:cNvPr id="7" name="Text Выберите одну задачу. Резуль">
            <a:extLst xmlns:a="http://schemas.openxmlformats.org/drawingml/2006/main">
              <a:ext uri="{FF2B5EF4-FFF2-40B4-BE49-F238E27FC236}">
                <a16:creationId xmlns:a16="http://schemas.microsoft.com/office/drawing/2014/main" id="{D2EB11C9-57D0-4318-AEC7-2D8FA691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Выберите одну задачу. Результат сохраните.</a:t>
            </a:r>
          </a:p>
        </p:txBody>
      </p:sp>
    </p:spTree>
    <p:extLst>
      <p:ext uri="{BB962C8B-B14F-4D97-AF65-F5344CB8AC3E}">
        <p14:creationId xmlns:p14="http://schemas.microsoft.com/office/powerpoint/2010/main" val="17054518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Запрос своими словами">
            <a:extLst xmlns:a="http://schemas.openxmlformats.org/drawingml/2006/main">
              <a:ext uri="{FF2B5EF4-FFF2-40B4-BE49-F238E27FC236}">
                <a16:creationId xmlns:a16="http://schemas.microsoft.com/office/drawing/2014/main" id="{2D8E1933-359A-4668-ABC5-0ACB1648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Запрос своими словами</a:t>
            </a:r>
          </a:p>
        </p:txBody>
      </p:sp>
      <p:sp>
        <p:nvSpPr>
          <p:cNvPr id="2" name="Text 29">
            <a:extLst xmlns:a="http://schemas.openxmlformats.org/drawingml/2006/main">
              <a:ext uri="{FF2B5EF4-FFF2-40B4-BE49-F238E27FC236}">
                <a16:creationId xmlns:a16="http://schemas.microsoft.com/office/drawing/2014/main" id="{A71D1676-ADBF-4036-B407-B0C21E24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Text Мне нужно…  [задача]">
            <a:extLst xmlns:a="http://schemas.openxmlformats.org/drawingml/2006/main">
              <a:ext uri="{FF2B5EF4-FFF2-40B4-BE49-F238E27FC236}">
                <a16:creationId xmlns:a16="http://schemas.microsoft.com/office/drawing/2014/main" id="{CCBE1883-5151-467F-B7B7-4E12A77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Мне нужно…  [задача]</a:t>
            </a:r>
          </a:p>
        </p:txBody>
      </p:sp>
      <p:sp>
        <p:nvSpPr>
          <p:cNvPr id="4" name="Text Вот мои сведения…  [контекст">
            <a:extLst xmlns:a="http://schemas.openxmlformats.org/drawingml/2006/main">
              <a:ext uri="{FF2B5EF4-FFF2-40B4-BE49-F238E27FC236}">
                <a16:creationId xmlns:a16="http://schemas.microsoft.com/office/drawing/2014/main" id="{41526A76-CB0A-4A76-A5D4-0E7B89A6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Вот мои сведения…  [контекст]</a:t>
            </a:r>
          </a:p>
        </p:txBody>
      </p:sp>
      <p:sp>
        <p:nvSpPr>
          <p:cNvPr id="5" name="Text Ответ дай в виде…  [формат]">
            <a:extLst xmlns:a="http://schemas.openxmlformats.org/drawingml/2006/main">
              <a:ext uri="{FF2B5EF4-FFF2-40B4-BE49-F238E27FC236}">
                <a16:creationId xmlns:a16="http://schemas.microsoft.com/office/drawing/2014/main" id="{141D5725-E4C6-454F-BC9F-B06E279D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Ответ дай в виде…  [формат]</a:t>
            </a:r>
          </a:p>
        </p:txBody>
      </p:sp>
      <p:sp>
        <p:nvSpPr>
          <p:cNvPr id="6" name="Text Если данных мало, сначала сп">
            <a:extLst xmlns:a="http://schemas.openxmlformats.org/drawingml/2006/main">
              <a:ext uri="{FF2B5EF4-FFF2-40B4-BE49-F238E27FC236}">
                <a16:creationId xmlns:a16="http://schemas.microsoft.com/office/drawing/2014/main" id="{01EBC597-7F23-4A13-89A6-EDD15581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Если данных мало, сначала спроси.</a:t>
            </a:r>
          </a:p>
        </p:txBody>
      </p:sp>
      <p:sp>
        <p:nvSpPr>
          <p:cNvPr id="7" name="Text Уточнение: «Сделай проще и с">
            <a:extLst xmlns:a="http://schemas.openxmlformats.org/drawingml/2006/main">
              <a:ext uri="{FF2B5EF4-FFF2-40B4-BE49-F238E27FC236}">
                <a16:creationId xmlns:a16="http://schemas.microsoft.com/office/drawing/2014/main" id="{357C4F2F-58C3-4FDA-AF53-058EB319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Уточнение: «Сделай проще и сохрани важные условия».</a:t>
            </a:r>
          </a:p>
        </p:txBody>
      </p:sp>
    </p:spTree>
    <p:extLst>
      <p:ext uri="{BB962C8B-B14F-4D97-AF65-F5344CB8AC3E}">
        <p14:creationId xmlns:p14="http://schemas.microsoft.com/office/powerpoint/2010/main" val="14356882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Проверка в паре">
            <a:extLst xmlns:a="http://schemas.openxmlformats.org/drawingml/2006/main">
              <a:ext uri="{FF2B5EF4-FFF2-40B4-BE49-F238E27FC236}">
                <a16:creationId xmlns:a16="http://schemas.microsoft.com/office/drawing/2014/main" id="{3E5AE2BA-820A-40DA-9C34-68AFD19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Проверка в паре</a:t>
            </a:r>
          </a:p>
        </p:txBody>
      </p:sp>
      <p:sp>
        <p:nvSpPr>
          <p:cNvPr id="2" name="Text 30">
            <a:extLst xmlns:a="http://schemas.openxmlformats.org/drawingml/2006/main">
              <a:ext uri="{FF2B5EF4-FFF2-40B4-BE49-F238E27FC236}">
                <a16:creationId xmlns:a16="http://schemas.microsoft.com/office/drawing/2014/main" id="{BFA92601-C28A-4E7D-A53E-A08E383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Text Что вы хотели получить?">
            <a:extLst xmlns:a="http://schemas.openxmlformats.org/drawingml/2006/main">
              <a:ext uri="{FF2B5EF4-FFF2-40B4-BE49-F238E27FC236}">
                <a16:creationId xmlns:a16="http://schemas.microsoft.com/office/drawing/2014/main" id="{46F19F3F-9B90-40F2-88BD-FB29D378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Что вы хотели получить?</a:t>
            </a:r>
          </a:p>
        </p:txBody>
      </p:sp>
      <p:sp>
        <p:nvSpPr>
          <p:cNvPr id="4" name="Text Как вы уточнили первый ответ">
            <a:extLst xmlns:a="http://schemas.openxmlformats.org/drawingml/2006/main">
              <a:ext uri="{FF2B5EF4-FFF2-40B4-BE49-F238E27FC236}">
                <a16:creationId xmlns:a16="http://schemas.microsoft.com/office/drawing/2014/main" id="{501CCD79-DF09-487F-AFD2-EFA82B67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Как вы уточнили первый ответ?</a:t>
            </a:r>
          </a:p>
        </p:txBody>
      </p:sp>
      <p:sp>
        <p:nvSpPr>
          <p:cNvPr id="5" name="Text Какой факт проверили и где?">
            <a:extLst xmlns:a="http://schemas.openxmlformats.org/drawingml/2006/main">
              <a:ext uri="{FF2B5EF4-FFF2-40B4-BE49-F238E27FC236}">
                <a16:creationId xmlns:a16="http://schemas.microsoft.com/office/drawing/2014/main" id="{14FEF0DB-B9DF-4D09-85C0-B8382AA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Какой факт проверили и где?</a:t>
            </a:r>
          </a:p>
        </p:txBody>
      </p:sp>
      <p:sp>
        <p:nvSpPr>
          <p:cNvPr id="6" name="Text Где сохранили готовый резуль">
            <a:extLst xmlns:a="http://schemas.openxmlformats.org/drawingml/2006/main">
              <a:ext uri="{FF2B5EF4-FFF2-40B4-BE49-F238E27FC236}">
                <a16:creationId xmlns:a16="http://schemas.microsoft.com/office/drawing/2014/main" id="{5D4A25DB-0E20-46A2-919B-CC1B96E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Где сохранили готовый результат?</a:t>
            </a:r>
          </a:p>
        </p:txBody>
      </p:sp>
    </p:spTree>
    <p:extLst>
      <p:ext uri="{BB962C8B-B14F-4D97-AF65-F5344CB8AC3E}">
        <p14:creationId xmlns:p14="http://schemas.microsoft.com/office/powerpoint/2010/main" val="398239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Возможности под вашу задачу">
            <a:extLst xmlns:a="http://schemas.openxmlformats.org/drawingml/2006/main">
              <a:ext uri="{FF2B5EF4-FFF2-40B4-BE49-F238E27FC236}">
                <a16:creationId xmlns:a16="http://schemas.microsoft.com/office/drawing/2014/main" id="{2F8A184E-428F-425E-AA96-879932A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Возможности под вашу задачу</a:t>
            </a:r>
          </a:p>
        </p:txBody>
      </p:sp>
      <p:sp>
        <p:nvSpPr>
          <p:cNvPr id="2" name="Plans page 39">
            <a:extLst xmlns:a="http://schemas.openxmlformats.org/drawingml/2006/main">
              <a:ext uri="{FF2B5EF4-FFF2-40B4-BE49-F238E27FC236}">
                <a16:creationId xmlns:a16="http://schemas.microsoft.com/office/drawing/2014/main" id="{403CD452-D8B9-4580-9D0E-082E8EF9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4850" y="1552575"/>
          <a:ext xmlns:a="http://schemas.openxmlformats.org/drawingml/2006/main" cx="10763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334000"/>
              </a:tblGrid>
              <a:tr h="8191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Нужно сделать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Где начать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Письмо, объяснение, план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ChatGPT / Gemini / Grok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Поиск и сверка источников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Perplexity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Презентация из своего текста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Gamma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Файл, простая страница или приложение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ChatGPT Work / Gemini Canvas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4" name="Text Один и тот же запрос можно с">
            <a:extLst xmlns:a="http://schemas.openxmlformats.org/drawingml/2006/main">
              <a:ext uri="{FF2B5EF4-FFF2-40B4-BE49-F238E27FC236}">
                <a16:creationId xmlns:a16="http://schemas.microsoft.com/office/drawing/2014/main" id="{F6D78BFC-9F85-4AEE-8AAB-5172CD38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Один и тот же запрос можно сравнить в нескольких сервисах.</a:t>
            </a:r>
          </a:p>
        </p:txBody>
      </p:sp>
    </p:spTree>
    <p:extLst>
      <p:ext uri="{BB962C8B-B14F-4D97-AF65-F5344CB8AC3E}">
        <p14:creationId xmlns:p14="http://schemas.microsoft.com/office/powerpoint/2010/main" val="12408667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ChatGPT и Gemini: тарифы">
            <a:extLst xmlns:a="http://schemas.openxmlformats.org/drawingml/2006/main">
              <a:ext uri="{FF2B5EF4-FFF2-40B4-BE49-F238E27FC236}">
                <a16:creationId xmlns:a16="http://schemas.microsoft.com/office/drawing/2014/main" id="{067E7F93-F467-46CE-9403-8A21E5C1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ChatGPT и Gemini: тарифы</a:t>
            </a:r>
          </a:p>
        </p:txBody>
      </p:sp>
      <p:sp>
        <p:nvSpPr>
          <p:cNvPr id="2" name="Plans page 40">
            <a:extLst xmlns:a="http://schemas.openxmlformats.org/drawingml/2006/main">
              <a:ext uri="{FF2B5EF4-FFF2-40B4-BE49-F238E27FC236}">
                <a16:creationId xmlns:a16="http://schemas.microsoft.com/office/drawing/2014/main" id="{9A1201EB-89E1-4F03-B301-4D0D4FAB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04850" y="1552575"/>
          <a:ext xmlns:a="http://schemas.openxmlformats.org/drawingml/2006/main" cx="10763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238500"/>
                <a:gridCol w="5334000"/>
              </a:tblGrid>
              <a:tr h="952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Сервис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Для старта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Платные варианты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ChatGPT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Free — $0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Go — $8/мес.</a:t>
                      </a:r>
                    </a:p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Plus — $20/мес.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Gemini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Базовый доступ</a:t>
                      </a:r>
                    </a:p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без AI-подписки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AI Plus — $9,99/мес.</a:t>
                      </a:r>
                    </a:p>
                    <a:p>
                      <a:r>
                        <a:rPr sz="2025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AI Pro — $19,99/мес.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4" name="Text Оплата расширяет доступ. Сна">
            <a:extLst xmlns:a="http://schemas.openxmlformats.org/drawingml/2006/main">
              <a:ext uri="{FF2B5EF4-FFF2-40B4-BE49-F238E27FC236}">
                <a16:creationId xmlns:a16="http://schemas.microsoft.com/office/drawing/2014/main" id="{5E67333A-6529-4C25-8AA5-5FEC97D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Оплата расширяет доступ. Сначала проверьте нужную функцию на своей задаче.</a:t>
            </a:r>
          </a:p>
        </p:txBody>
      </p:sp>
      <p:sp>
        <p:nvSpPr>
          <p:cNvPr id="5" name="Text USD: ориентир на 15.09.2026.">
            <a:extLst xmlns:a="http://schemas.openxmlformats.org/drawingml/2006/main">
              <a:ext uri="{FF2B5EF4-FFF2-40B4-BE49-F238E27FC236}">
                <a16:creationId xmlns:a16="http://schemas.microsoft.com/office/drawing/2014/main" id="{8005041B-67D2-4852-BDD0-FDEB5DB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USD: ориентир на 15.09.2026. Итоговую цену для Казахстана проверьте в аккаунте.</a:t>
            </a:r>
          </a:p>
        </p:txBody>
      </p:sp>
    </p:spTree>
    <p:extLst>
      <p:ext uri="{BB962C8B-B14F-4D97-AF65-F5344CB8AC3E}">
        <p14:creationId xmlns:p14="http://schemas.microsoft.com/office/powerpoint/2010/main" val="101707044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Perplexity и Grok: что даёт ">
            <a:extLst xmlns:a="http://schemas.openxmlformats.org/drawingml/2006/main">
              <a:ext uri="{FF2B5EF4-FFF2-40B4-BE49-F238E27FC236}">
                <a16:creationId xmlns:a16="http://schemas.microsoft.com/office/drawing/2014/main" id="{7E49CEEC-1737-4078-A150-591FE051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Perplexity и Grok: что даёт оплата</a:t>
            </a:r>
          </a:p>
        </p:txBody>
      </p:sp>
      <p:sp>
        <p:nvSpPr>
          <p:cNvPr id="2" name="Plans page 41">
            <a:extLst xmlns:a="http://schemas.openxmlformats.org/drawingml/2006/main">
              <a:ext uri="{FF2B5EF4-FFF2-40B4-BE49-F238E27FC236}">
                <a16:creationId xmlns:a16="http://schemas.microsoft.com/office/drawing/2014/main" id="{DEAC5B3F-6959-426D-B39F-CD70AD4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04850" y="1562100"/>
          <a:ext xmlns:a="http://schemas.openxmlformats.org/drawingml/2006/main" cx="10763250" cy="2924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524250"/>
                <a:gridCol w="5048250"/>
              </a:tblGrid>
              <a:tr h="9747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Сервис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Бесплатно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Платный вариант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9747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Perplexity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Обычный поиск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Pro: $20/мес. или $200/год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9747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Grok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Чат, веб-поиск, голос</a:t>
                      </a:r>
                    </a:p>
                    <a:p>
                      <a:r>
                        <a:rPr sz="19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 ограничениями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SuperGrok: $30/мес.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4" name="Text Платный доступ тоже имеет ли">
            <a:extLst xmlns:a="http://schemas.openxmlformats.org/drawingml/2006/main">
              <a:ext uri="{FF2B5EF4-FFF2-40B4-BE49-F238E27FC236}">
                <a16:creationId xmlns:a16="http://schemas.microsoft.com/office/drawing/2014/main" id="{79BC9F69-6D3A-488C-9A63-F272AC72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Платный доступ тоже имеет лимиты. Ответы и источники всё равно проверяем.</a:t>
            </a:r>
          </a:p>
        </p:txBody>
      </p:sp>
      <p:sp>
        <p:nvSpPr>
          <p:cNvPr id="5" name="Text USD: ориентир на 15.09.2026.">
            <a:extLst xmlns:a="http://schemas.openxmlformats.org/drawingml/2006/main">
              <a:ext uri="{FF2B5EF4-FFF2-40B4-BE49-F238E27FC236}">
                <a16:creationId xmlns:a16="http://schemas.microsoft.com/office/drawing/2014/main" id="{DE274666-ABCC-4438-AF1C-29D628C8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USD: ориентир на 15.09.2026. Итоговую цену для Казахстана проверьте в аккаунте.</a:t>
            </a:r>
          </a:p>
        </p:txBody>
      </p:sp>
    </p:spTree>
    <p:extLst>
      <p:ext uri="{BB962C8B-B14F-4D97-AF65-F5344CB8AC3E}">
        <p14:creationId xmlns:p14="http://schemas.microsoft.com/office/powerpoint/2010/main" val="7278819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Gamma: слайды и AI-кредиты">
            <a:extLst xmlns:a="http://schemas.openxmlformats.org/drawingml/2006/main">
              <a:ext uri="{FF2B5EF4-FFF2-40B4-BE49-F238E27FC236}">
                <a16:creationId xmlns:a16="http://schemas.microsoft.com/office/drawing/2014/main" id="{8163F6D3-A499-489C-86DA-431EB4C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Gamma: слайды и AI-кредиты</a:t>
            </a:r>
          </a:p>
        </p:txBody>
      </p:sp>
      <p:sp>
        <p:nvSpPr>
          <p:cNvPr id="2" name="Plans page 42">
            <a:extLst xmlns:a="http://schemas.openxmlformats.org/drawingml/2006/main">
              <a:ext uri="{FF2B5EF4-FFF2-40B4-BE49-F238E27FC236}">
                <a16:creationId xmlns:a16="http://schemas.microsoft.com/office/drawing/2014/main" id="{B262645F-1D9C-43FE-8C66-952D86F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4850" y="1590675"/>
          <a:ext xmlns:a="http://schemas.openxmlformats.org/drawingml/2006/main" cx="1076325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572500"/>
              </a:tblGrid>
              <a:tr h="81676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Тариф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Для чего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Free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До 10 слайдов за один запрос; стартовые кредиты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Plus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Без бренда Gamma; ежемесячные кредиты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Больше настроек оформления и возможностей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Точную цену проверяем в Gamm">
            <a:extLst xmlns:a="http://schemas.openxmlformats.org/drawingml/2006/main">
              <a:ext uri="{FF2B5EF4-FFF2-40B4-BE49-F238E27FC236}">
                <a16:creationId xmlns:a16="http://schemas.microsoft.com/office/drawing/2014/main" id="{FD0F1391-1804-4A04-B877-325B707E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Точную цену проверяем в Gamma: месяц или год, сумма к оплате.</a:t>
            </a:r>
          </a:p>
        </p:txBody>
      </p:sp>
    </p:spTree>
    <p:extLst>
      <p:ext uri="{BB962C8B-B14F-4D97-AF65-F5344CB8AC3E}">
        <p14:creationId xmlns:p14="http://schemas.microsoft.com/office/powerpoint/2010/main" val="5907664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Месяц и год: как сравнить це">
            <a:extLst xmlns:a="http://schemas.openxmlformats.org/drawingml/2006/main">
              <a:ext uri="{FF2B5EF4-FFF2-40B4-BE49-F238E27FC236}">
                <a16:creationId xmlns:a16="http://schemas.microsoft.com/office/drawing/2014/main" id="{FACA4D56-32FC-44E8-BC98-3D6A70A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Месяц и год: как сравнить цену</a:t>
            </a:r>
          </a:p>
        </p:txBody>
      </p:sp>
      <p:sp>
        <p:nvSpPr>
          <p:cNvPr id="2" name="Plans page 43">
            <a:extLst xmlns:a="http://schemas.openxmlformats.org/drawingml/2006/main">
              <a:ext uri="{FF2B5EF4-FFF2-40B4-BE49-F238E27FC236}">
                <a16:creationId xmlns:a16="http://schemas.microsoft.com/office/drawing/2014/main" id="{B4E3824E-591B-4CDB-9579-F7DA71A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04850" y="1600200"/>
          <a:ext xmlns:a="http://schemas.openxmlformats.org/drawingml/2006/main" cx="1076325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667500"/>
              </a:tblGrid>
              <a:tr h="87312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Perplexity Pro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Сколько списывается</a:t>
                      </a:r>
                    </a:p>
                  </a:txBody>
                  <a:tcPr marL="133350" marR="133350" marT="95250" marB="95250">
                    <a:solidFill>
                      <a:srgbClr val="D6F87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Помесячно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$20 × 12 = $240 за полный год</a:t>
                      </a:r>
                    </a:p>
                  </a:txBody>
                  <a:tcPr marL="133350" marR="133350" marT="95250" marB="95250"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Годовой тариф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72030"/>
                          </a:solidFill>
                          <a:latin typeface="Arial"/>
                          <a:ea typeface="Arial"/>
                          <a:cs typeface="Arial"/>
                        </a:rPr>
                        <a:t>$200 сразу за год</a:t>
                      </a:r>
                    </a:p>
                  </a:txBody>
                  <a:tcPr marL="133350" marR="133350" marT="95250" marB="9525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4" name="Text $200 / 12 ≈ $16,67 в месяц —">
            <a:extLst xmlns:a="http://schemas.openxmlformats.org/drawingml/2006/main">
              <a:ext uri="{FF2B5EF4-FFF2-40B4-BE49-F238E27FC236}">
                <a16:creationId xmlns:a16="http://schemas.microsoft.com/office/drawing/2014/main" id="{13FD46DB-9159-4509-9FE6-8B85157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$200 / 12 ≈ $16,67 в месяц — только пересчёт.</a:t>
            </a:r>
          </a:p>
        </p:txBody>
      </p:sp>
      <p:sp>
        <p:nvSpPr>
          <p:cNvPr id="5" name="Text Нужен один месяц? Сравниваем">
            <a:extLst xmlns:a="http://schemas.openxmlformats.org/drawingml/2006/main">
              <a:ext uri="{FF2B5EF4-FFF2-40B4-BE49-F238E27FC236}">
                <a16:creationId xmlns:a16="http://schemas.microsoft.com/office/drawing/2014/main" id="{DABA8A57-75AD-4523-B65D-DFBA2EB0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Нужен один месяц? Сравниваем расходы $20 и $200.</a:t>
            </a:r>
          </a:p>
        </p:txBody>
      </p:sp>
    </p:spTree>
    <p:extLst>
      <p:ext uri="{BB962C8B-B14F-4D97-AF65-F5344CB8AC3E}">
        <p14:creationId xmlns:p14="http://schemas.microsoft.com/office/powerpoint/2010/main" val="193774943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Выбор подписки без лишних ра">
            <a:extLst xmlns:a="http://schemas.openxmlformats.org/drawingml/2006/main">
              <a:ext uri="{FF2B5EF4-FFF2-40B4-BE49-F238E27FC236}">
                <a16:creationId xmlns:a16="http://schemas.microsoft.com/office/drawing/2014/main" id="{9011D82F-E61D-43B2-868F-9B0235AB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Выбор подписки без лишних расходов</a:t>
            </a:r>
          </a:p>
        </p:txBody>
      </p:sp>
      <p:sp>
        <p:nvSpPr>
          <p:cNvPr id="2" name="Plans page 44">
            <a:extLst xmlns:a="http://schemas.openxmlformats.org/drawingml/2006/main">
              <a:ext uri="{FF2B5EF4-FFF2-40B4-BE49-F238E27FC236}">
                <a16:creationId xmlns:a16="http://schemas.microsoft.com/office/drawing/2014/main" id="{EFA8F1DF-F282-4372-9C30-0B9B3E5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3" name="Text 1. Три свои задачи: что дела">
            <a:extLst xmlns:a="http://schemas.openxmlformats.org/drawingml/2006/main">
              <a:ext uri="{FF2B5EF4-FFF2-40B4-BE49-F238E27FC236}">
                <a16:creationId xmlns:a16="http://schemas.microsoft.com/office/drawing/2014/main" id="{9D2E6475-F420-4A78-815B-C999F5E0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1. Три свои задачи: что делаю и как часто.</a:t>
            </a:r>
          </a:p>
        </p:txBody>
      </p:sp>
      <p:sp>
        <p:nvSpPr>
          <p:cNvPr id="4" name="Text 2. Проба бесплатно: что полу">
            <a:extLst xmlns:a="http://schemas.openxmlformats.org/drawingml/2006/main">
              <a:ext uri="{FF2B5EF4-FFF2-40B4-BE49-F238E27FC236}">
                <a16:creationId xmlns:a16="http://schemas.microsoft.com/office/drawing/2014/main" id="{AB073A73-028A-4808-908C-19208461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2. Проба бесплатно: что получилось, где не хватило.</a:t>
            </a:r>
          </a:p>
        </p:txBody>
      </p:sp>
      <p:sp>
        <p:nvSpPr>
          <p:cNvPr id="5" name="Text 3. Один платный месяц, если ">
            <a:extLst xmlns:a="http://schemas.openxmlformats.org/drawingml/2006/main">
              <a:ext uri="{FF2B5EF4-FFF2-40B4-BE49-F238E27FC236}">
                <a16:creationId xmlns:a16="http://schemas.microsoft.com/office/drawing/2014/main" id="{91DA5F8A-19CA-482B-A540-EEB0E1A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3. Один платный месяц, если нужна конкретная функция.</a:t>
            </a:r>
          </a:p>
        </p:txBody>
      </p:sp>
      <p:sp>
        <p:nvSpPr>
          <p:cNvPr id="6" name="Text 4. Проверка суммы, лимитов и">
            <a:extLst xmlns:a="http://schemas.openxmlformats.org/drawingml/2006/main">
              <a:ext uri="{FF2B5EF4-FFF2-40B4-BE49-F238E27FC236}">
                <a16:creationId xmlns:a16="http://schemas.microsoft.com/office/drawing/2014/main" id="{378AACE4-F51A-442B-A93F-32EA387C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4. Проверка суммы, лимитов и следующего списания.</a:t>
            </a:r>
          </a:p>
        </p:txBody>
      </p:sp>
      <p:sp>
        <p:nvSpPr>
          <p:cNvPr id="7" name="Text В библиотеке: запрос №49 пом">
            <a:extLst xmlns:a="http://schemas.openxmlformats.org/drawingml/2006/main">
              <a:ext uri="{FF2B5EF4-FFF2-40B4-BE49-F238E27FC236}">
                <a16:creationId xmlns:a16="http://schemas.microsoft.com/office/drawing/2014/main" id="{70BA61EE-063E-46B1-9FE4-4B7C04E2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В библиотеке: запрос №49 поможет сравнить ваши варианты.</a:t>
            </a:r>
          </a:p>
        </p:txBody>
      </p:sp>
    </p:spTree>
    <p:extLst>
      <p:ext uri="{BB962C8B-B14F-4D97-AF65-F5344CB8AC3E}">
        <p14:creationId xmlns:p14="http://schemas.microsoft.com/office/powerpoint/2010/main" val="94965697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Свой сайт с помощью ИИ">
            <a:extLst xmlns:a="http://schemas.openxmlformats.org/drawingml/2006/main">
              <a:ext uri="{FF2B5EF4-FFF2-40B4-BE49-F238E27FC236}">
                <a16:creationId xmlns:a16="http://schemas.microsoft.com/office/drawing/2014/main" id="{0969CF46-5434-453F-B4B9-9A90330B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Свой сайт с помощью ИИ</a:t>
            </a:r>
          </a:p>
        </p:txBody>
      </p:sp>
      <p:sp>
        <p:nvSpPr>
          <p:cNvPr id="2" name="Plans page 45">
            <a:extLst xmlns:a="http://schemas.openxmlformats.org/drawingml/2006/main">
              <a:ext uri="{FF2B5EF4-FFF2-40B4-BE49-F238E27FC236}">
                <a16:creationId xmlns:a16="http://schemas.microsoft.com/office/drawing/2014/main" id="{F38E8A6E-DB87-4B37-AB8F-1E216C78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3" name="Text Идея → первый файл → просмот">
            <a:extLst xmlns:a="http://schemas.openxmlformats.org/drawingml/2006/main">
              <a:ext uri="{FF2B5EF4-FFF2-40B4-BE49-F238E27FC236}">
                <a16:creationId xmlns:a16="http://schemas.microsoft.com/office/drawing/2014/main" id="{F6AA09EF-C5F9-47F8-ADD7-52414D33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144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Идея → первый файл → просмотр → конкретная правка</a:t>
            </a:r>
          </a:p>
        </p:txBody>
      </p:sp>
      <p:sp>
        <p:nvSpPr>
          <p:cNvPr id="4" name="Text «Сделай страницу о моём хобб">
            <a:extLst xmlns:a="http://schemas.openxmlformats.org/drawingml/2006/main">
              <a:ext uri="{FF2B5EF4-FFF2-40B4-BE49-F238E27FC236}">
                <a16:creationId xmlns:a16="http://schemas.microsoft.com/office/drawing/2014/main" id="{06B3531B-326B-4D66-9376-B0F6D95F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06680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«Сделай страницу о моём хобби. Крупный текст, три раздела, удобный вид на телефоне. Подготовь один index.html без регистрации и внешних библиотек».</a:t>
            </a:r>
          </a:p>
        </p:txBody>
      </p:sp>
      <p:sp>
        <p:nvSpPr>
          <p:cNvPr id="5" name="Text Локальный файл открывается у">
            <a:extLst xmlns:a="http://schemas.openxmlformats.org/drawingml/2006/main">
              <a:ext uri="{FF2B5EF4-FFF2-40B4-BE49-F238E27FC236}">
                <a16:creationId xmlns:a16="http://schemas.microsoft.com/office/drawing/2014/main" id="{CE8E0BA2-C500-41D7-9007-A3CC0EFA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Локальный файл открывается у вас. Для ссылки нужна публикация.</a:t>
            </a:r>
          </a:p>
        </p:txBody>
      </p:sp>
    </p:spTree>
    <p:extLst>
      <p:ext uri="{BB962C8B-B14F-4D97-AF65-F5344CB8AC3E}">
        <p14:creationId xmlns:p14="http://schemas.microsoft.com/office/powerpoint/2010/main" val="17553856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Помощь ребёнку с уроками">
            <a:extLst xmlns:a="http://schemas.openxmlformats.org/drawingml/2006/main">
              <a:ext uri="{FF2B5EF4-FFF2-40B4-BE49-F238E27FC236}">
                <a16:creationId xmlns:a16="http://schemas.microsoft.com/office/drawing/2014/main" id="{7F2C9DB1-D87B-4FB1-88CB-DEF64134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Помощь ребёнку с уроками</a:t>
            </a:r>
          </a:p>
        </p:txBody>
      </p:sp>
      <p:sp>
        <p:nvSpPr>
          <p:cNvPr id="2" name="Plans page 46">
            <a:extLst xmlns:a="http://schemas.openxmlformats.org/drawingml/2006/main">
              <a:ext uri="{FF2B5EF4-FFF2-40B4-BE49-F238E27FC236}">
                <a16:creationId xmlns:a16="http://schemas.microsoft.com/office/drawing/2014/main" id="{56538142-F6B5-49DA-AA3D-3A536753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3" name="Text Одна ошибка → понятное объяс">
            <a:extLst xmlns:a="http://schemas.openxmlformats.org/drawingml/2006/main">
              <a:ext uri="{FF2B5EF4-FFF2-40B4-BE49-F238E27FC236}">
                <a16:creationId xmlns:a16="http://schemas.microsoft.com/office/drawing/2014/main" id="{6E4FC27C-512D-4BB3-862E-967FB9C0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144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Одна ошибка → понятное объяснение → похожие задачи</a:t>
            </a:r>
          </a:p>
        </p:txBody>
      </p:sp>
      <p:sp>
        <p:nvSpPr>
          <p:cNvPr id="4" name="Text «Создай 30 задач по [тема] д">
            <a:extLst xmlns:a="http://schemas.openxmlformats.org/drawingml/2006/main">
              <a:ext uri="{FF2B5EF4-FFF2-40B4-BE49-F238E27FC236}">
                <a16:creationId xmlns:a16="http://schemas.microsoft.com/office/drawing/2014/main" id="{168D6258-C19F-4DFE-BB2A-110804F2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1066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«Создай 30 задач по [тема] для [класс]: три уровня по 10. Сначала дай первые 10 без ответов. Ключ с решениями — отдельно для родителя».</a:t>
            </a:r>
          </a:p>
        </p:txBody>
      </p:sp>
      <p:sp>
        <p:nvSpPr>
          <p:cNvPr id="5" name="Text Родитель проверяет ключ. Реб">
            <a:extLst xmlns:a="http://schemas.openxmlformats.org/drawingml/2006/main">
              <a:ext uri="{FF2B5EF4-FFF2-40B4-BE49-F238E27FC236}">
                <a16:creationId xmlns:a16="http://schemas.microsoft.com/office/drawing/2014/main" id="{E4F3EC8E-ECA6-4E60-8B7C-6F342BD5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Родитель проверяет ключ. Ребёнок решает по 5–10 задач за раз.</a:t>
            </a:r>
          </a:p>
        </p:txBody>
      </p:sp>
    </p:spTree>
    <p:extLst>
      <p:ext uri="{BB962C8B-B14F-4D97-AF65-F5344CB8AC3E}">
        <p14:creationId xmlns:p14="http://schemas.microsoft.com/office/powerpoint/2010/main" val="159922038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Библиотека из 30 запросов">
            <a:extLst xmlns:a="http://schemas.openxmlformats.org/drawingml/2006/main">
              <a:ext uri="{FF2B5EF4-FFF2-40B4-BE49-F238E27FC236}">
                <a16:creationId xmlns:a16="http://schemas.microsoft.com/office/drawing/2014/main" id="{6EBC079E-CC59-4277-96A5-14B9CEA2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Библиотека из 60 сценариев</a:t>
            </a:r>
          </a:p>
        </p:txBody>
      </p:sp>
      <p:sp>
        <p:nvSpPr>
          <p:cNvPr id="2" name="Text 31">
            <a:extLst xmlns:a="http://schemas.openxmlformats.org/drawingml/2006/main">
              <a:ext uri="{FF2B5EF4-FFF2-40B4-BE49-F238E27FC236}">
                <a16:creationId xmlns:a16="http://schemas.microsoft.com/office/drawing/2014/main" id="{A9E5BFAA-C41A-4290-946F-49C78F6A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3" name="Text AI-library-KZ-RU.html">
            <a:extLst xmlns:a="http://schemas.openxmlformats.org/drawingml/2006/main">
              <a:ext uri="{FF2B5EF4-FFF2-40B4-BE49-F238E27FC236}">
                <a16:creationId xmlns:a16="http://schemas.microsoft.com/office/drawing/2014/main" id="{24458D55-0AE7-4399-A6BB-75F1E80A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AI-library-KZ-RU.html</a:t>
            </a:r>
          </a:p>
        </p:txBody>
      </p:sp>
      <p:sp>
        <p:nvSpPr>
          <p:cNvPr id="4" name="Text Один файл&#10;&#10;Қазақша / Русский">
            <a:extLst xmlns:a="http://schemas.openxmlformats.org/drawingml/2006/main">
              <a:ext uri="{FF2B5EF4-FFF2-40B4-BE49-F238E27FC236}">
                <a16:creationId xmlns:a16="http://schemas.microsoft.com/office/drawing/2014/main" id="{742C37F6-3853-4151-BEFF-962C2BF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Один файл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9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Қазақша / Русский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9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60 готовых запросов</a:t>
            </a:r>
          </a:p>
        </p:txBody>
      </p:sp>
      <p:sp>
        <p:nvSpPr>
          <p:cNvPr id="5" name="Text Выберите язык&#10;и тему в оглав">
            <a:extLst xmlns:a="http://schemas.openxmlformats.org/drawingml/2006/main">
              <a:ext uri="{FF2B5EF4-FFF2-40B4-BE49-F238E27FC236}">
                <a16:creationId xmlns:a16="http://schemas.microsoft.com/office/drawing/2014/main" id="{229C17EF-D799-42D1-96BC-6D752A3F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429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Выберите язык</a:t>
            </a:r>
          </a:p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и тему в оглавлении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Скопируйте запрос</a:t>
            </a:r>
          </a:p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в выбранный сервис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Проверьте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202246562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Что вы повторите завтра">
            <a:extLst xmlns:a="http://schemas.openxmlformats.org/drawingml/2006/main">
              <a:ext uri="{FF2B5EF4-FFF2-40B4-BE49-F238E27FC236}">
                <a16:creationId xmlns:a16="http://schemas.microsoft.com/office/drawing/2014/main" id="{3321B7D9-91E8-4170-AC14-88122AED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30"/>
                </a:solidFill>
                <a:latin typeface="Arial"/>
                <a:ea typeface="Arial"/>
                <a:cs typeface="Arial"/>
              </a:rPr>
              <a:t>Что вы повторите завтра</a:t>
            </a:r>
          </a:p>
        </p:txBody>
      </p:sp>
      <p:sp>
        <p:nvSpPr>
          <p:cNvPr id="2" name="Text 32">
            <a:extLst xmlns:a="http://schemas.openxmlformats.org/drawingml/2006/main">
              <a:ext uri="{FF2B5EF4-FFF2-40B4-BE49-F238E27FC236}">
                <a16:creationId xmlns:a16="http://schemas.microsoft.com/office/drawing/2014/main" id="{DA552AD7-5032-4646-A8D5-48B29917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3" name="Text Одна задача.&#10;Свой запрос.&#10;Пр">
            <a:extLst xmlns:a="http://schemas.openxmlformats.org/drawingml/2006/main">
              <a:ext uri="{FF2B5EF4-FFF2-40B4-BE49-F238E27FC236}">
                <a16:creationId xmlns:a16="http://schemas.microsoft.com/office/drawing/2014/main" id="{814F2AFA-D075-4CFF-B286-4D9EFEC4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0668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8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Одна задача.</a:t>
            </a:r>
          </a:p>
          <a:p xmlns:a="http://schemas.openxmlformats.org/drawingml/2006/main">
            <a:pPr>
              <a:buNone/>
              <a:defRPr sz="38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Свой запрос.</a:t>
            </a:r>
          </a:p>
          <a:p xmlns:a="http://schemas.openxmlformats.org/drawingml/2006/main">
            <a:pPr>
              <a:buNone/>
              <a:defRPr sz="3825" b="1">
                <a:solidFill>
                  <a:srgbClr val="456B24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456B24"/>
                </a:solidFill>
                <a:latin typeface="Arial"/>
                <a:ea typeface="Arial"/>
                <a:cs typeface="Arial"/>
              </a:rPr>
              <a:t>Проверенный результат.</a:t>
            </a:r>
          </a:p>
        </p:txBody>
      </p:sp>
      <p:sp>
        <p:nvSpPr>
          <p:cNvPr id="4" name="Text С вами остаются презентация ">
            <a:extLst xmlns:a="http://schemas.openxmlformats.org/drawingml/2006/main">
              <a:ext uri="{FF2B5EF4-FFF2-40B4-BE49-F238E27FC236}">
                <a16:creationId xmlns:a16="http://schemas.microsoft.com/office/drawing/2014/main" id="{DD9A5B5B-CB86-4BBC-8E7E-5896FF1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С вами остаются презентация и библиотека.</a:t>
            </a:r>
          </a:p>
          <a:p xmlns:a="http://schemas.openxmlformats.org/drawingml/2006/main">
            <a:pPr>
              <a:buNone/>
              <a:defRPr sz="2325" b="0">
                <a:solidFill>
                  <a:srgbClr val="1720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30"/>
                </a:solidFill>
                <a:latin typeface="Arial"/>
                <a:ea typeface="Arial"/>
                <a:cs typeface="Arial"/>
              </a:rPr>
              <a:t>Подробная практика продолжится на вебинаре.</a:t>
            </a:r>
          </a:p>
        </p:txBody>
      </p:sp>
    </p:spTree>
    <p:extLst>
      <p:ext uri="{BB962C8B-B14F-4D97-AF65-F5344CB8AC3E}">
        <p14:creationId xmlns:p14="http://schemas.microsoft.com/office/powerpoint/2010/main" val="78885546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10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terials title">
            <a:extLst xmlns:a="http://schemas.openxmlformats.org/drawingml/2006/main">
              <a:ext uri="{FF2B5EF4-FFF2-40B4-BE49-F238E27FC236}">
                <a16:creationId xmlns:a16="http://schemas.microsoft.com/office/drawing/2014/main" id="{9749AE14-9FAB-4374-AE1E-F9F79778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6F1"/>
                </a:solidFill>
                <a:latin typeface="Arial"/>
                <a:ea typeface="Arial"/>
                <a:cs typeface="Arial"/>
              </a:rPr>
              <a:t>Материалы мастер-класса</a:t>
            </a:r>
          </a:p>
        </p:txBody>
      </p:sp>
      <p:sp>
        <p:nvSpPr>
          <p:cNvPr id="2" name="Materials Презентации на двух язык">
            <a:extLst xmlns:a="http://schemas.openxmlformats.org/drawingml/2006/main">
              <a:ext uri="{FF2B5EF4-FFF2-40B4-BE49-F238E27FC236}">
                <a16:creationId xmlns:a16="http://schemas.microsoft.com/office/drawing/2014/main" id="{0CC6AE7A-A865-4406-AE90-DA94723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6F879"/>
                </a:solidFill>
                <a:latin typeface="Arial"/>
                <a:ea typeface="Arial"/>
                <a:cs typeface="Arial"/>
              </a:rPr>
              <a:t>Презентации на двух языках</a:t>
            </a:r>
          </a:p>
        </p:txBody>
      </p:sp>
      <p:sp>
        <p:nvSpPr>
          <p:cNvPr id="3" name="Materials Библиотека из 60 сценари">
            <a:extLst xmlns:a="http://schemas.openxmlformats.org/drawingml/2006/main">
              <a:ext uri="{FF2B5EF4-FFF2-40B4-BE49-F238E27FC236}">
                <a16:creationId xmlns:a16="http://schemas.microsoft.com/office/drawing/2014/main" id="{AB7998B7-D39C-41D7-9129-7A0543B5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Библиотека из 60 сценариев</a:t>
            </a:r>
          </a:p>
        </p:txBody>
      </p:sp>
      <p:sp>
        <p:nvSpPr>
          <p:cNvPr id="4" name="Materials Учебные файлы Excel и Wo">
            <a:extLst xmlns:a="http://schemas.openxmlformats.org/drawingml/2006/main">
              <a:ext uri="{FF2B5EF4-FFF2-40B4-BE49-F238E27FC236}">
                <a16:creationId xmlns:a16="http://schemas.microsoft.com/office/drawing/2014/main" id="{E5F3D6C4-1D8B-4255-B55F-20EB57D3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Учебные файлы Excel и Word</a:t>
            </a:r>
          </a:p>
        </p:txBody>
      </p:sp>
      <p:sp>
        <p:nvSpPr>
          <p:cNvPr id="5" name="Materials Инструкция для практики">
            <a:extLst xmlns:a="http://schemas.openxmlformats.org/drawingml/2006/main">
              <a:ext uri="{FF2B5EF4-FFF2-40B4-BE49-F238E27FC236}">
                <a16:creationId xmlns:a16="http://schemas.microsoft.com/office/drawing/2014/main" id="{EF28FEF1-2C59-4491-8BCD-B85A11A8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6F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6F1"/>
                </a:solidFill>
                <a:latin typeface="Arial"/>
                <a:ea typeface="Arial"/>
                <a:cs typeface="Arial"/>
              </a:rPr>
              <a:t>Инструкция для практики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544cc3c0d40f0"/>
          <a:stretch xmlns:a="http://schemas.openxmlformats.org/drawingml/2006/main"/>
        </p:blipFill>
        <p:spPr>
          <a:xfrm xmlns:a="http://schemas.openxmlformats.org/drawingml/2006/main">
            <a:off x="8029575" y="145732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Scan QR">
            <a:extLst xmlns:a="http://schemas.openxmlformats.org/drawingml/2006/main">
              <a:ext uri="{FF2B5EF4-FFF2-40B4-BE49-F238E27FC236}">
                <a16:creationId xmlns:a16="http://schemas.microsoft.com/office/drawing/2014/main" id="{C258AEA5-4006-4E97-8166-7F4ACBD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00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DC7D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DC7D4"/>
                </a:solidFill>
                <a:latin typeface="Arial"/>
                <a:ea typeface="Arial"/>
                <a:cs typeface="Arial"/>
              </a:rPr>
              <a:t>Наведите камеру телефона</a:t>
            </a:r>
          </a:p>
        </p:txBody>
      </p:sp>
      <p:sp>
        <p:nvSpPr>
          <p:cNvPr id="8" name="Website URL">
            <a:extLst xmlns:a="http://schemas.openxmlformats.org/drawingml/2006/main">
              <a:ext uri="{FF2B5EF4-FFF2-40B4-BE49-F238E27FC236}">
                <a16:creationId xmlns:a16="http://schemas.microsoft.com/office/drawing/2014/main" id="{DEDA30C9-0E26-4291-ACAD-B21CFA8F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D6F8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F879"/>
                </a:solidFill>
                <a:latin typeface="Arial"/>
                <a:ea typeface="Arial"/>
                <a:cs typeface="Arial"/>
              </a:rPr>
              <a:t>nursultannurmukhamet.github.io/ai-masterclass-materials/</a:t>
            </a:r>
          </a:p>
        </p:txBody>
      </p:sp>
      <p:sp>
        <p:nvSpPr>
          <p:cNvPr id="9" name="Materials page 50">
            <a:extLst xmlns:a="http://schemas.openxmlformats.org/drawingml/2006/main">
              <a:ext uri="{FF2B5EF4-FFF2-40B4-BE49-F238E27FC236}">
                <a16:creationId xmlns:a16="http://schemas.microsoft.com/office/drawing/2014/main" id="{D849D381-30B8-43DA-A1E0-BD69295E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DC7D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C7D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480802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2026-09-16T11:18:11.2290000Z</dcterms:created>
  <dcterms:modified xsi:type="dcterms:W3CDTF">2026-09-16T11:18:11.2290000Z</dcterms:modified>
</coreProperties>
</file>