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318" r:id="rId10"/>
    <p:sldId id="265" r:id="rId11"/>
    <p:sldId id="266" r:id="rId12"/>
    <p:sldId id="267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10" r:id="rId54"/>
    <p:sldId id="311" r:id="rId55"/>
    <p:sldId id="312" r:id="rId56"/>
    <p:sldId id="313" r:id="rId57"/>
    <p:sldId id="314" r:id="rId58"/>
    <p:sldId id="315" r:id="rId59"/>
    <p:sldId id="317" r:id="rId60"/>
  </p:sldIdLst>
  <p:sldSz cx="12192000" cy="6858000"/>
  <p:notesSz cx="6858000" cy="9144000"/>
  <p:defaultTextStyle>
    <a:defPPr>
      <a:defRPr lang="ru-K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938"/>
    <p:restoredTop sz="94643"/>
  </p:normalViewPr>
  <p:slideViewPr>
    <p:cSldViewPr snapToGrid="0">
      <p:cViewPr varScale="1">
        <p:scale>
          <a:sx n="88" d="100"/>
          <a:sy n="88" d="100"/>
        </p:scale>
        <p:origin x="184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Сұрауды көшіріп, сервиске енгізіңіз. Хаттың кімге және кімнен екені берілмегендіктен, ЖИ оларды ойдан қоспауға тиіс.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rcRect l="24987" r="24987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43BA72D-758C-442A-AE47-E52F8126B65D}"/>
              </a:ext>
            </a:extLst>
          </p:cNvPr>
          <p:cNvSpPr>
            <a:spLocks noGrp="1"/>
          </p:cNvSpPr>
          <p:nvPr/>
        </p:nvSpPr>
        <p:spPr>
          <a:xfrm>
            <a:off x="704850" y="428625"/>
            <a:ext cx="247650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619"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E15B234-DF74-4817-AE2B-7DEAC1887B62}"/>
              </a:ext>
            </a:extLst>
          </p:cNvPr>
          <p:cNvSpPr>
            <a:spLocks noGrp="1"/>
          </p:cNvSpPr>
          <p:nvPr/>
        </p:nvSpPr>
        <p:spPr>
          <a:xfrm>
            <a:off x="704850" y="2000250"/>
            <a:ext cx="571500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524"/>
          </a:bodyPr>
          <a:lstStyle/>
          <a:p>
            <a:pPr algn="l"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Күнделікті өмірге және</a:t>
            </a:r>
          </a:p>
          <a:p>
            <a:pPr algn="l"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жұмысқа арналған ЖИ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C1A9277-A497-4928-A747-6F47FA471125}"/>
              </a:ext>
            </a:extLst>
          </p:cNvPr>
          <p:cNvSpPr>
            <a:spLocks noGrp="1"/>
          </p:cNvSpPr>
          <p:nvPr/>
        </p:nvSpPr>
        <p:spPr>
          <a:xfrm>
            <a:off x="704850" y="3667125"/>
            <a:ext cx="54292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endParaRPr sz="1650" b="0" dirty="0">
              <a:solidFill>
                <a:srgbClr val="B8F238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B0BA5F5-7D5F-4EC7-94E5-F0A714568374}"/>
              </a:ext>
            </a:extLst>
          </p:cNvPr>
          <p:cNvSpPr>
            <a:spLocks noGrp="1"/>
          </p:cNvSpPr>
          <p:nvPr/>
        </p:nvSpPr>
        <p:spPr>
          <a:xfrm>
            <a:off x="704850" y="5857875"/>
            <a:ext cx="5334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Шымкент</a:t>
            </a:r>
            <a:r>
              <a:rPr sz="1200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· 21 </a:t>
            </a:r>
            <a:r>
              <a:rPr sz="1200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қыркүйек</a:t>
            </a:r>
            <a:r>
              <a:rPr sz="1200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2026 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DE10ADD-1DEC-4719-A363-244B582465A5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938832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33CA0A1-E43F-4A87-BF11-B8B0A87550B1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22B10B5-0F9D-4D60-8E3B-D4E0227005AE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Тренермен танысу</a:t>
            </a: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rcRect t="71" b="71"/>
          <a:stretch>
            <a:fillRect/>
          </a:stretch>
        </p:blipFill>
        <p:spPr>
          <a:xfrm>
            <a:off x="704850" y="1524000"/>
            <a:ext cx="3333750" cy="4438650"/>
          </a:xfrm>
          <a:prstGeom prst="roundRect">
            <a:avLst>
              <a:gd name="adj" fmla="val 5143"/>
            </a:avLst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1A23A4F-C32E-4D46-949E-A93884BBCA66}"/>
              </a:ext>
            </a:extLst>
          </p:cNvPr>
          <p:cNvSpPr>
            <a:spLocks noGrp="1"/>
          </p:cNvSpPr>
          <p:nvPr/>
        </p:nvSpPr>
        <p:spPr>
          <a:xfrm>
            <a:off x="4572000" y="1809750"/>
            <a:ext cx="60960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333"/>
          </a:bodyPr>
          <a:lstStyle/>
          <a:p>
            <a:pPr algn="l">
              <a:defRPr sz="22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Дүйсенбекқызы Жансая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BB10E15-C921-4CC1-9CB6-A956576627A4}"/>
              </a:ext>
            </a:extLst>
          </p:cNvPr>
          <p:cNvSpPr>
            <a:spLocks noGrp="1"/>
          </p:cNvSpPr>
          <p:nvPr/>
        </p:nvSpPr>
        <p:spPr>
          <a:xfrm>
            <a:off x="4572000" y="2305050"/>
            <a:ext cx="4762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PhD · Assistant Professor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7C70779-E210-4818-9E62-7E14311D5E83}"/>
              </a:ext>
            </a:extLst>
          </p:cNvPr>
          <p:cNvSpPr>
            <a:spLocks noGrp="1"/>
          </p:cNvSpPr>
          <p:nvPr/>
        </p:nvSpPr>
        <p:spPr>
          <a:xfrm>
            <a:off x="4572000" y="2905125"/>
            <a:ext cx="59055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454" lnSpcReduction="10000"/>
          </a:bodyPr>
          <a:lstStyle/>
          <a:p>
            <a:pPr algn="l">
              <a:def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Жасанды интеллект саласындағы зерттеуші және оқытушы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9D8292E-6309-4A5C-8E90-F74F6430F165}"/>
              </a:ext>
            </a:extLst>
          </p:cNvPr>
          <p:cNvSpPr>
            <a:spLocks noGrp="1"/>
          </p:cNvSpPr>
          <p:nvPr/>
        </p:nvSpPr>
        <p:spPr>
          <a:xfrm>
            <a:off x="4572000" y="3714750"/>
            <a:ext cx="2667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437"/>
          </a:bodyPr>
          <a:lstStyle/>
          <a:p>
            <a:pPr algn="l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53B08F7-F5B9-48CC-A38E-35134E0BABC0}"/>
              </a:ext>
            </a:extLst>
          </p:cNvPr>
          <p:cNvSpPr>
            <a:spLocks noGrp="1"/>
          </p:cNvSpPr>
          <p:nvPr/>
        </p:nvSpPr>
        <p:spPr>
          <a:xfrm>
            <a:off x="4933950" y="3714750"/>
            <a:ext cx="58293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NLP: табиғи тілді өңдеу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0748F8F-9487-4A2A-8D3A-AFD6D11EF05D}"/>
              </a:ext>
            </a:extLst>
          </p:cNvPr>
          <p:cNvSpPr>
            <a:spLocks noGrp="1"/>
          </p:cNvSpPr>
          <p:nvPr/>
        </p:nvSpPr>
        <p:spPr>
          <a:xfrm>
            <a:off x="4572000" y="4286250"/>
            <a:ext cx="2667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437"/>
          </a:bodyPr>
          <a:lstStyle/>
          <a:p>
            <a:pPr algn="l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084DA95-E47A-4DCA-ABC3-FAA170294F85}"/>
              </a:ext>
            </a:extLst>
          </p:cNvPr>
          <p:cNvSpPr>
            <a:spLocks noGrp="1"/>
          </p:cNvSpPr>
          <p:nvPr/>
        </p:nvSpPr>
        <p:spPr>
          <a:xfrm>
            <a:off x="4933950" y="4286250"/>
            <a:ext cx="58293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ASR: сөйлеуді автоматты тану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C60C5BC-40ED-416A-9411-8B49F4C6FA04}"/>
              </a:ext>
            </a:extLst>
          </p:cNvPr>
          <p:cNvSpPr>
            <a:spLocks noGrp="1"/>
          </p:cNvSpPr>
          <p:nvPr/>
        </p:nvSpPr>
        <p:spPr>
          <a:xfrm>
            <a:off x="4572000" y="4857750"/>
            <a:ext cx="2667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437"/>
          </a:bodyPr>
          <a:lstStyle/>
          <a:p>
            <a:pPr algn="l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3679A2E-567E-41B6-B9E5-ABD6E380F99F}"/>
              </a:ext>
            </a:extLst>
          </p:cNvPr>
          <p:cNvSpPr>
            <a:spLocks noGrp="1"/>
          </p:cNvSpPr>
          <p:nvPr/>
        </p:nvSpPr>
        <p:spPr>
          <a:xfrm>
            <a:off x="4933950" y="4857750"/>
            <a:ext cx="58293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ЖИ құралдарын білімде және жұмыста қолдану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22F4EE0-BD53-40BF-B0B8-E7856B013CF3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51488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9CB16B1-84C8-4A51-AA5B-50FC7EB4AFE2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8CEF73D-181D-4A6D-8C9D-60499933F510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Мастер-класс нәтижесі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D7DD736-9B10-47D8-839B-FA8076ED9673}"/>
              </a:ext>
            </a:extLst>
          </p:cNvPr>
          <p:cNvSpPr>
            <a:spLocks noGrp="1"/>
          </p:cNvSpPr>
          <p:nvPr/>
        </p:nvSpPr>
        <p:spPr>
          <a:xfrm>
            <a:off x="876300" y="1476375"/>
            <a:ext cx="266700" cy="819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750"/>
          </a:bodyPr>
          <a:lstStyle/>
          <a:p>
            <a:pPr algn="l"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D106F33-0FEC-44A7-BE3E-D3C69D843797}"/>
              </a:ext>
            </a:extLst>
          </p:cNvPr>
          <p:cNvSpPr>
            <a:spLocks noGrp="1"/>
          </p:cNvSpPr>
          <p:nvPr/>
        </p:nvSpPr>
        <p:spPr>
          <a:xfrm>
            <a:off x="1238250" y="1476375"/>
            <a:ext cx="9925050" cy="819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ЖИ-ге қауіпсіз және нақты тапсырма беру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D6C70B4-B0FB-41CA-A649-2419CD305120}"/>
              </a:ext>
            </a:extLst>
          </p:cNvPr>
          <p:cNvSpPr>
            <a:spLocks noGrp="1"/>
          </p:cNvSpPr>
          <p:nvPr/>
        </p:nvSpPr>
        <p:spPr>
          <a:xfrm>
            <a:off x="876300" y="2295525"/>
            <a:ext cx="266700" cy="819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750"/>
          </a:bodyPr>
          <a:lstStyle/>
          <a:p>
            <a:pPr algn="l"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1417A51-485D-407A-BC7E-BAEE3143A083}"/>
              </a:ext>
            </a:extLst>
          </p:cNvPr>
          <p:cNvSpPr>
            <a:spLocks noGrp="1"/>
          </p:cNvSpPr>
          <p:nvPr/>
        </p:nvSpPr>
        <p:spPr>
          <a:xfrm>
            <a:off x="1238250" y="2295525"/>
            <a:ext cx="9925050" cy="819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Қызметтік хат пен хаттаманы жылдам дайындау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F6F3069-052E-4A11-A3B8-75923BF40AAE}"/>
              </a:ext>
            </a:extLst>
          </p:cNvPr>
          <p:cNvSpPr>
            <a:spLocks noGrp="1"/>
          </p:cNvSpPr>
          <p:nvPr/>
        </p:nvSpPr>
        <p:spPr>
          <a:xfrm>
            <a:off x="876300" y="3114675"/>
            <a:ext cx="266700" cy="819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750"/>
          </a:bodyPr>
          <a:lstStyle/>
          <a:p>
            <a:pPr algn="l"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8E51BEB-80EE-4F7C-BEBF-E1FF9E70EEBF}"/>
              </a:ext>
            </a:extLst>
          </p:cNvPr>
          <p:cNvSpPr>
            <a:spLocks noGrp="1"/>
          </p:cNvSpPr>
          <p:nvPr/>
        </p:nvSpPr>
        <p:spPr>
          <a:xfrm>
            <a:off x="1238250" y="3114675"/>
            <a:ext cx="9925050" cy="819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Excel және мәтіндік деректерден мәселені табу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4C61D13-4620-4EA2-AE4F-1EDBCF95EAB1}"/>
              </a:ext>
            </a:extLst>
          </p:cNvPr>
          <p:cNvSpPr>
            <a:spLocks noGrp="1"/>
          </p:cNvSpPr>
          <p:nvPr/>
        </p:nvSpPr>
        <p:spPr>
          <a:xfrm>
            <a:off x="876300" y="3933825"/>
            <a:ext cx="266700" cy="819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750"/>
          </a:bodyPr>
          <a:lstStyle/>
          <a:p>
            <a:pPr algn="l"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1E92607-A22C-4DAE-93D7-FC0E85B83467}"/>
              </a:ext>
            </a:extLst>
          </p:cNvPr>
          <p:cNvSpPr>
            <a:spLocks noGrp="1"/>
          </p:cNvSpPr>
          <p:nvPr/>
        </p:nvSpPr>
        <p:spPr>
          <a:xfrm>
            <a:off x="1238250" y="3933825"/>
            <a:ext cx="9925050" cy="819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Нәтижені тексеріп, жұмысқа жарамды нұсқаға жеткізу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71537A96-2C33-4C7F-9749-FB260164E551}"/>
              </a:ext>
            </a:extLst>
          </p:cNvPr>
          <p:cNvSpPr>
            <a:spLocks noGrp="1"/>
          </p:cNvSpPr>
          <p:nvPr/>
        </p:nvSpPr>
        <p:spPr>
          <a:xfrm>
            <a:off x="876300" y="4752975"/>
            <a:ext cx="266700" cy="819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750"/>
          </a:bodyPr>
          <a:lstStyle/>
          <a:p>
            <a:pPr algn="l"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C08360B-0DE2-4E59-95DC-B9AC38F816F8}"/>
              </a:ext>
            </a:extLst>
          </p:cNvPr>
          <p:cNvSpPr>
            <a:spLocks noGrp="1"/>
          </p:cNvSpPr>
          <p:nvPr/>
        </p:nvSpPr>
        <p:spPr>
          <a:xfrm>
            <a:off x="1238250" y="4752975"/>
            <a:ext cx="9925050" cy="819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Өзіңіздің бір міндетіңіз бойынша дайын нәтиже алу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32BDB02-1407-4051-B4A1-AB20065C9319}"/>
              </a:ext>
            </a:extLst>
          </p:cNvPr>
          <p:cNvSpPr>
            <a:spLocks noGrp="1"/>
          </p:cNvSpPr>
          <p:nvPr/>
        </p:nvSpPr>
        <p:spPr>
          <a:xfrm>
            <a:off x="876300" y="5810250"/>
            <a:ext cx="10287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Соңында әр қатысушы бір нақты жұмыс нәтижесін сақтайды.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52CE781-46D6-49DD-9B8A-0AD16B77D66A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106439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D608398-324B-46E9-90F5-734BBA8AF9B2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BF9C089-16CD-494C-AD51-93C60D403B92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Жасанды интеллект деген не?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540EABE-CEA0-4ECB-BAC7-59FD12D3F00B}"/>
              </a:ext>
            </a:extLst>
          </p:cNvPr>
          <p:cNvSpPr>
            <a:spLocks noGrp="1"/>
          </p:cNvSpPr>
          <p:nvPr/>
        </p:nvSpPr>
        <p:spPr>
          <a:xfrm>
            <a:off x="704850" y="1381125"/>
            <a:ext cx="10763250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ЖИ мәтін, сурет, дыбыс және деректерді талдап, адамның тапсырмасы бойынша жауап немесе материал дайындайды.</a:t>
            </a:r>
          </a:p>
        </p:txBody>
      </p:sp>
      <p:graphicFrame>
        <p:nvGraphicFramePr>
          <p:cNvPr id="9" name="Таблица 8"/>
          <p:cNvGraphicFramePr/>
          <p:nvPr/>
        </p:nvGraphicFramePr>
        <p:xfrm>
          <a:off x="704850" y="2714625"/>
          <a:ext cx="10763250" cy="2667000"/>
        </p:xfrm>
        <a:graphic>
          <a:graphicData uri="http://schemas.openxmlformats.org/drawingml/2006/table">
            <a:tbl>
              <a:tblPr/>
              <a:tblGrid>
                <a:gridCol w="2000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Кіріс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ЖИ не істейді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Нәтиже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Мәтін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Мағынаны талдайды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Хат, қысқаша мазмұн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Кесте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Үлгілер мен қателерді табады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Есеп, тексеру тізімі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Фото немесе файл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Мазмұнын таниды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Түсіндіру, сұрақтар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Нұсқау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Жаңа материал құрастырады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Слайд, тест, жоспар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D2858F5-8F73-4E6B-A321-9993F73E96AE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87097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E10DE011-6468-4337-8EB1-00FCF5BBC491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3EDB5E4-6454-4F18-AABB-96283C2B3103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ЖИ-мен жұмыс барысы</a:t>
            </a: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F8A607DB-DE59-4E29-A81A-3E3D569E5D1D}"/>
              </a:ext>
            </a:extLst>
          </p:cNvPr>
          <p:cNvSpPr>
            <a:spLocks noGrp="1"/>
          </p:cNvSpPr>
          <p:nvPr/>
        </p:nvSpPr>
        <p:spPr>
          <a:xfrm>
            <a:off x="704850" y="2286000"/>
            <a:ext cx="1809750" cy="128587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7DCCF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567A10F-56CF-48B9-AD67-88A4C9B680E3}"/>
              </a:ext>
            </a:extLst>
          </p:cNvPr>
          <p:cNvSpPr>
            <a:spLocks noGrp="1"/>
          </p:cNvSpPr>
          <p:nvPr/>
        </p:nvSpPr>
        <p:spPr>
          <a:xfrm>
            <a:off x="895350" y="2428875"/>
            <a:ext cx="381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 lnSpcReduction="10000"/>
          </a:bodyPr>
          <a:lstStyle/>
          <a:p>
            <a:pPr algn="l"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68A19B-F3F2-4B28-85C4-4F8AC1A9DF8A}"/>
              </a:ext>
            </a:extLst>
          </p:cNvPr>
          <p:cNvSpPr>
            <a:spLocks noGrp="1"/>
          </p:cNvSpPr>
          <p:nvPr/>
        </p:nvSpPr>
        <p:spPr>
          <a:xfrm>
            <a:off x="895350" y="2809875"/>
            <a:ext cx="14287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Міндет</a:t>
            </a: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8F102061-5B97-4FDD-BB23-115AF637F209}"/>
              </a:ext>
            </a:extLst>
          </p:cNvPr>
          <p:cNvSpPr>
            <a:spLocks noGrp="1"/>
          </p:cNvSpPr>
          <p:nvPr/>
        </p:nvSpPr>
        <p:spPr>
          <a:xfrm>
            <a:off x="2895600" y="2286000"/>
            <a:ext cx="1809750" cy="128587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7DCCF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373FE9A-D819-4030-BF47-07EE1B5B4FB5}"/>
              </a:ext>
            </a:extLst>
          </p:cNvPr>
          <p:cNvSpPr>
            <a:spLocks noGrp="1"/>
          </p:cNvSpPr>
          <p:nvPr/>
        </p:nvSpPr>
        <p:spPr>
          <a:xfrm>
            <a:off x="3086100" y="2428875"/>
            <a:ext cx="381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 lnSpcReduction="10000"/>
          </a:bodyPr>
          <a:lstStyle/>
          <a:p>
            <a:pPr algn="l"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5400E83-8D1B-46EE-8EB2-D6635679F4ED}"/>
              </a:ext>
            </a:extLst>
          </p:cNvPr>
          <p:cNvSpPr>
            <a:spLocks noGrp="1"/>
          </p:cNvSpPr>
          <p:nvPr/>
        </p:nvSpPr>
        <p:spPr>
          <a:xfrm>
            <a:off x="3086100" y="2809875"/>
            <a:ext cx="14287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485" lnSpcReduction="10000"/>
          </a:bodyPr>
          <a:lstStyle/>
          <a:p>
            <a:pPr algn="ctr"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Нақты сұрау</a:t>
            </a: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41ED5F2-638F-4090-AEB3-B52B9D413E2C}"/>
              </a:ext>
            </a:extLst>
          </p:cNvPr>
          <p:cNvSpPr>
            <a:spLocks noGrp="1"/>
          </p:cNvSpPr>
          <p:nvPr/>
        </p:nvSpPr>
        <p:spPr>
          <a:xfrm>
            <a:off x="5086350" y="2286000"/>
            <a:ext cx="1809750" cy="128587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7DCCF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739ECB3-D3E8-48F9-BDFA-476981F73870}"/>
              </a:ext>
            </a:extLst>
          </p:cNvPr>
          <p:cNvSpPr>
            <a:spLocks noGrp="1"/>
          </p:cNvSpPr>
          <p:nvPr/>
        </p:nvSpPr>
        <p:spPr>
          <a:xfrm>
            <a:off x="5276850" y="2428875"/>
            <a:ext cx="381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 lnSpcReduction="10000"/>
          </a:bodyPr>
          <a:lstStyle/>
          <a:p>
            <a:pPr algn="l"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DC68703-354E-447D-98BB-2DAA1287BCE1}"/>
              </a:ext>
            </a:extLst>
          </p:cNvPr>
          <p:cNvSpPr>
            <a:spLocks noGrp="1"/>
          </p:cNvSpPr>
          <p:nvPr/>
        </p:nvSpPr>
        <p:spPr>
          <a:xfrm>
            <a:off x="5276850" y="2809875"/>
            <a:ext cx="14287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485" lnSpcReduction="10000"/>
          </a:bodyPr>
          <a:lstStyle/>
          <a:p>
            <a:pPr algn="ctr"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ЖИ жауабы</a:t>
            </a: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5916A06A-CE47-441D-8B12-4FE0B80B4342}"/>
              </a:ext>
            </a:extLst>
          </p:cNvPr>
          <p:cNvSpPr>
            <a:spLocks noGrp="1"/>
          </p:cNvSpPr>
          <p:nvPr/>
        </p:nvSpPr>
        <p:spPr>
          <a:xfrm>
            <a:off x="7277100" y="2286000"/>
            <a:ext cx="1809750" cy="128587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7DCCF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ED27876-2B88-4E18-9298-69B98E4EEB69}"/>
              </a:ext>
            </a:extLst>
          </p:cNvPr>
          <p:cNvSpPr>
            <a:spLocks noGrp="1"/>
          </p:cNvSpPr>
          <p:nvPr/>
        </p:nvSpPr>
        <p:spPr>
          <a:xfrm>
            <a:off x="7467600" y="2428875"/>
            <a:ext cx="381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 lnSpcReduction="10000"/>
          </a:bodyPr>
          <a:lstStyle/>
          <a:p>
            <a:pPr algn="l"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7D1A46C-8FC3-45FA-A25C-5C7977972D96}"/>
              </a:ext>
            </a:extLst>
          </p:cNvPr>
          <p:cNvSpPr>
            <a:spLocks noGrp="1"/>
          </p:cNvSpPr>
          <p:nvPr/>
        </p:nvSpPr>
        <p:spPr>
          <a:xfrm>
            <a:off x="7467600" y="2809875"/>
            <a:ext cx="14287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485" lnSpcReduction="10000"/>
          </a:bodyPr>
          <a:lstStyle/>
          <a:p>
            <a:pPr algn="ctr"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Адам тексереді</a:t>
            </a: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91CE7D0B-435B-4326-AF21-E67F85DED137}"/>
              </a:ext>
            </a:extLst>
          </p:cNvPr>
          <p:cNvSpPr>
            <a:spLocks noGrp="1"/>
          </p:cNvSpPr>
          <p:nvPr/>
        </p:nvSpPr>
        <p:spPr>
          <a:xfrm>
            <a:off x="9467850" y="2286000"/>
            <a:ext cx="1809750" cy="1285875"/>
          </a:xfrm>
          <a:prstGeom prst="roundRect">
            <a:avLst>
              <a:gd name="adj" fmla="val 13333"/>
            </a:avLst>
          </a:prstGeom>
          <a:solidFill>
            <a:srgbClr val="B8F238"/>
          </a:solidFill>
          <a:ln w="9525">
            <a:solidFill>
              <a:srgbClr val="D7DCCF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0D41579-E93F-4520-9241-C6995D8CC7C6}"/>
              </a:ext>
            </a:extLst>
          </p:cNvPr>
          <p:cNvSpPr>
            <a:spLocks noGrp="1"/>
          </p:cNvSpPr>
          <p:nvPr/>
        </p:nvSpPr>
        <p:spPr>
          <a:xfrm>
            <a:off x="9658350" y="2428875"/>
            <a:ext cx="381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 lnSpcReduction="10000"/>
          </a:bodyPr>
          <a:lstStyle/>
          <a:p>
            <a:pPr algn="l"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255BE04-823E-40AC-BEBF-FE776403E6C0}"/>
              </a:ext>
            </a:extLst>
          </p:cNvPr>
          <p:cNvSpPr>
            <a:spLocks noGrp="1"/>
          </p:cNvSpPr>
          <p:nvPr/>
        </p:nvSpPr>
        <p:spPr>
          <a:xfrm>
            <a:off x="9658350" y="2809875"/>
            <a:ext cx="14287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485" lnSpcReduction="10000"/>
          </a:bodyPr>
          <a:lstStyle/>
          <a:p>
            <a:pPr algn="ctr"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Дайын нәтиже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DA40FCB-53AB-4E0B-939F-3C417CC87AAF}"/>
              </a:ext>
            </a:extLst>
          </p:cNvPr>
          <p:cNvSpPr>
            <a:spLocks noGrp="1"/>
          </p:cNvSpPr>
          <p:nvPr/>
        </p:nvSpPr>
        <p:spPr>
          <a:xfrm>
            <a:off x="704850" y="4286250"/>
            <a:ext cx="107632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Соңғы шешім мен жауапкершілік әрдайым адамда қалады.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D093622-3FA7-4480-80B4-0FE4329DD55B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2012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78E21AD7-1FA4-4E57-A840-66082F2E73B2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2B15B0D-ABE5-4CE2-A879-28284AE4FEC1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ЖИ-дің мүмкіндігі және шектеуі</a:t>
            </a: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C8C4C8C7-0609-4F2E-931F-0026323C9BBB}"/>
              </a:ext>
            </a:extLst>
          </p:cNvPr>
          <p:cNvSpPr>
            <a:spLocks noGrp="1"/>
          </p:cNvSpPr>
          <p:nvPr/>
        </p:nvSpPr>
        <p:spPr>
          <a:xfrm>
            <a:off x="704850" y="1524000"/>
            <a:ext cx="5095875" cy="371475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7DCCF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38988772-9F1D-4741-8C27-122D1BD8508F}"/>
              </a:ext>
            </a:extLst>
          </p:cNvPr>
          <p:cNvSpPr>
            <a:spLocks noGrp="1"/>
          </p:cNvSpPr>
          <p:nvPr/>
        </p:nvSpPr>
        <p:spPr>
          <a:xfrm>
            <a:off x="6372225" y="1524000"/>
            <a:ext cx="5095875" cy="371475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7DCCF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81B31D6-3744-474F-B864-72B07CD2BD46}"/>
              </a:ext>
            </a:extLst>
          </p:cNvPr>
          <p:cNvSpPr>
            <a:spLocks noGrp="1"/>
          </p:cNvSpPr>
          <p:nvPr/>
        </p:nvSpPr>
        <p:spPr>
          <a:xfrm>
            <a:off x="952500" y="1762125"/>
            <a:ext cx="4286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Көмектеседі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9B3CC9B-18DE-4172-A9A7-EA81E2D65345}"/>
              </a:ext>
            </a:extLst>
          </p:cNvPr>
          <p:cNvSpPr>
            <a:spLocks noGrp="1"/>
          </p:cNvSpPr>
          <p:nvPr/>
        </p:nvSpPr>
        <p:spPr>
          <a:xfrm>
            <a:off x="952500" y="2333625"/>
            <a:ext cx="2667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437"/>
          </a:bodyPr>
          <a:lstStyle/>
          <a:p>
            <a:pPr algn="l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8275D36-2371-4290-B327-A05966E5381C}"/>
              </a:ext>
            </a:extLst>
          </p:cNvPr>
          <p:cNvSpPr>
            <a:spLocks noGrp="1"/>
          </p:cNvSpPr>
          <p:nvPr/>
        </p:nvSpPr>
        <p:spPr>
          <a:xfrm>
            <a:off x="1314450" y="2333625"/>
            <a:ext cx="39243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Алғашқы нұсқаны дайындау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02BD26F-98F5-4D09-BFA3-BCBBB6064FB2}"/>
              </a:ext>
            </a:extLst>
          </p:cNvPr>
          <p:cNvSpPr>
            <a:spLocks noGrp="1"/>
          </p:cNvSpPr>
          <p:nvPr/>
        </p:nvSpPr>
        <p:spPr>
          <a:xfrm>
            <a:off x="952500" y="2928938"/>
            <a:ext cx="2667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437"/>
          </a:bodyPr>
          <a:lstStyle/>
          <a:p>
            <a:pPr algn="l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545B8DF-4C0E-4264-B2BC-3857F8DD5626}"/>
              </a:ext>
            </a:extLst>
          </p:cNvPr>
          <p:cNvSpPr>
            <a:spLocks noGrp="1"/>
          </p:cNvSpPr>
          <p:nvPr/>
        </p:nvSpPr>
        <p:spPr>
          <a:xfrm>
            <a:off x="1314450" y="2928938"/>
            <a:ext cx="39243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Ұзақ мәтінді қысқарту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4F026E1-493D-492B-8226-B53E1C68C113}"/>
              </a:ext>
            </a:extLst>
          </p:cNvPr>
          <p:cNvSpPr>
            <a:spLocks noGrp="1"/>
          </p:cNvSpPr>
          <p:nvPr/>
        </p:nvSpPr>
        <p:spPr>
          <a:xfrm>
            <a:off x="952500" y="3524250"/>
            <a:ext cx="2667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437"/>
          </a:bodyPr>
          <a:lstStyle/>
          <a:p>
            <a:pPr algn="l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A1D9836-64A3-415B-BFA7-596678E6FB58}"/>
              </a:ext>
            </a:extLst>
          </p:cNvPr>
          <p:cNvSpPr>
            <a:spLocks noGrp="1"/>
          </p:cNvSpPr>
          <p:nvPr/>
        </p:nvSpPr>
        <p:spPr>
          <a:xfrm>
            <a:off x="1314450" y="3524250"/>
            <a:ext cx="39243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Кестені талдауға көмектесу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CEAF729-4608-44D1-A7FE-51AE5C6B3327}"/>
              </a:ext>
            </a:extLst>
          </p:cNvPr>
          <p:cNvSpPr>
            <a:spLocks noGrp="1"/>
          </p:cNvSpPr>
          <p:nvPr/>
        </p:nvSpPr>
        <p:spPr>
          <a:xfrm>
            <a:off x="952500" y="4119563"/>
            <a:ext cx="2667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437"/>
          </a:bodyPr>
          <a:lstStyle/>
          <a:p>
            <a:pPr algn="l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9C16195A-2CA8-42F5-9854-1A76C4E79140}"/>
              </a:ext>
            </a:extLst>
          </p:cNvPr>
          <p:cNvSpPr>
            <a:spLocks noGrp="1"/>
          </p:cNvSpPr>
          <p:nvPr/>
        </p:nvSpPr>
        <p:spPr>
          <a:xfrm>
            <a:off x="1314450" y="4119563"/>
            <a:ext cx="39243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Тілді және стильді өзгерту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1E175A8-934B-4A62-9CB5-027FEAC1AAC9}"/>
              </a:ext>
            </a:extLst>
          </p:cNvPr>
          <p:cNvSpPr>
            <a:spLocks noGrp="1"/>
          </p:cNvSpPr>
          <p:nvPr/>
        </p:nvSpPr>
        <p:spPr>
          <a:xfrm>
            <a:off x="6619875" y="1762125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Өздігінен кепілдік бермейді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952AF69-0B49-442E-B730-3CC277C0D2AC}"/>
              </a:ext>
            </a:extLst>
          </p:cNvPr>
          <p:cNvSpPr>
            <a:spLocks noGrp="1"/>
          </p:cNvSpPr>
          <p:nvPr/>
        </p:nvSpPr>
        <p:spPr>
          <a:xfrm>
            <a:off x="6619875" y="2333625"/>
            <a:ext cx="2667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437"/>
          </a:bodyPr>
          <a:lstStyle/>
          <a:p>
            <a:pPr algn="l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0D2FE3A-51CF-4E22-BD03-5D9211B30726}"/>
              </a:ext>
            </a:extLst>
          </p:cNvPr>
          <p:cNvSpPr>
            <a:spLocks noGrp="1"/>
          </p:cNvSpPr>
          <p:nvPr/>
        </p:nvSpPr>
        <p:spPr>
          <a:xfrm>
            <a:off x="6981825" y="2333625"/>
            <a:ext cx="39243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Әр жауаптың дұрыстығына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DF96168-0922-498F-8C80-B28556BECC68}"/>
              </a:ext>
            </a:extLst>
          </p:cNvPr>
          <p:cNvSpPr>
            <a:spLocks noGrp="1"/>
          </p:cNvSpPr>
          <p:nvPr/>
        </p:nvSpPr>
        <p:spPr>
          <a:xfrm>
            <a:off x="6619875" y="2928938"/>
            <a:ext cx="2667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437"/>
          </a:bodyPr>
          <a:lstStyle/>
          <a:p>
            <a:pPr algn="l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54FBF01-9BD9-446F-B871-A4D42C87C638}"/>
              </a:ext>
            </a:extLst>
          </p:cNvPr>
          <p:cNvSpPr>
            <a:spLocks noGrp="1"/>
          </p:cNvSpPr>
          <p:nvPr/>
        </p:nvSpPr>
        <p:spPr>
          <a:xfrm>
            <a:off x="6981825" y="2928938"/>
            <a:ext cx="39243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Құжаттың өзектілігіне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35AA23D-974F-450C-B7AC-DF4BAEC901B5}"/>
              </a:ext>
            </a:extLst>
          </p:cNvPr>
          <p:cNvSpPr>
            <a:spLocks noGrp="1"/>
          </p:cNvSpPr>
          <p:nvPr/>
        </p:nvSpPr>
        <p:spPr>
          <a:xfrm>
            <a:off x="6619875" y="3524250"/>
            <a:ext cx="2667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437"/>
          </a:bodyPr>
          <a:lstStyle/>
          <a:p>
            <a:pPr algn="l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391A7B1-3D93-48C5-A452-F9EA13C48474}"/>
              </a:ext>
            </a:extLst>
          </p:cNvPr>
          <p:cNvSpPr>
            <a:spLocks noGrp="1"/>
          </p:cNvSpPr>
          <p:nvPr/>
        </p:nvSpPr>
        <p:spPr>
          <a:xfrm>
            <a:off x="6981825" y="3524250"/>
            <a:ext cx="39243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Компания талабына сәйкестікке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590512A-5B9C-49C6-82D0-1CA02CA11D87}"/>
              </a:ext>
            </a:extLst>
          </p:cNvPr>
          <p:cNvSpPr>
            <a:spLocks noGrp="1"/>
          </p:cNvSpPr>
          <p:nvPr/>
        </p:nvSpPr>
        <p:spPr>
          <a:xfrm>
            <a:off x="6619875" y="4119563"/>
            <a:ext cx="2667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437"/>
          </a:bodyPr>
          <a:lstStyle/>
          <a:p>
            <a:pPr algn="l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B371FDB-A1D7-4810-BF29-D3D5C215A208}"/>
              </a:ext>
            </a:extLst>
          </p:cNvPr>
          <p:cNvSpPr>
            <a:spLocks noGrp="1"/>
          </p:cNvSpPr>
          <p:nvPr/>
        </p:nvSpPr>
        <p:spPr>
          <a:xfrm>
            <a:off x="6981825" y="4119563"/>
            <a:ext cx="39243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Құпия ақпараттың қорғалуына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2BD25BA1-6DD7-4BCB-B6B8-9CED69ABE675}"/>
              </a:ext>
            </a:extLst>
          </p:cNvPr>
          <p:cNvSpPr>
            <a:spLocks noGrp="1"/>
          </p:cNvSpPr>
          <p:nvPr/>
        </p:nvSpPr>
        <p:spPr>
          <a:xfrm>
            <a:off x="704850" y="5619750"/>
            <a:ext cx="10763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ЖИ ұсынды. Адам тексерді. Адам шешім қабылдады.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80948D10-B7AE-4FA7-91F3-9210FC0D838A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629944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89A403DB-B128-442A-86C6-A08E0B5D79F2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ҚАУІПСІЗДІК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05A50D9-D8FC-47B6-95D9-C9B1F05F1FE2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Құпия ақпарат және қауіпсіздік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6893E68-39E6-4698-935A-305F8F7653B0}"/>
              </a:ext>
            </a:extLst>
          </p:cNvPr>
          <p:cNvSpPr>
            <a:spLocks noGrp="1"/>
          </p:cNvSpPr>
          <p:nvPr/>
        </p:nvSpPr>
        <p:spPr>
          <a:xfrm>
            <a:off x="704850" y="1381125"/>
            <a:ext cx="66675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9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Ашық ЖИ сервисіне енгізбейміз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B926FFF-33FB-49A8-A304-819E06BB7C63}"/>
              </a:ext>
            </a:extLst>
          </p:cNvPr>
          <p:cNvSpPr>
            <a:spLocks noGrp="1"/>
          </p:cNvSpPr>
          <p:nvPr/>
        </p:nvSpPr>
        <p:spPr>
          <a:xfrm>
            <a:off x="819150" y="2000250"/>
            <a:ext cx="2667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716"/>
          </a:bodyPr>
          <a:lstStyle/>
          <a:p>
            <a:pPr algn="l"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5E4E443-56E7-47ED-ADC7-A0C760CE34EB}"/>
              </a:ext>
            </a:extLst>
          </p:cNvPr>
          <p:cNvSpPr>
            <a:spLocks noGrp="1"/>
          </p:cNvSpPr>
          <p:nvPr/>
        </p:nvSpPr>
        <p:spPr>
          <a:xfrm>
            <a:off x="1181100" y="2000250"/>
            <a:ext cx="99250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Қызметтік құпия және жарияланбаған ішкі құжат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48CBA3A-AD6D-4AF7-830E-F4761D05926C}"/>
              </a:ext>
            </a:extLst>
          </p:cNvPr>
          <p:cNvSpPr>
            <a:spLocks noGrp="1"/>
          </p:cNvSpPr>
          <p:nvPr/>
        </p:nvSpPr>
        <p:spPr>
          <a:xfrm>
            <a:off x="819150" y="2667000"/>
            <a:ext cx="2667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716"/>
          </a:bodyPr>
          <a:lstStyle/>
          <a:p>
            <a:pPr algn="l"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A11275B-74DF-4473-8276-702447F923C4}"/>
              </a:ext>
            </a:extLst>
          </p:cNvPr>
          <p:cNvSpPr>
            <a:spLocks noGrp="1"/>
          </p:cNvSpPr>
          <p:nvPr/>
        </p:nvSpPr>
        <p:spPr>
          <a:xfrm>
            <a:off x="1181100" y="2667000"/>
            <a:ext cx="99250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Жеке деректер, логин, құпиясөз және байланыс мәліметтері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16D2A45-82D8-40B8-8E88-D814625E68E7}"/>
              </a:ext>
            </a:extLst>
          </p:cNvPr>
          <p:cNvSpPr>
            <a:spLocks noGrp="1"/>
          </p:cNvSpPr>
          <p:nvPr/>
        </p:nvSpPr>
        <p:spPr>
          <a:xfrm>
            <a:off x="819150" y="3333750"/>
            <a:ext cx="2667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716"/>
          </a:bodyPr>
          <a:lstStyle/>
          <a:p>
            <a:pPr algn="l"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268711D-8091-4A59-92F2-551AA2E8DBFA}"/>
              </a:ext>
            </a:extLst>
          </p:cNvPr>
          <p:cNvSpPr>
            <a:spLocks noGrp="1"/>
          </p:cNvSpPr>
          <p:nvPr/>
        </p:nvSpPr>
        <p:spPr>
          <a:xfrm>
            <a:off x="1181100" y="3333750"/>
            <a:ext cx="99250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Қорғалған объектілердің нақты схемалары мен осал тұстары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98A9384-4746-42EC-A994-CA49ED53BAA5}"/>
              </a:ext>
            </a:extLst>
          </p:cNvPr>
          <p:cNvSpPr>
            <a:spLocks noGrp="1"/>
          </p:cNvSpPr>
          <p:nvPr/>
        </p:nvSpPr>
        <p:spPr>
          <a:xfrm>
            <a:off x="819150" y="4000500"/>
            <a:ext cx="2667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716"/>
          </a:bodyPr>
          <a:lstStyle/>
          <a:p>
            <a:pPr algn="l"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03CCA28-E884-4EC4-AE58-BF5E32033F0F}"/>
              </a:ext>
            </a:extLst>
          </p:cNvPr>
          <p:cNvSpPr>
            <a:spLocks noGrp="1"/>
          </p:cNvSpPr>
          <p:nvPr/>
        </p:nvSpPr>
        <p:spPr>
          <a:xfrm>
            <a:off x="1181100" y="4000500"/>
            <a:ext cx="99250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Коммерциялық шарттар мен шектеулі қаржылық мәліметтер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5443E7F-FB2E-42FD-AC66-B20D648F37A5}"/>
              </a:ext>
            </a:extLst>
          </p:cNvPr>
          <p:cNvSpPr>
            <a:spLocks noGrp="1"/>
          </p:cNvSpPr>
          <p:nvPr/>
        </p:nvSpPr>
        <p:spPr>
          <a:xfrm>
            <a:off x="704850" y="5238750"/>
            <a:ext cx="107632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Ереже: ашық интернетке жариялауға болмайтын ақпаратты ашық ЖИ сервисіне жібермеңіз.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5CCA661-7432-4560-B2EE-17E1FD5F9B89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96458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19CB081-E501-4826-8B06-9A648274D48B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ҚАУІПСІЗДІК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5CA10BB-1BB7-4CC2-BBE2-88C15ADEFBE9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Деректі қауіпсіз дайындау</a:t>
            </a:r>
          </a:p>
        </p:txBody>
      </p:sp>
      <p:graphicFrame>
        <p:nvGraphicFramePr>
          <p:cNvPr id="8" name="Таблица 7"/>
          <p:cNvGraphicFramePr/>
          <p:nvPr/>
        </p:nvGraphicFramePr>
        <p:xfrm>
          <a:off x="704850" y="1571625"/>
          <a:ext cx="10763250" cy="3190878"/>
        </p:xfrm>
        <a:graphic>
          <a:graphicData uri="http://schemas.openxmlformats.org/drawingml/2006/table">
            <a:tbl>
              <a:tblPr/>
              <a:tblGrid>
                <a:gridCol w="495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0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1813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Қауіпті нұсқа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Қауіпсіз оқу нұсқасы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Қызметкердің аты-жөні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Қызметкер 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Нақты объект және мекенжай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Өндірістік нысан №1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Шарт нөмірі мен сомасы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Шарт X, сома көрсетілмейді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Нақты авариялық дерек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Ойдан құрастырылған жағдай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181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Толық құжат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Тек қажетті, құпиясыз үзінді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CC95138-CE4E-40C2-A516-D0D9CA69EC0B}"/>
              </a:ext>
            </a:extLst>
          </p:cNvPr>
          <p:cNvSpPr>
            <a:spLocks noGrp="1"/>
          </p:cNvSpPr>
          <p:nvPr/>
        </p:nvSpPr>
        <p:spPr>
          <a:xfrm>
            <a:off x="704850" y="5238750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Алдымен қажетсіз деректі өшіріңіз. Содан кейін ғана ЖИ-ге жіберіңіз.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E4AEF5C-0C9D-4CF1-BFCF-B8CFB6C64515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75442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5B52D66-D5C8-4B44-8EFE-C16AAB8A1133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133884B-FBD9-4E15-BDDB-68C386EFBC19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Қай сервисті қай міндетке қолданамыз?</a:t>
            </a:r>
          </a:p>
        </p:txBody>
      </p:sp>
      <p:graphicFrame>
        <p:nvGraphicFramePr>
          <p:cNvPr id="8" name="Таблица 7"/>
          <p:cNvGraphicFramePr/>
          <p:nvPr/>
        </p:nvGraphicFramePr>
        <p:xfrm>
          <a:off x="704850" y="1524000"/>
          <a:ext cx="10763251" cy="4191000"/>
        </p:xfrm>
        <a:graphic>
          <a:graphicData uri="http://schemas.openxmlformats.org/drawingml/2006/table">
            <a:tbl>
              <a:tblPr/>
              <a:tblGrid>
                <a:gridCol w="281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70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3144">
                  <a:extLst>
                    <a:ext uri="{9D8B030D-6E8A-4147-A177-3AD203B41FA5}">
                      <a16:colId xmlns:a16="http://schemas.microsoft.com/office/drawing/2014/main" val="4073508460"/>
                    </a:ext>
                  </a:extLst>
                </a:gridCol>
              </a:tblGrid>
              <a:tr h="698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Міндет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 dirty="0" err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Бастауға</a:t>
                      </a:r>
                      <a:r>
                        <a:rPr sz="1125" b="1" dirty="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</a:t>
                      </a:r>
                      <a:r>
                        <a:rPr sz="1125" b="1" dirty="0" err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болатын</a:t>
                      </a:r>
                      <a:r>
                        <a:rPr sz="1125" b="1" dirty="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</a:t>
                      </a:r>
                      <a:r>
                        <a:rPr sz="1125" b="1" dirty="0" err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сервис</a:t>
                      </a:r>
                      <a:endParaRPr sz="1125" b="1" dirty="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endParaRPr sz="1125" b="1" dirty="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>
                    <a:solidFill>
                      <a:srgbClr val="B8F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Хат, жоспар, түсіндіру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dirty="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ChatGPT </a:t>
                      </a:r>
                      <a:r>
                        <a:rPr sz="1050" dirty="0" err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немесе</a:t>
                      </a:r>
                      <a:r>
                        <a:rPr sz="1050" dirty="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Gemini</a:t>
                      </a:r>
                      <a:r>
                        <a:rPr lang="ru-RU" sz="1050" dirty="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</a:t>
                      </a:r>
                      <a:endParaRPr sz="1050" dirty="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50" dirty="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Құжат пен файлды талдау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Gemini немесе ChatGPT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endParaRPr sz="1050" dirty="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>
                    <a:solidFill>
                      <a:srgbClr val="ED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Дереккөздері бар веб іздеу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8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Слайдтың алғашқы нұсқасы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dirty="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Gamma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endParaRPr sz="105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>
                    <a:solidFill>
                      <a:srgbClr val="ED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8500">
                <a:tc>
                  <a:txBody>
                    <a:bodyPr/>
                    <a:lstStyle/>
                    <a:p>
                      <a:r>
                        <a:rPr sz="1050" dirty="0" err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Кестені</a:t>
                      </a:r>
                      <a:r>
                        <a:rPr sz="1050" dirty="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</a:t>
                      </a:r>
                      <a:r>
                        <a:rPr sz="1050" dirty="0" err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талдау</a:t>
                      </a:r>
                      <a:endParaRPr sz="1050" dirty="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dirty="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ChatGPT </a:t>
                      </a:r>
                      <a:r>
                        <a:rPr sz="1050" dirty="0" err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немесе</a:t>
                      </a:r>
                      <a:r>
                        <a:rPr sz="1050" dirty="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50" dirty="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512A1BF-CCD8-4702-A962-858DC3929F6E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pic>
        <p:nvPicPr>
          <p:cNvPr id="1030" name="Picture 6" descr="ChatGPT — Википедия">
            <a:extLst>
              <a:ext uri="{FF2B5EF4-FFF2-40B4-BE49-F238E27FC236}">
                <a16:creationId xmlns:a16="http://schemas.microsoft.com/office/drawing/2014/main" id="{0F9D1826-BD99-EC90-A88B-F682E2AC95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4700" y="2280324"/>
            <a:ext cx="565150" cy="565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emini logosu: смотрите и скачивайте изображения — Яндекс Картинки">
            <a:extLst>
              <a:ext uri="{FF2B5EF4-FFF2-40B4-BE49-F238E27FC236}">
                <a16:creationId xmlns:a16="http://schemas.microsoft.com/office/drawing/2014/main" id="{F227495E-D94E-8722-8753-A27BC3376D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7500" y="2239049"/>
            <a:ext cx="1028700" cy="576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Gemini logosu: смотрите и скачивайте изображения — Яндекс Картинки">
            <a:extLst>
              <a:ext uri="{FF2B5EF4-FFF2-40B4-BE49-F238E27FC236}">
                <a16:creationId xmlns:a16="http://schemas.microsoft.com/office/drawing/2014/main" id="{6F3DEC38-F2A4-AAF9-9FCE-4EF9B387E3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4700" y="2943899"/>
            <a:ext cx="1028700" cy="576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ChatGPT — Википедия">
            <a:extLst>
              <a:ext uri="{FF2B5EF4-FFF2-40B4-BE49-F238E27FC236}">
                <a16:creationId xmlns:a16="http://schemas.microsoft.com/office/drawing/2014/main" id="{C3D83BF4-6035-5FF4-B4B4-EB539E3E1E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500" y="2971579"/>
            <a:ext cx="565150" cy="565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Perplexity AI поисковая нейросеть, как пользоваться Перплексити - «Plaan»">
            <a:extLst>
              <a:ext uri="{FF2B5EF4-FFF2-40B4-BE49-F238E27FC236}">
                <a16:creationId xmlns:a16="http://schemas.microsoft.com/office/drawing/2014/main" id="{51A11D9F-693B-ECC6-39C0-A2F2B79E4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4700" y="3648772"/>
            <a:ext cx="1028700" cy="551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Gamma">
            <a:extLst>
              <a:ext uri="{FF2B5EF4-FFF2-40B4-BE49-F238E27FC236}">
                <a16:creationId xmlns:a16="http://schemas.microsoft.com/office/drawing/2014/main" id="{5CA2DCCA-B231-EFBE-4B16-D29F76F718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4700" y="4412808"/>
            <a:ext cx="1028700" cy="540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ChatGPT — Википедия">
            <a:extLst>
              <a:ext uri="{FF2B5EF4-FFF2-40B4-BE49-F238E27FC236}">
                <a16:creationId xmlns:a16="http://schemas.microsoft.com/office/drawing/2014/main" id="{68E0CF1E-8910-BCCE-2630-2808F3986F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4700" y="5051425"/>
            <a:ext cx="565150" cy="565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0" descr="Gemini logosu: смотрите и скачивайте изображения — Яндекс Картинки">
            <a:extLst>
              <a:ext uri="{FF2B5EF4-FFF2-40B4-BE49-F238E27FC236}">
                <a16:creationId xmlns:a16="http://schemas.microsoft.com/office/drawing/2014/main" id="{830EDD39-E960-2E93-F11C-C40B6EDA2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5925" y="5045749"/>
            <a:ext cx="1028700" cy="576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28513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7F1B4CF-F5E1-4D90-AAC9-CE7281A93AAB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F4B32F6-314F-4894-8373-674FA65E9739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Браузердегі алғашқы сұрау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038475" y="1524000"/>
            <a:ext cx="6096000" cy="34290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799294F-5BCC-41FB-8666-0C3D460D24F2}"/>
              </a:ext>
            </a:extLst>
          </p:cNvPr>
          <p:cNvSpPr>
            <a:spLocks noGrp="1"/>
          </p:cNvSpPr>
          <p:nvPr/>
        </p:nvSpPr>
        <p:spPr>
          <a:xfrm>
            <a:off x="704850" y="5238750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7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1. Енгізу өрісін басыңыз   2. Міндетті жазыңыз   3. Жіберіңіз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67FCA8C-6998-46BA-91CB-A5F141BAD16E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60371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860AD0A-5ED5-45F3-8183-1C9A7E964A52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B15A998-1DB2-4E21-BA66-A6A725CB3EC3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Нақты сұраудың формуласы</a:t>
            </a:r>
          </a:p>
        </p:txBody>
      </p:sp>
      <p:graphicFrame>
        <p:nvGraphicFramePr>
          <p:cNvPr id="8" name="Таблица 7"/>
          <p:cNvGraphicFramePr/>
          <p:nvPr>
            <p:extLst>
              <p:ext uri="{D42A27DB-BD31-4B8C-83A1-F6EECF244321}">
                <p14:modId xmlns:p14="http://schemas.microsoft.com/office/powerpoint/2010/main" val="1085119704"/>
              </p:ext>
            </p:extLst>
          </p:nvPr>
        </p:nvGraphicFramePr>
        <p:xfrm>
          <a:off x="704850" y="1476375"/>
          <a:ext cx="10763250" cy="3762378"/>
        </p:xfrm>
        <a:graphic>
          <a:graphicData uri="http://schemas.openxmlformats.org/drawingml/2006/table">
            <a:tbl>
              <a:tblPr/>
              <a:tblGrid>
                <a:gridCol w="1047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2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7063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Қадам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 көрсетеміз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Мысал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Рөл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Сен іс жүргізушісің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Міндет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Қысқа қызметтік хат жаз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dirty="0" err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Мәтін</a:t>
                      </a:r>
                      <a:endParaRPr sz="1050" dirty="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Мерзім 25 қыркүйекке ауысты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Пішім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Қазақша және орысша, 120 сөзге дейін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063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Шектеу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dirty="0" err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Мәтінде</a:t>
                      </a:r>
                      <a:r>
                        <a:rPr sz="1050" dirty="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</a:t>
                      </a:r>
                      <a:r>
                        <a:rPr sz="1050" dirty="0" err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жоқ</a:t>
                      </a:r>
                      <a:r>
                        <a:rPr sz="1050" dirty="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</a:t>
                      </a:r>
                      <a:r>
                        <a:rPr sz="1050" dirty="0" err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деректі</a:t>
                      </a:r>
                      <a:r>
                        <a:rPr sz="1050" dirty="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 </a:t>
                      </a:r>
                      <a:r>
                        <a:rPr sz="1050" dirty="0" err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қоспа</a:t>
                      </a:r>
                      <a:endParaRPr sz="1050" dirty="0">
                        <a:solidFill>
                          <a:srgbClr val="0E1420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0EFD994-9051-442E-A2CB-39AFB9C502B4}"/>
              </a:ext>
            </a:extLst>
          </p:cNvPr>
          <p:cNvSpPr>
            <a:spLocks noGrp="1"/>
          </p:cNvSpPr>
          <p:nvPr/>
        </p:nvSpPr>
        <p:spPr>
          <a:xfrm>
            <a:off x="704850" y="5572125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Мәлімет жеткіліксіз болса, алдымен нақтылау сұрағын қой.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1F43FC5-48D8-4565-933D-5EA8735A57E6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969898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DC8CBE6D-E35A-4916-A68C-8A5F843395A9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D9A2753-96B7-4258-AAC3-4122EA82090D}"/>
              </a:ext>
            </a:extLst>
          </p:cNvPr>
          <p:cNvSpPr>
            <a:spLocks noGrp="1"/>
          </p:cNvSpPr>
          <p:nvPr/>
        </p:nvSpPr>
        <p:spPr>
          <a:xfrm>
            <a:off x="704850" y="45720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Кездесу</a:t>
            </a:r>
            <a:r>
              <a:rPr sz="2550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550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уақытын</a:t>
            </a:r>
            <a:r>
              <a:rPr sz="2550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550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ауыстыру</a:t>
            </a:r>
            <a:endParaRPr sz="2550" b="1" dirty="0">
              <a:solidFill>
                <a:srgbClr val="0E142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01A71232-E6D0-4F60-893F-836E5705DEA2}"/>
              </a:ext>
            </a:extLst>
          </p:cNvPr>
          <p:cNvSpPr>
            <a:spLocks noGrp="1"/>
          </p:cNvSpPr>
          <p:nvPr/>
        </p:nvSpPr>
        <p:spPr>
          <a:xfrm>
            <a:off x="723900" y="1066801"/>
            <a:ext cx="10744200" cy="1444170"/>
          </a:xfrm>
          <a:prstGeom prst="roundRect">
            <a:avLst>
              <a:gd name="adj" fmla="val 562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2D0DD6D-700E-469B-9C72-7F933BE1345E}"/>
              </a:ext>
            </a:extLst>
          </p:cNvPr>
          <p:cNvSpPr>
            <a:spLocks noGrp="1"/>
          </p:cNvSpPr>
          <p:nvPr/>
        </p:nvSpPr>
        <p:spPr>
          <a:xfrm>
            <a:off x="952500" y="1204913"/>
            <a:ext cx="1238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 dirty="0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740B5DB-816F-4869-B888-68EE008D42A1}"/>
              </a:ext>
            </a:extLst>
          </p:cNvPr>
          <p:cNvSpPr>
            <a:spLocks noGrp="1"/>
          </p:cNvSpPr>
          <p:nvPr/>
        </p:nvSpPr>
        <p:spPr>
          <a:xfrm>
            <a:off x="857250" y="863341"/>
            <a:ext cx="10287000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Сен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іскерлік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хат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алмасу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көмекшісісің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Ертеңгі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кездесуді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15:00-ден 16:00-ге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ауыстыруды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сұрайтын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сыпайы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хабарлама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жаз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Қазақ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орыс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тілдерінде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бер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Әр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нұсқа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екі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сөйлемнен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аспасын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F262E9E-F660-4D10-BAC3-9AF84E1229EE}"/>
              </a:ext>
            </a:extLst>
          </p:cNvPr>
          <p:cNvSpPr>
            <a:spLocks noGrp="1"/>
          </p:cNvSpPr>
          <p:nvPr/>
        </p:nvSpPr>
        <p:spPr>
          <a:xfrm>
            <a:off x="723900" y="2592031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үлгісі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Құпия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жеке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деректерді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енгізбейміз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FA06C87-BBFD-4BAF-B283-433EFD7DEFB9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pic>
        <p:nvPicPr>
          <p:cNvPr id="11" name="Рисунок 10" descr="Изображение выглядит как текст, программное обеспечение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591E16E-579E-0F9E-3EFC-B8A38AEC58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936" r="223"/>
          <a:stretch>
            <a:fillRect/>
          </a:stretch>
        </p:blipFill>
        <p:spPr>
          <a:xfrm>
            <a:off x="691243" y="2877781"/>
            <a:ext cx="4905829" cy="3388246"/>
          </a:xfrm>
          <a:prstGeom prst="rect">
            <a:avLst/>
          </a:prstGeom>
        </p:spPr>
      </p:pic>
      <p:pic>
        <p:nvPicPr>
          <p:cNvPr id="15" name="Рисунок 14" descr="Изображение выглядит как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2BD0559-717E-9169-5A97-7514760744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26" r="15511"/>
          <a:stretch>
            <a:fillRect/>
          </a:stretch>
        </p:blipFill>
        <p:spPr>
          <a:xfrm>
            <a:off x="6939643" y="2877781"/>
            <a:ext cx="4528457" cy="3388246"/>
          </a:xfrm>
          <a:prstGeom prst="rect">
            <a:avLst/>
          </a:prstGeom>
        </p:spPr>
      </p:pic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607D1A2-1445-28AD-1E35-3C87621ED83B}"/>
              </a:ext>
            </a:extLst>
          </p:cNvPr>
          <p:cNvSpPr>
            <a:spLocks noGrp="1"/>
          </p:cNvSpPr>
          <p:nvPr/>
        </p:nvSpPr>
        <p:spPr>
          <a:xfrm>
            <a:off x="723900" y="6310312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Тексеру: күн, уақыт, өтініш мағынасы және тілдік сыпайылық бірдей ме?</a:t>
            </a:r>
          </a:p>
        </p:txBody>
      </p:sp>
    </p:spTree>
    <p:extLst>
      <p:ext uri="{BB962C8B-B14F-4D97-AF65-F5344CB8AC3E}">
        <p14:creationId xmlns:p14="http://schemas.microsoft.com/office/powerpoint/2010/main" val="801445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117D4DA-E39F-4D71-8B53-39FF54C7B36C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8526F6E-C854-4EF3-A9D5-61F4281B5B5A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Жауап сәйкес келмесе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1245AAA-EE0E-446D-AA98-937A27EB828F}"/>
              </a:ext>
            </a:extLst>
          </p:cNvPr>
          <p:cNvSpPr>
            <a:spLocks noGrp="1"/>
          </p:cNvSpPr>
          <p:nvPr/>
        </p:nvSpPr>
        <p:spPr>
          <a:xfrm>
            <a:off x="876300" y="1524000"/>
            <a:ext cx="26670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750"/>
          </a:bodyPr>
          <a:lstStyle/>
          <a:p>
            <a:pPr algn="l"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EE9B5D0-CD5A-4E95-B048-16B58B352FF3}"/>
              </a:ext>
            </a:extLst>
          </p:cNvPr>
          <p:cNvSpPr>
            <a:spLocks noGrp="1"/>
          </p:cNvSpPr>
          <p:nvPr/>
        </p:nvSpPr>
        <p:spPr>
          <a:xfrm>
            <a:off x="1238250" y="1524000"/>
            <a:ext cx="99250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«Маған хабарлама мәтіні ғана керек»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FED2C29-1885-4E61-A712-A6D8D6C298F4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26670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750"/>
          </a:bodyPr>
          <a:lstStyle/>
          <a:p>
            <a:pPr algn="l"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ACDB5FF-9494-449D-BBD7-111D79E3F0DD}"/>
              </a:ext>
            </a:extLst>
          </p:cNvPr>
          <p:cNvSpPr>
            <a:spLocks noGrp="1"/>
          </p:cNvSpPr>
          <p:nvPr/>
        </p:nvSpPr>
        <p:spPr>
          <a:xfrm>
            <a:off x="1238250" y="2247900"/>
            <a:ext cx="99250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«Қысқа әрі қарапайым етіп қайта жаз»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555B43F-570A-44D2-85B4-96BFB59D0AAC}"/>
              </a:ext>
            </a:extLst>
          </p:cNvPr>
          <p:cNvSpPr>
            <a:spLocks noGrp="1"/>
          </p:cNvSpPr>
          <p:nvPr/>
        </p:nvSpPr>
        <p:spPr>
          <a:xfrm>
            <a:off x="876300" y="2971800"/>
            <a:ext cx="26670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750"/>
          </a:bodyPr>
          <a:lstStyle/>
          <a:p>
            <a:pPr algn="l"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4A0F9EB-4BBD-4EF1-9812-21BF92322A2D}"/>
              </a:ext>
            </a:extLst>
          </p:cNvPr>
          <p:cNvSpPr>
            <a:spLocks noGrp="1"/>
          </p:cNvSpPr>
          <p:nvPr/>
        </p:nvSpPr>
        <p:spPr>
          <a:xfrm>
            <a:off x="1238250" y="2971800"/>
            <a:ext cx="99250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«Екі нұсқа бер: ресми және бейресми»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90BACE4-96AC-431C-B8E3-270956987887}"/>
              </a:ext>
            </a:extLst>
          </p:cNvPr>
          <p:cNvSpPr>
            <a:spLocks noGrp="1"/>
          </p:cNvSpPr>
          <p:nvPr/>
        </p:nvSpPr>
        <p:spPr>
          <a:xfrm>
            <a:off x="876300" y="3695700"/>
            <a:ext cx="26670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750"/>
          </a:bodyPr>
          <a:lstStyle/>
          <a:p>
            <a:pPr algn="l"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AC3DC10-2311-4755-B272-709CEF091100}"/>
              </a:ext>
            </a:extLst>
          </p:cNvPr>
          <p:cNvSpPr>
            <a:spLocks noGrp="1"/>
          </p:cNvSpPr>
          <p:nvPr/>
        </p:nvSpPr>
        <p:spPr>
          <a:xfrm>
            <a:off x="1238250" y="3695700"/>
            <a:ext cx="99250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«Мәтінде жоқ ақпаратты алып таста»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10B440E-03F0-46C9-BA27-CFD5C5AD7475}"/>
              </a:ext>
            </a:extLst>
          </p:cNvPr>
          <p:cNvSpPr>
            <a:spLocks noGrp="1"/>
          </p:cNvSpPr>
          <p:nvPr/>
        </p:nvSpPr>
        <p:spPr>
          <a:xfrm>
            <a:off x="876300" y="4419600"/>
            <a:ext cx="26670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750"/>
          </a:bodyPr>
          <a:lstStyle/>
          <a:p>
            <a:pPr algn="l">
              <a:def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67904C9-DFB9-48A2-A713-DF95F31FAA9D}"/>
              </a:ext>
            </a:extLst>
          </p:cNvPr>
          <p:cNvSpPr>
            <a:spLocks noGrp="1"/>
          </p:cNvSpPr>
          <p:nvPr/>
        </p:nvSpPr>
        <p:spPr>
          <a:xfrm>
            <a:off x="1238250" y="4419600"/>
            <a:ext cx="99250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Тақырып ауысса, жаңа чат бастаңыз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E03B09E-7F03-4F29-A668-179C785080A9}"/>
              </a:ext>
            </a:extLst>
          </p:cNvPr>
          <p:cNvSpPr>
            <a:spLocks noGrp="1"/>
          </p:cNvSpPr>
          <p:nvPr/>
        </p:nvSpPr>
        <p:spPr>
          <a:xfrm>
            <a:off x="704850" y="5572125"/>
            <a:ext cx="107632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Жақсы нәтиже көбіне бір сұраудан емес, нақтылаудан кейін шығады.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A3AC1FD-173D-4A6C-B25B-B619DF0E234A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08685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BAEE076-B5D3-4A0F-B1AD-5ADD7EF48E6E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ЖИ ҚҰРАЛДАРЫ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2EB6B37-CF66-4E39-BD21-F01EB8C83769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ЖИ сервистерін үйрену реті</a:t>
            </a: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92003FDC-6551-469D-86D2-883517A880AE}"/>
              </a:ext>
            </a:extLst>
          </p:cNvPr>
          <p:cNvSpPr>
            <a:spLocks noGrp="1"/>
          </p:cNvSpPr>
          <p:nvPr/>
        </p:nvSpPr>
        <p:spPr>
          <a:xfrm>
            <a:off x="704850" y="2381250"/>
            <a:ext cx="1809750" cy="1143000"/>
          </a:xfrm>
          <a:prstGeom prst="roundRect">
            <a:avLst>
              <a:gd name="adj" fmla="val 15000"/>
            </a:avLst>
          </a:prstGeom>
          <a:solidFill>
            <a:srgbClr val="B8F238"/>
          </a:solidFill>
          <a:ln w="9525">
            <a:solidFill>
              <a:srgbClr val="1B223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9434EE8-B890-403E-B000-F515F010C05C}"/>
              </a:ext>
            </a:extLst>
          </p:cNvPr>
          <p:cNvSpPr>
            <a:spLocks noGrp="1"/>
          </p:cNvSpPr>
          <p:nvPr/>
        </p:nvSpPr>
        <p:spPr>
          <a:xfrm>
            <a:off x="876300" y="2524125"/>
            <a:ext cx="3619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833"/>
          </a:bodyPr>
          <a:lstStyle/>
          <a:p>
            <a:pPr algn="l">
              <a:defRPr sz="12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260431C-A73D-4379-B3FD-6ACD3FEA97AF}"/>
              </a:ext>
            </a:extLst>
          </p:cNvPr>
          <p:cNvSpPr>
            <a:spLocks noGrp="1"/>
          </p:cNvSpPr>
          <p:nvPr/>
        </p:nvSpPr>
        <p:spPr>
          <a:xfrm>
            <a:off x="895350" y="2905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ChatGPT</a:t>
            </a: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DFC64620-3E1D-41C3-8E3C-0BF593F54E21}"/>
              </a:ext>
            </a:extLst>
          </p:cNvPr>
          <p:cNvSpPr>
            <a:spLocks noGrp="1"/>
          </p:cNvSpPr>
          <p:nvPr/>
        </p:nvSpPr>
        <p:spPr>
          <a:xfrm>
            <a:off x="2895600" y="2381250"/>
            <a:ext cx="1809750" cy="1143000"/>
          </a:xfrm>
          <a:prstGeom prst="roundRect">
            <a:avLst>
              <a:gd name="adj" fmla="val 15000"/>
            </a:avLst>
          </a:prstGeom>
          <a:solidFill>
            <a:srgbClr val="1B2230"/>
          </a:solidFill>
          <a:ln w="9525">
            <a:solidFill>
              <a:srgbClr val="1B223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B7A9B3D-205C-43AE-A5A0-D1CB0840DDD4}"/>
              </a:ext>
            </a:extLst>
          </p:cNvPr>
          <p:cNvSpPr>
            <a:spLocks noGrp="1"/>
          </p:cNvSpPr>
          <p:nvPr/>
        </p:nvSpPr>
        <p:spPr>
          <a:xfrm>
            <a:off x="3067050" y="2524125"/>
            <a:ext cx="3619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833"/>
          </a:bodyPr>
          <a:lstStyle/>
          <a:p>
            <a:pPr algn="l">
              <a:def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847673A-4254-4A5F-A9CC-FFF2912FF1F4}"/>
              </a:ext>
            </a:extLst>
          </p:cNvPr>
          <p:cNvSpPr>
            <a:spLocks noGrp="1"/>
          </p:cNvSpPr>
          <p:nvPr/>
        </p:nvSpPr>
        <p:spPr>
          <a:xfrm>
            <a:off x="3086100" y="2905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Gemini</a:t>
            </a: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ED08D9E9-6F13-417E-826B-F327A03124DA}"/>
              </a:ext>
            </a:extLst>
          </p:cNvPr>
          <p:cNvSpPr>
            <a:spLocks noGrp="1"/>
          </p:cNvSpPr>
          <p:nvPr/>
        </p:nvSpPr>
        <p:spPr>
          <a:xfrm>
            <a:off x="5086350" y="2381250"/>
            <a:ext cx="1809750" cy="1143000"/>
          </a:xfrm>
          <a:prstGeom prst="roundRect">
            <a:avLst>
              <a:gd name="adj" fmla="val 15000"/>
            </a:avLst>
          </a:prstGeom>
          <a:solidFill>
            <a:srgbClr val="1B2230"/>
          </a:solidFill>
          <a:ln w="9525">
            <a:solidFill>
              <a:srgbClr val="1B223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E116ED0-776E-4553-BE5D-4F7A07EAD827}"/>
              </a:ext>
            </a:extLst>
          </p:cNvPr>
          <p:cNvSpPr>
            <a:spLocks noGrp="1"/>
          </p:cNvSpPr>
          <p:nvPr/>
        </p:nvSpPr>
        <p:spPr>
          <a:xfrm>
            <a:off x="5257800" y="2524125"/>
            <a:ext cx="3619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833"/>
          </a:bodyPr>
          <a:lstStyle/>
          <a:p>
            <a:pPr algn="l">
              <a:def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78A918CB-4E40-44A0-A5E1-8CB913E094D0}"/>
              </a:ext>
            </a:extLst>
          </p:cNvPr>
          <p:cNvSpPr>
            <a:spLocks noGrp="1"/>
          </p:cNvSpPr>
          <p:nvPr/>
        </p:nvSpPr>
        <p:spPr>
          <a:xfrm>
            <a:off x="5276850" y="2905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Perplexity</a:t>
            </a: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506D373E-AE48-43A1-94EF-94AA286F459E}"/>
              </a:ext>
            </a:extLst>
          </p:cNvPr>
          <p:cNvSpPr>
            <a:spLocks noGrp="1"/>
          </p:cNvSpPr>
          <p:nvPr/>
        </p:nvSpPr>
        <p:spPr>
          <a:xfrm>
            <a:off x="7277100" y="2381250"/>
            <a:ext cx="1809750" cy="1143000"/>
          </a:xfrm>
          <a:prstGeom prst="roundRect">
            <a:avLst>
              <a:gd name="adj" fmla="val 15000"/>
            </a:avLst>
          </a:prstGeom>
          <a:solidFill>
            <a:srgbClr val="1B2230"/>
          </a:solidFill>
          <a:ln w="9525">
            <a:solidFill>
              <a:srgbClr val="1B223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D901FD3-AB79-4571-BC7D-ACE1D1295E5E}"/>
              </a:ext>
            </a:extLst>
          </p:cNvPr>
          <p:cNvSpPr>
            <a:spLocks noGrp="1"/>
          </p:cNvSpPr>
          <p:nvPr/>
        </p:nvSpPr>
        <p:spPr>
          <a:xfrm>
            <a:off x="7448550" y="2524125"/>
            <a:ext cx="3619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833"/>
          </a:bodyPr>
          <a:lstStyle/>
          <a:p>
            <a:pPr algn="l">
              <a:def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790C890-B540-4C0D-8D0D-700F2FE36E0A}"/>
              </a:ext>
            </a:extLst>
          </p:cNvPr>
          <p:cNvSpPr>
            <a:spLocks noGrp="1"/>
          </p:cNvSpPr>
          <p:nvPr/>
        </p:nvSpPr>
        <p:spPr>
          <a:xfrm>
            <a:off x="7467600" y="2905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Grok</a:t>
            </a: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F114BCA9-33E3-4EE0-B9AA-137C49B7689B}"/>
              </a:ext>
            </a:extLst>
          </p:cNvPr>
          <p:cNvSpPr>
            <a:spLocks noGrp="1"/>
          </p:cNvSpPr>
          <p:nvPr/>
        </p:nvSpPr>
        <p:spPr>
          <a:xfrm>
            <a:off x="9467850" y="2381250"/>
            <a:ext cx="1809750" cy="1143000"/>
          </a:xfrm>
          <a:prstGeom prst="roundRect">
            <a:avLst>
              <a:gd name="adj" fmla="val 15000"/>
            </a:avLst>
          </a:prstGeom>
          <a:solidFill>
            <a:srgbClr val="1B2230"/>
          </a:solidFill>
          <a:ln w="9525">
            <a:solidFill>
              <a:srgbClr val="1B223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B32E8FD-44BC-409F-A778-C294EC5D2638}"/>
              </a:ext>
            </a:extLst>
          </p:cNvPr>
          <p:cNvSpPr>
            <a:spLocks noGrp="1"/>
          </p:cNvSpPr>
          <p:nvPr/>
        </p:nvSpPr>
        <p:spPr>
          <a:xfrm>
            <a:off x="9639300" y="2524125"/>
            <a:ext cx="3619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833"/>
          </a:bodyPr>
          <a:lstStyle/>
          <a:p>
            <a:pPr algn="l">
              <a:def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3C9D436-0484-4481-B8A7-D51BBF082188}"/>
              </a:ext>
            </a:extLst>
          </p:cNvPr>
          <p:cNvSpPr>
            <a:spLocks noGrp="1"/>
          </p:cNvSpPr>
          <p:nvPr/>
        </p:nvSpPr>
        <p:spPr>
          <a:xfrm>
            <a:off x="9658350" y="2905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Gamma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ACACE33-6714-4252-8E43-DF4F9C0DE2EB}"/>
              </a:ext>
            </a:extLst>
          </p:cNvPr>
          <p:cNvSpPr>
            <a:spLocks noGrp="1"/>
          </p:cNvSpPr>
          <p:nvPr/>
        </p:nvSpPr>
        <p:spPr>
          <a:xfrm>
            <a:off x="704850" y="4095750"/>
            <a:ext cx="107632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Әр сервис: мақсаты → сұрау → экрандағы жауап → тексеру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532AC93-5E43-474E-BAB1-D1BAECA4210D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639215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FE79CE6-F702-4D5E-AE3B-AD27D0A58AAC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2. GEMINI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E760FCC-D0B4-4D31-A8CE-3B9CE3D97AEC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 не үшін қолданылады?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D7FF49A-407D-4288-AF7A-3A07C856A8BC}"/>
              </a:ext>
            </a:extLst>
          </p:cNvPr>
          <p:cNvSpPr>
            <a:spLocks noGrp="1"/>
          </p:cNvSpPr>
          <p:nvPr/>
        </p:nvSpPr>
        <p:spPr>
          <a:xfrm>
            <a:off x="704850" y="1381125"/>
            <a:ext cx="107632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9881" lnSpcReduction="10000"/>
          </a:bodyPr>
          <a:lstStyle/>
          <a:p>
            <a:pPr algn="l">
              <a:def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 мәтінмен, суретпен және рұқсат етілген файлдармен жұмыс істеуге көмектеседі.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9C609A5-4F16-4C6A-9662-3CCC63CDE5AF}"/>
              </a:ext>
            </a:extLst>
          </p:cNvPr>
          <p:cNvSpPr>
            <a:spLocks noGrp="1"/>
          </p:cNvSpPr>
          <p:nvPr/>
        </p:nvSpPr>
        <p:spPr>
          <a:xfrm>
            <a:off x="876300" y="2381250"/>
            <a:ext cx="266700" cy="6429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11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18970CE-1882-43F4-BBDB-4ACB557C2211}"/>
              </a:ext>
            </a:extLst>
          </p:cNvPr>
          <p:cNvSpPr>
            <a:spLocks noGrp="1"/>
          </p:cNvSpPr>
          <p:nvPr/>
        </p:nvSpPr>
        <p:spPr>
          <a:xfrm>
            <a:off x="1238250" y="2381250"/>
            <a:ext cx="9925050" cy="6429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Құжаттың негізгі ойын қысқаша шығару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E6742D1-E826-49DC-A988-69BF3F2A38FB}"/>
              </a:ext>
            </a:extLst>
          </p:cNvPr>
          <p:cNvSpPr>
            <a:spLocks noGrp="1"/>
          </p:cNvSpPr>
          <p:nvPr/>
        </p:nvSpPr>
        <p:spPr>
          <a:xfrm>
            <a:off x="876300" y="3024188"/>
            <a:ext cx="266700" cy="6429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11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C7259C9-E008-46D4-89B7-5674D36F27D8}"/>
              </a:ext>
            </a:extLst>
          </p:cNvPr>
          <p:cNvSpPr>
            <a:spLocks noGrp="1"/>
          </p:cNvSpPr>
          <p:nvPr/>
        </p:nvSpPr>
        <p:spPr>
          <a:xfrm>
            <a:off x="1238250" y="3024188"/>
            <a:ext cx="9925050" cy="6429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Фото немесе скриншоттағы мәтінді түсіндіру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E923C0D-A5B5-41D8-AB0C-572B1DBBCA20}"/>
              </a:ext>
            </a:extLst>
          </p:cNvPr>
          <p:cNvSpPr>
            <a:spLocks noGrp="1"/>
          </p:cNvSpPr>
          <p:nvPr/>
        </p:nvSpPr>
        <p:spPr>
          <a:xfrm>
            <a:off x="876300" y="3667125"/>
            <a:ext cx="266700" cy="6429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11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63CC286-FBAE-4A7D-8705-2C9174DEEBC2}"/>
              </a:ext>
            </a:extLst>
          </p:cNvPr>
          <p:cNvSpPr>
            <a:spLocks noGrp="1"/>
          </p:cNvSpPr>
          <p:nvPr/>
        </p:nvSpPr>
        <p:spPr>
          <a:xfrm>
            <a:off x="1238250" y="3667125"/>
            <a:ext cx="9925050" cy="6429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Кесте деректерін талдау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CCB1FC-415F-4B66-BF8F-28C74084F48D}"/>
              </a:ext>
            </a:extLst>
          </p:cNvPr>
          <p:cNvSpPr>
            <a:spLocks noGrp="1"/>
          </p:cNvSpPr>
          <p:nvPr/>
        </p:nvSpPr>
        <p:spPr>
          <a:xfrm>
            <a:off x="876300" y="4310063"/>
            <a:ext cx="266700" cy="6429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11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FB92E0C-998B-40D1-9394-A3C0EEF6D5E4}"/>
              </a:ext>
            </a:extLst>
          </p:cNvPr>
          <p:cNvSpPr>
            <a:spLocks noGrp="1"/>
          </p:cNvSpPr>
          <p:nvPr/>
        </p:nvSpPr>
        <p:spPr>
          <a:xfrm>
            <a:off x="1238250" y="4310063"/>
            <a:ext cx="9925050" cy="6429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Қазақша және орысша мәтін дайындау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9B3F015-2EFA-431A-9A3A-0EEFA52BA39B}"/>
              </a:ext>
            </a:extLst>
          </p:cNvPr>
          <p:cNvSpPr>
            <a:spLocks noGrp="1"/>
          </p:cNvSpPr>
          <p:nvPr/>
        </p:nvSpPr>
        <p:spPr>
          <a:xfrm>
            <a:off x="704850" y="5476875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Маңызды: ішкі және құпия файлдарды ашық сервиске жүктемейміз.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782585D-B0DF-4DD7-ABE7-3006B0728468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0168827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285B118-3D66-4B02-ABC2-E4F712E05781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2. GEMINI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528EE17-1516-49C3-96D2-6C9B3F5FCD13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 бастапқы экраны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699808" y="1381125"/>
            <a:ext cx="6773333" cy="38100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6C71436-3222-4B79-91AD-73D9AF691360}"/>
              </a:ext>
            </a:extLst>
          </p:cNvPr>
          <p:cNvSpPr>
            <a:spLocks noGrp="1"/>
          </p:cNvSpPr>
          <p:nvPr/>
        </p:nvSpPr>
        <p:spPr>
          <a:xfrm>
            <a:off x="704850" y="5429250"/>
            <a:ext cx="10763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«+» батырмасы арқылы рұқсат етілген фото немесе файл қосылады.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43991F8-D118-4D12-AF4F-8FD18BD44368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9997650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9F62C01-79C2-4428-A304-93853BA3B2B0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2CFEA92-386B-4D51-83EE-A2A49E708F3F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Gemini: Excel кестесіне сұрау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DA8F25E-1AAF-4DDF-AFC3-EF3AA81055D3}"/>
              </a:ext>
            </a:extLst>
          </p:cNvPr>
          <p:cNvSpPr>
            <a:spLocks noGrp="1"/>
          </p:cNvSpPr>
          <p:nvPr/>
        </p:nvSpPr>
        <p:spPr>
          <a:xfrm>
            <a:off x="704850" y="1257300"/>
            <a:ext cx="1076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Файлда тек ойдан құрастырылған оқу деректері бар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510B79C3-6BD0-4CC9-9047-9D93E53FD931}"/>
              </a:ext>
            </a:extLst>
          </p:cNvPr>
          <p:cNvSpPr>
            <a:spLocks noGrp="1"/>
          </p:cNvSpPr>
          <p:nvPr/>
        </p:nvSpPr>
        <p:spPr>
          <a:xfrm>
            <a:off x="704850" y="1638300"/>
            <a:ext cx="4796064" cy="3122386"/>
          </a:xfrm>
          <a:prstGeom prst="roundRect">
            <a:avLst>
              <a:gd name="adj" fmla="val 562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A8E609B-ACA9-4FEA-BE8B-710040792FFF}"/>
              </a:ext>
            </a:extLst>
          </p:cNvPr>
          <p:cNvSpPr>
            <a:spLocks noGrp="1"/>
          </p:cNvSpPr>
          <p:nvPr/>
        </p:nvSpPr>
        <p:spPr>
          <a:xfrm>
            <a:off x="952500" y="2038350"/>
            <a:ext cx="1238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4E5F42E-6005-43C4-B986-1E96AE49BBCE}"/>
              </a:ext>
            </a:extLst>
          </p:cNvPr>
          <p:cNvSpPr>
            <a:spLocks noGrp="1"/>
          </p:cNvSpPr>
          <p:nvPr/>
        </p:nvSpPr>
        <p:spPr>
          <a:xfrm>
            <a:off x="893536" y="2171700"/>
            <a:ext cx="4151086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10000"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Осы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толық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300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жолдық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оқу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кестесін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талда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Жолдар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мен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бірегей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ID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санын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есепте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Мәртебелер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бойынша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санын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шығар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15.09.2026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күні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мерзімі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өткен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жабылмаған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жолдарды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қайталанатын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ID-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лерді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жауапты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адамы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жоқ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жолдарды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көрсет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Әр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есептеудің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ережесін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жаз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E3EDAA9-5E6A-4DD1-B8C5-4E892AE7A3CB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18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6A36DFF-5727-BDCC-25C5-D51E8DC2A6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559878" y="1608364"/>
            <a:ext cx="6606113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6142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4A4C892-ED8B-49CF-B970-5DEBB8589036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2. GEMINI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BEABD2E-392B-4BB0-B947-3C97F20D37BC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Gemini: сұраудың экрандағы көрінісі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238250" y="1510194"/>
            <a:ext cx="9715500" cy="3456613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38DB57F-E9B6-4BA9-90D7-AF8CA5D53E95}"/>
              </a:ext>
            </a:extLst>
          </p:cNvPr>
          <p:cNvSpPr>
            <a:spLocks noGrp="1"/>
          </p:cNvSpPr>
          <p:nvPr/>
        </p:nvSpPr>
        <p:spPr>
          <a:xfrm>
            <a:off x="619125" y="5100638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Сұрауда</a:t>
            </a:r>
            <a:r>
              <a:rPr sz="1425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файл</a:t>
            </a:r>
            <a:r>
              <a:rPr sz="1425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425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есептеу</a:t>
            </a:r>
            <a:r>
              <a:rPr sz="1425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күні</a:t>
            </a:r>
            <a:r>
              <a:rPr sz="1425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425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қажетті</a:t>
            </a:r>
            <a:r>
              <a:rPr sz="1425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көрсеткіштер</a:t>
            </a:r>
            <a:r>
              <a:rPr sz="1425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425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нәтиже</a:t>
            </a:r>
            <a:r>
              <a:rPr sz="1425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форматы</a:t>
            </a:r>
            <a:r>
              <a:rPr sz="1425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көрсетілген</a:t>
            </a:r>
            <a:r>
              <a:rPr sz="1425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998CEE8-061D-4CFD-9DA8-7EB5A67FEED5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1540673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BEFB714-E475-4B20-ADA8-B4ADC6A4A561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2. GEMINI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816550A-ED80-4FC7-AC76-B9A97998BED3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Gemini: алынған жауап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100234" y="1381125"/>
            <a:ext cx="5991532" cy="371475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A77FD2F-AB2F-4D48-840B-16D8E47D5CE9}"/>
              </a:ext>
            </a:extLst>
          </p:cNvPr>
          <p:cNvSpPr>
            <a:spLocks noGrp="1"/>
          </p:cNvSpPr>
          <p:nvPr/>
        </p:nvSpPr>
        <p:spPr>
          <a:xfrm>
            <a:off x="704850" y="5429250"/>
            <a:ext cx="1076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Тексеру: бір қайталанатын ID мен бір мерзімі өткен жолды Excel сүзгісі арқылы қолмен растаңыз.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F442B26-D452-4EFD-A37B-19A2CD30FFA0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353643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6F75F17-783A-4D8C-8E53-2867F5C3539C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3. PERPLEXITY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5082292-DD91-406B-A292-48D868650021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 не үшін қолданылады?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71F423A-86E1-4E6E-9E94-87C1A704308B}"/>
              </a:ext>
            </a:extLst>
          </p:cNvPr>
          <p:cNvSpPr>
            <a:spLocks noGrp="1"/>
          </p:cNvSpPr>
          <p:nvPr/>
        </p:nvSpPr>
        <p:spPr>
          <a:xfrm>
            <a:off x="704850" y="1381125"/>
            <a:ext cx="1076325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 вебтен ақпарат іздеп, жауапта пайдаланылған дереккөздердің сілтемелерін көрсетеді.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11DE911-7BE0-4BC0-B67E-3BA77576C7FA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2667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11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11B6C65-D822-4825-A565-B5C35186CAE6}"/>
              </a:ext>
            </a:extLst>
          </p:cNvPr>
          <p:cNvSpPr>
            <a:spLocks noGrp="1"/>
          </p:cNvSpPr>
          <p:nvPr/>
        </p:nvSpPr>
        <p:spPr>
          <a:xfrm>
            <a:off x="1238250" y="2476500"/>
            <a:ext cx="9925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Өзекті ереже мен талапты іздеу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1040BAC-E6DE-45D0-A6A9-953CBAF2EF0D}"/>
              </a:ext>
            </a:extLst>
          </p:cNvPr>
          <p:cNvSpPr>
            <a:spLocks noGrp="1"/>
          </p:cNvSpPr>
          <p:nvPr/>
        </p:nvSpPr>
        <p:spPr>
          <a:xfrm>
            <a:off x="876300" y="3095625"/>
            <a:ext cx="2667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11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FC1E3DA-D510-4E2F-AF2C-CDA52DC406BC}"/>
              </a:ext>
            </a:extLst>
          </p:cNvPr>
          <p:cNvSpPr>
            <a:spLocks noGrp="1"/>
          </p:cNvSpPr>
          <p:nvPr/>
        </p:nvSpPr>
        <p:spPr>
          <a:xfrm>
            <a:off x="1238250" y="3095625"/>
            <a:ext cx="9925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Бірнеше нұсқаны ресми деректермен салыстыру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62DA809-4B89-4FB8-B569-B2FA757C2411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2667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11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AD49BAA-444D-4C45-A014-5120BB492085}"/>
              </a:ext>
            </a:extLst>
          </p:cNvPr>
          <p:cNvSpPr>
            <a:spLocks noGrp="1"/>
          </p:cNvSpPr>
          <p:nvPr/>
        </p:nvSpPr>
        <p:spPr>
          <a:xfrm>
            <a:off x="1238250" y="3714750"/>
            <a:ext cx="9925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Ақпараттың қай сайттан алынғанын көру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56360E5-2D8E-4296-9B7D-752F924D1C08}"/>
              </a:ext>
            </a:extLst>
          </p:cNvPr>
          <p:cNvSpPr>
            <a:spLocks noGrp="1"/>
          </p:cNvSpPr>
          <p:nvPr/>
        </p:nvSpPr>
        <p:spPr>
          <a:xfrm>
            <a:off x="876300" y="4333875"/>
            <a:ext cx="2667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11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2CB3190-56BF-4B99-95AE-9A759B06163D}"/>
              </a:ext>
            </a:extLst>
          </p:cNvPr>
          <p:cNvSpPr>
            <a:spLocks noGrp="1"/>
          </p:cNvSpPr>
          <p:nvPr/>
        </p:nvSpPr>
        <p:spPr>
          <a:xfrm>
            <a:off x="1238250" y="4333875"/>
            <a:ext cx="9925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Дереккөзді ашып, күнін және мәтінін тексеру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9D5305A-FB76-4B04-AC53-46697643F2A2}"/>
              </a:ext>
            </a:extLst>
          </p:cNvPr>
          <p:cNvSpPr>
            <a:spLocks noGrp="1"/>
          </p:cNvSpPr>
          <p:nvPr/>
        </p:nvSpPr>
        <p:spPr>
          <a:xfrm>
            <a:off x="704850" y="5476875"/>
            <a:ext cx="107632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Сілтемесі бар жауап та міндетті түрде тексеріледі.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9A93CBE7-216A-4179-B413-7031FB867205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59859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DA003AB8-F781-4BBF-95A5-04FA8385A653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08C8148-0ACB-4D4B-A1B5-3CC78732978D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Perplexity: қол жүгі ережесін салыстыру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26D0AFF-26FE-4A2D-B0CE-ABB6B1C60FFC}"/>
              </a:ext>
            </a:extLst>
          </p:cNvPr>
          <p:cNvSpPr>
            <a:spLocks noGrp="1"/>
          </p:cNvSpPr>
          <p:nvPr/>
        </p:nvSpPr>
        <p:spPr>
          <a:xfrm>
            <a:off x="704850" y="1257300"/>
            <a:ext cx="1076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Күнделікті өмірдегі веб іздеу мысалы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FE6CC06C-642C-4042-9FB1-45F8531D2179}"/>
              </a:ext>
            </a:extLst>
          </p:cNvPr>
          <p:cNvSpPr>
            <a:spLocks noGrp="1"/>
          </p:cNvSpPr>
          <p:nvPr/>
        </p:nvSpPr>
        <p:spPr>
          <a:xfrm>
            <a:off x="704850" y="1809750"/>
            <a:ext cx="10763250" cy="3048000"/>
          </a:xfrm>
          <a:prstGeom prst="roundRect">
            <a:avLst>
              <a:gd name="adj" fmla="val 562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D542FC0-0A1B-4F21-9550-390ED15E1BAB}"/>
              </a:ext>
            </a:extLst>
          </p:cNvPr>
          <p:cNvSpPr>
            <a:spLocks noGrp="1"/>
          </p:cNvSpPr>
          <p:nvPr/>
        </p:nvSpPr>
        <p:spPr>
          <a:xfrm>
            <a:off x="952500" y="2038350"/>
            <a:ext cx="1238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5E2D449-3D0F-4BC4-AA6A-805A606386C6}"/>
              </a:ext>
            </a:extLst>
          </p:cNvPr>
          <p:cNvSpPr>
            <a:spLocks noGrp="1"/>
          </p:cNvSpPr>
          <p:nvPr/>
        </p:nvSpPr>
        <p:spPr>
          <a:xfrm>
            <a:off x="952500" y="2400300"/>
            <a:ext cx="10287000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15.09.2026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күнгі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Air Astana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эконом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класы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мен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FlyArystan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тегін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қол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жүгі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ережесін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салыстыр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Кестеде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салмақ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өлшем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орын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саны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болсын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Тек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ресми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сайттарды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пайдалан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Әр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дерекке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сілтеме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тексерілген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күнді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көрсет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57BC7F6-EFAC-4C90-A49C-A5F53E420731}"/>
              </a:ext>
            </a:extLst>
          </p:cNvPr>
          <p:cNvSpPr>
            <a:spLocks noGrp="1"/>
          </p:cNvSpPr>
          <p:nvPr/>
        </p:nvSpPr>
        <p:spPr>
          <a:xfrm>
            <a:off x="704850" y="5143500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E12F0E4-AB76-4881-A1C3-E1F9B801E9D5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7652668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0884CE5-9EAF-4B62-BC9E-72B6565718F5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3. PERPLEXITY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64D1DDD-9445-4A7A-A865-91093B695B17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Perplexity: жауап скриншоты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107F62C-07C9-4B8A-92ED-C959D510BBEC}"/>
              </a:ext>
            </a:extLst>
          </p:cNvPr>
          <p:cNvSpPr>
            <a:spLocks noGrp="1"/>
          </p:cNvSpPr>
          <p:nvPr/>
        </p:nvSpPr>
        <p:spPr>
          <a:xfrm>
            <a:off x="101309" y="5886450"/>
            <a:ext cx="107632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Жауаптағы</a:t>
            </a:r>
            <a:r>
              <a:rPr sz="1500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санды</a:t>
            </a:r>
            <a:r>
              <a:rPr sz="1500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ресми</a:t>
            </a:r>
            <a:r>
              <a:rPr sz="1500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әуе</a:t>
            </a:r>
            <a:r>
              <a:rPr sz="1500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компаниясы</a:t>
            </a:r>
            <a:r>
              <a:rPr sz="1500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парағынан</a:t>
            </a:r>
            <a:r>
              <a:rPr sz="1500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қайта</a:t>
            </a:r>
            <a:r>
              <a:rPr sz="1500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500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тексеріңіз</a:t>
            </a:r>
            <a:r>
              <a:rPr sz="1500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29AE9DF-7828-4FE7-8454-3A71699E8063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23</a:t>
            </a:r>
          </a:p>
        </p:txBody>
      </p:sp>
      <p:pic>
        <p:nvPicPr>
          <p:cNvPr id="7" name="Рисунок 6" descr="Изображение выглядит как текст, снимок экрана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BB627FE-1AD3-3B7C-CE50-21CF995319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6734" y="1170967"/>
            <a:ext cx="7772400" cy="4467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577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CB4FE26-B241-4305-9183-07E65480EF25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3. PERPLEXITY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AD4FACB-259E-4A87-92FD-7D6D31620E2D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Perplexity: дереккөзді тексеру</a:t>
            </a:r>
          </a:p>
        </p:txBody>
      </p:sp>
      <p:graphicFrame>
        <p:nvGraphicFramePr>
          <p:cNvPr id="8" name="Таблица 7"/>
          <p:cNvGraphicFramePr/>
          <p:nvPr/>
        </p:nvGraphicFramePr>
        <p:xfrm>
          <a:off x="704850" y="1476375"/>
          <a:ext cx="10763250" cy="3714750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5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Тексеру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Қойылатын сұрақ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Сайт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Бұл ресми әуе компаниясының сайты ма?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Күн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Ереже қашан жаңартылған?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Тариф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Эконом класына және қажетті тарифке қатысты ма?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Өлшем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Салмақ, өлшем және орын саны толық көрсетілген бе?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Қайшылық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Басқа ресми бетте өзгеше ереже бар ма?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477EAEF-A0BD-48FD-B70E-215045E418E5}"/>
              </a:ext>
            </a:extLst>
          </p:cNvPr>
          <p:cNvSpPr>
            <a:spLocks noGrp="1"/>
          </p:cNvSpPr>
          <p:nvPr/>
        </p:nvSpPr>
        <p:spPr>
          <a:xfrm>
            <a:off x="704850" y="5572125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Сатып алудан бұрын билеттің нақты тариф шартын қайта қараймыз.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80F09A7-7AE9-4D0F-9ACB-107D1FBDE90D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1257845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6F21D4F-AA1A-4AB6-9BFB-1A8B4F9D45BE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4. GROK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DBD1D26-9D37-4807-96DA-E0A8629352AE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Grok не үшін қолданылады?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4B7CFD6-AB60-4EE3-A3C8-81BD90873959}"/>
              </a:ext>
            </a:extLst>
          </p:cNvPr>
          <p:cNvSpPr>
            <a:spLocks noGrp="1"/>
          </p:cNvSpPr>
          <p:nvPr/>
        </p:nvSpPr>
        <p:spPr>
          <a:xfrm>
            <a:off x="704850" y="1381125"/>
            <a:ext cx="1076325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Grok сұраққа жауап беру, идеяны талқылау және рөлдік диалог жүргізу үшін қолданылуы мүмкін.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FD5A353-0586-4218-8B2F-CDE15CFA4FA0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2667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11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5B88FDA-F7B6-4D53-A210-47BD98A85AE0}"/>
              </a:ext>
            </a:extLst>
          </p:cNvPr>
          <p:cNvSpPr>
            <a:spLocks noGrp="1"/>
          </p:cNvSpPr>
          <p:nvPr/>
        </p:nvSpPr>
        <p:spPr>
          <a:xfrm>
            <a:off x="1238250" y="2476500"/>
            <a:ext cx="9925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Басымдықтарды келісу диалогын жаттықтыру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4F684B1-A63F-42D6-80EF-1EA8E47A12B2}"/>
              </a:ext>
            </a:extLst>
          </p:cNvPr>
          <p:cNvSpPr>
            <a:spLocks noGrp="1"/>
          </p:cNvSpPr>
          <p:nvPr/>
        </p:nvSpPr>
        <p:spPr>
          <a:xfrm>
            <a:off x="876300" y="3095625"/>
            <a:ext cx="2667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11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53D4216-6932-40E0-AB44-845F2838B884}"/>
              </a:ext>
            </a:extLst>
          </p:cNvPr>
          <p:cNvSpPr>
            <a:spLocks noGrp="1"/>
          </p:cNvSpPr>
          <p:nvPr/>
        </p:nvSpPr>
        <p:spPr>
          <a:xfrm>
            <a:off x="1238250" y="3095625"/>
            <a:ext cx="9925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Күрделі әңгіменің қысқа нұсқасын дайындау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D21D4B1-B0FE-46BE-B65A-CC86354CD738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2667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11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D656DE22-9153-4C42-8456-5616A8A8914D}"/>
              </a:ext>
            </a:extLst>
          </p:cNvPr>
          <p:cNvSpPr>
            <a:spLocks noGrp="1"/>
          </p:cNvSpPr>
          <p:nvPr/>
        </p:nvSpPr>
        <p:spPr>
          <a:xfrm>
            <a:off x="1238250" y="3714750"/>
            <a:ext cx="9925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Жоспарды өзгерген жағдайға бейімдеу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54B2776-48C7-457C-A2C8-271730EAB47C}"/>
              </a:ext>
            </a:extLst>
          </p:cNvPr>
          <p:cNvSpPr>
            <a:spLocks noGrp="1"/>
          </p:cNvSpPr>
          <p:nvPr/>
        </p:nvSpPr>
        <p:spPr>
          <a:xfrm>
            <a:off x="876300" y="4333875"/>
            <a:ext cx="2667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11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E0A50B6-43B0-46D1-A1BE-1BB51360492E}"/>
              </a:ext>
            </a:extLst>
          </p:cNvPr>
          <p:cNvSpPr>
            <a:spLocks noGrp="1"/>
          </p:cNvSpPr>
          <p:nvPr/>
        </p:nvSpPr>
        <p:spPr>
          <a:xfrm>
            <a:off x="1238250" y="4333875"/>
            <a:ext cx="9925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Ашық веб пен X жазбаларындағы ақпаратты талқылау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E98E0B5-D43A-4CCD-AA43-6EE083625A06}"/>
              </a:ext>
            </a:extLst>
          </p:cNvPr>
          <p:cNvSpPr>
            <a:spLocks noGrp="1"/>
          </p:cNvSpPr>
          <p:nvPr/>
        </p:nvSpPr>
        <p:spPr>
          <a:xfrm>
            <a:off x="704850" y="5476875"/>
            <a:ext cx="107632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Ашық жазбалардағы пікірді ресми дерек деп қабылдамаймыз.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43044DA-430A-407F-8A4F-1F0A3FE9D37C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2531588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B2EB725-A3ED-41F1-9D09-001926A13799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4. GROK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CC5842D-5503-46DE-BEAE-D0B1890B16DE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Grok бастапқы экраны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035015" y="1285875"/>
            <a:ext cx="6102920" cy="41910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19E40B9-42CD-4C80-A89D-852C324E7EA4}"/>
              </a:ext>
            </a:extLst>
          </p:cNvPr>
          <p:cNvSpPr>
            <a:spLocks noGrp="1"/>
          </p:cNvSpPr>
          <p:nvPr/>
        </p:nvSpPr>
        <p:spPr>
          <a:xfrm>
            <a:off x="704850" y="5667375"/>
            <a:ext cx="107632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75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Сұрақ енгізу өрісі ортасында орналасқан. Интерфейс уақыт өте өзгеруі мүмкін.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19E379C-38B6-46CC-8D5B-EA9878C2903F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327132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72B8D22-0A07-4BDA-B38D-BD2225B9B319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FB61E2E-091D-4BAE-8313-FC30235B8420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Grok: басымдықтарды келісу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EBACB2E-6228-40F8-BB24-DFD715A31DAB}"/>
              </a:ext>
            </a:extLst>
          </p:cNvPr>
          <p:cNvSpPr>
            <a:spLocks noGrp="1"/>
          </p:cNvSpPr>
          <p:nvPr/>
        </p:nvSpPr>
        <p:spPr>
          <a:xfrm>
            <a:off x="704850" y="1257300"/>
            <a:ext cx="1076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12 сағат жұмысқа 8 сағат қана бар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2DFC58F8-6AE6-4CFC-BFBA-E2FF6C5D5CF8}"/>
              </a:ext>
            </a:extLst>
          </p:cNvPr>
          <p:cNvSpPr>
            <a:spLocks noGrp="1"/>
          </p:cNvSpPr>
          <p:nvPr/>
        </p:nvSpPr>
        <p:spPr>
          <a:xfrm>
            <a:off x="704850" y="1809750"/>
            <a:ext cx="10763250" cy="3048000"/>
          </a:xfrm>
          <a:prstGeom prst="roundRect">
            <a:avLst>
              <a:gd name="adj" fmla="val 562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7108020-EF26-425D-878A-70F709BB0DA1}"/>
              </a:ext>
            </a:extLst>
          </p:cNvPr>
          <p:cNvSpPr>
            <a:spLocks noGrp="1"/>
          </p:cNvSpPr>
          <p:nvPr/>
        </p:nvSpPr>
        <p:spPr>
          <a:xfrm>
            <a:off x="952500" y="2038350"/>
            <a:ext cx="1238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4430F77-BC51-40AA-92AF-4A87885D6E99}"/>
              </a:ext>
            </a:extLst>
          </p:cNvPr>
          <p:cNvSpPr>
            <a:spLocks noGrp="1"/>
          </p:cNvSpPr>
          <p:nvPr/>
        </p:nvSpPr>
        <p:spPr>
          <a:xfrm>
            <a:off x="952500" y="2400300"/>
            <a:ext cx="10287000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Сен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басшысың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мен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қызметкермін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Есепке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5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сағат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өтінімдерді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салыстыруға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4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сағат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хаттарға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3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сағат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керек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Жұмыс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күні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8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сағат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Бір-бірден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сұрақ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қойып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басымдықтарды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сабырмен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келісуге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көмектес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Соңында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орындалатын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жоспар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жаса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87BFA86-732A-4BF3-BB9E-473948593BA0}"/>
              </a:ext>
            </a:extLst>
          </p:cNvPr>
          <p:cNvSpPr>
            <a:spLocks noGrp="1"/>
          </p:cNvSpPr>
          <p:nvPr/>
        </p:nvSpPr>
        <p:spPr>
          <a:xfrm>
            <a:off x="704850" y="5143500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3ED23FD-ECB3-4C68-ACA3-417C6FFBFE09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6267767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D53AFB7-9CA1-4CE4-B950-2BEC11E8C11C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ЭКРАНДАҒЫ НӘТИЖЕ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991FE9D-29F3-4D33-9E50-A79A71492E27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Grok: диалог нәтижесі</a:t>
            </a: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E35A4C3-4BB1-462C-9977-3584DEF5BE47}"/>
              </a:ext>
            </a:extLst>
          </p:cNvPr>
          <p:cNvSpPr>
            <a:spLocks noGrp="1"/>
          </p:cNvSpPr>
          <p:nvPr/>
        </p:nvSpPr>
        <p:spPr>
          <a:xfrm>
            <a:off x="704850" y="1381125"/>
            <a:ext cx="10763250" cy="3714750"/>
          </a:xfrm>
          <a:prstGeom prst="roundRect">
            <a:avLst>
              <a:gd name="adj" fmla="val 461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B108F77-7D83-4764-9A83-92EBF3EE235C}"/>
              </a:ext>
            </a:extLst>
          </p:cNvPr>
          <p:cNvSpPr>
            <a:spLocks noGrp="1"/>
          </p:cNvSpPr>
          <p:nvPr/>
        </p:nvSpPr>
        <p:spPr>
          <a:xfrm>
            <a:off x="952500" y="1590675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ЖИ ЖАУАБЫНЫҢ ОҚУ ҮЛГІСІ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FC59F9D-70B9-43A5-8DD5-6192D3094F76}"/>
              </a:ext>
            </a:extLst>
          </p:cNvPr>
          <p:cNvSpPr>
            <a:spLocks noGrp="1"/>
          </p:cNvSpPr>
          <p:nvPr/>
        </p:nvSpPr>
        <p:spPr>
          <a:xfrm>
            <a:off x="952500" y="2000250"/>
            <a:ext cx="233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Grok сұрағы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01ACE2D-42CF-4E67-A1F0-511A41B7374A}"/>
              </a:ext>
            </a:extLst>
          </p:cNvPr>
          <p:cNvSpPr>
            <a:spLocks noGrp="1"/>
          </p:cNvSpPr>
          <p:nvPr/>
        </p:nvSpPr>
        <p:spPr>
          <a:xfrm>
            <a:off x="3333750" y="2000250"/>
            <a:ext cx="7810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Бүгін қай нәтиже басшылық үшін ең маңызды?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C92145B-C6F6-4BBB-A1D4-9F741E4E3AA2}"/>
              </a:ext>
            </a:extLst>
          </p:cNvPr>
          <p:cNvSpPr>
            <a:spLocks noGrp="1"/>
          </p:cNvSpPr>
          <p:nvPr/>
        </p:nvSpPr>
        <p:spPr>
          <a:xfrm>
            <a:off x="952500" y="2552700"/>
            <a:ext cx="233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Қызметкер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7D758CB-EC4A-40FE-8375-EB7B5F561019}"/>
              </a:ext>
            </a:extLst>
          </p:cNvPr>
          <p:cNvSpPr>
            <a:spLocks noGrp="1"/>
          </p:cNvSpPr>
          <p:nvPr/>
        </p:nvSpPr>
        <p:spPr>
          <a:xfrm>
            <a:off x="3333750" y="2552700"/>
            <a:ext cx="7810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Есепті бүгін аяқтау керек. Өтінімдердің жартысын бүгін қарай аламын.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1C4BF85-69AE-40F9-A42C-20A43C8F8888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233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Grok ұсынысы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CACBBF4-5246-438F-92AB-5D0C16337110}"/>
              </a:ext>
            </a:extLst>
          </p:cNvPr>
          <p:cNvSpPr>
            <a:spLocks noGrp="1"/>
          </p:cNvSpPr>
          <p:nvPr/>
        </p:nvSpPr>
        <p:spPr>
          <a:xfrm>
            <a:off x="3333750" y="3105150"/>
            <a:ext cx="7810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467"/>
          </a:bodyPr>
          <a:lstStyle/>
          <a:p>
            <a:pPr algn="l"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5 сағат есеп, 3 сағат маңызды өтінімдер. Хаттарды келесі уақытқа ауыстыруды келісу.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45FB3FB-A5A6-4D01-9E06-712168C04C8E}"/>
              </a:ext>
            </a:extLst>
          </p:cNvPr>
          <p:cNvSpPr>
            <a:spLocks noGrp="1"/>
          </p:cNvSpPr>
          <p:nvPr/>
        </p:nvSpPr>
        <p:spPr>
          <a:xfrm>
            <a:off x="952500" y="3657600"/>
            <a:ext cx="233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Келесі қадам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6A0A8F7-3EFD-41BC-8394-2665B51EF797}"/>
              </a:ext>
            </a:extLst>
          </p:cNvPr>
          <p:cNvSpPr>
            <a:spLocks noGrp="1"/>
          </p:cNvSpPr>
          <p:nvPr/>
        </p:nvSpPr>
        <p:spPr>
          <a:xfrm>
            <a:off x="3333750" y="3657600"/>
            <a:ext cx="7810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Басшымен мерзім мен қайта бөлу мүмкіндігін нақтылау.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90AF7723-9E8B-4903-B0D5-68C03C590780}"/>
              </a:ext>
            </a:extLst>
          </p:cNvPr>
          <p:cNvSpPr>
            <a:spLocks noGrp="1"/>
          </p:cNvSpPr>
          <p:nvPr/>
        </p:nvSpPr>
        <p:spPr>
          <a:xfrm>
            <a:off x="704850" y="5334000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Тексеру: 5 + 3 = 8 сағат па және орындалмайтын уәде жоқ па?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43B4D32-4D94-41F7-8B89-CE7D47C0FD67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4248012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C4C5B50-1260-4EFD-9446-3A20602739CB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5. GAMMA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7194B95-08F0-41FE-A3AD-C1A8921437FE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Gamma не үшін қолданылады?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E4992B5-BD56-4DBE-A35F-53BD591BC650}"/>
              </a:ext>
            </a:extLst>
          </p:cNvPr>
          <p:cNvSpPr>
            <a:spLocks noGrp="1"/>
          </p:cNvSpPr>
          <p:nvPr/>
        </p:nvSpPr>
        <p:spPr>
          <a:xfrm>
            <a:off x="704850" y="1381125"/>
            <a:ext cx="1076325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Gamma тексерілген мәтіннен презентацияның алғашқы құрылымы мен дизайнын дайындауға көмектеседі.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9B49026-7A73-4571-8C2C-C29824759CD0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2667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11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30872F1-212F-4513-A79F-79C716330BD2}"/>
              </a:ext>
            </a:extLst>
          </p:cNvPr>
          <p:cNvSpPr>
            <a:spLocks noGrp="1"/>
          </p:cNvSpPr>
          <p:nvPr/>
        </p:nvSpPr>
        <p:spPr>
          <a:xfrm>
            <a:off x="1238250" y="2476500"/>
            <a:ext cx="9925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Мәтінді слайдтарға бөлу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176B747-79BE-45D2-AFAF-82F932C694D2}"/>
              </a:ext>
            </a:extLst>
          </p:cNvPr>
          <p:cNvSpPr>
            <a:spLocks noGrp="1"/>
          </p:cNvSpPr>
          <p:nvPr/>
        </p:nvSpPr>
        <p:spPr>
          <a:xfrm>
            <a:off x="876300" y="3095625"/>
            <a:ext cx="2667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11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E62AD56-B5D1-47C0-9BB5-4CA3A03838BA}"/>
              </a:ext>
            </a:extLst>
          </p:cNvPr>
          <p:cNvSpPr>
            <a:spLocks noGrp="1"/>
          </p:cNvSpPr>
          <p:nvPr/>
        </p:nvSpPr>
        <p:spPr>
          <a:xfrm>
            <a:off x="1238250" y="3095625"/>
            <a:ext cx="9925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Тақырыптар мен қысқа мазмұн ұсыну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CC67740-87AE-4369-AC20-833D08DE95EF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2667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11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0805C91-B080-4442-841B-95965269C75F}"/>
              </a:ext>
            </a:extLst>
          </p:cNvPr>
          <p:cNvSpPr>
            <a:spLocks noGrp="1"/>
          </p:cNvSpPr>
          <p:nvPr/>
        </p:nvSpPr>
        <p:spPr>
          <a:xfrm>
            <a:off x="1238250" y="3714750"/>
            <a:ext cx="9925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Бастапқы визуалдық стиль таңдау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D2FC917-FDF2-4BCF-B651-98BA270239AA}"/>
              </a:ext>
            </a:extLst>
          </p:cNvPr>
          <p:cNvSpPr>
            <a:spLocks noGrp="1"/>
          </p:cNvSpPr>
          <p:nvPr/>
        </p:nvSpPr>
        <p:spPr>
          <a:xfrm>
            <a:off x="876300" y="4333875"/>
            <a:ext cx="2667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11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4CBBA027-8DA4-4469-A068-8F667A958E5B}"/>
              </a:ext>
            </a:extLst>
          </p:cNvPr>
          <p:cNvSpPr>
            <a:spLocks noGrp="1"/>
          </p:cNvSpPr>
          <p:nvPr/>
        </p:nvSpPr>
        <p:spPr>
          <a:xfrm>
            <a:off x="1238250" y="4333875"/>
            <a:ext cx="99250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Дайын материалды экспорттау және қолмен түзету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32289CB7-C7EB-4137-BB16-7CE3CDB0187C}"/>
              </a:ext>
            </a:extLst>
          </p:cNvPr>
          <p:cNvSpPr>
            <a:spLocks noGrp="1"/>
          </p:cNvSpPr>
          <p:nvPr/>
        </p:nvSpPr>
        <p:spPr>
          <a:xfrm>
            <a:off x="704850" y="5476875"/>
            <a:ext cx="107632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Gamma жасаған факт, сурет және мәтінді презентация авторы тексереді.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3E9C05C-4EAA-48A8-8A44-575853CF9AA0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1127483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28E9326-88A6-4310-8CDE-6ECF9F7B5127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46558EC-9D05-4BB0-82FC-BD17250DAD72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Gamma: презентацияға сұрау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163C120-F946-4A99-8FA5-F3F5AB6C74BA}"/>
              </a:ext>
            </a:extLst>
          </p:cNvPr>
          <p:cNvSpPr>
            <a:spLocks noGrp="1"/>
          </p:cNvSpPr>
          <p:nvPr/>
        </p:nvSpPr>
        <p:spPr>
          <a:xfrm>
            <a:off x="704850" y="1257300"/>
            <a:ext cx="1076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Gamma-ға тек тексерілген және құпиясыз мәтін береміз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9235C5F3-2EBA-461F-9CF4-F73F6093DF27}"/>
              </a:ext>
            </a:extLst>
          </p:cNvPr>
          <p:cNvSpPr>
            <a:spLocks noGrp="1"/>
          </p:cNvSpPr>
          <p:nvPr/>
        </p:nvSpPr>
        <p:spPr>
          <a:xfrm>
            <a:off x="704850" y="1809750"/>
            <a:ext cx="10763250" cy="3048000"/>
          </a:xfrm>
          <a:prstGeom prst="roundRect">
            <a:avLst>
              <a:gd name="adj" fmla="val 562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A412DB3-1388-4E1F-BC91-22085655D8AB}"/>
              </a:ext>
            </a:extLst>
          </p:cNvPr>
          <p:cNvSpPr>
            <a:spLocks noGrp="1"/>
          </p:cNvSpPr>
          <p:nvPr/>
        </p:nvSpPr>
        <p:spPr>
          <a:xfrm>
            <a:off x="952500" y="2038350"/>
            <a:ext cx="1238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ECB35F4-240E-477D-89B7-4DC236EB5908}"/>
              </a:ext>
            </a:extLst>
          </p:cNvPr>
          <p:cNvSpPr>
            <a:spLocks noGrp="1"/>
          </p:cNvSpPr>
          <p:nvPr/>
        </p:nvSpPr>
        <p:spPr>
          <a:xfrm>
            <a:off x="952500" y="2400300"/>
            <a:ext cx="10287000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Интергаз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қызметкерлеріне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арналған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«ЖИ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көмегімен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жұмыс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уақытын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үнемдеу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»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тақырыбында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8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слайдтық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презентация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жаса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Тілі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қазақша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Аудитория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ЖИ-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жаңадан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үйреніп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жатыр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Бөлімдер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: ЖИ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анықтамасы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қауіпсіздік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қызметтік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хат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хаттама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Excel,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дереккөзді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тексеру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практика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қорытынды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Әр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слайдта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бір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негізгі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ой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болсын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40256AB-A579-4775-84BC-0F001B1CDFB7}"/>
              </a:ext>
            </a:extLst>
          </p:cNvPr>
          <p:cNvSpPr>
            <a:spLocks noGrp="1"/>
          </p:cNvSpPr>
          <p:nvPr/>
        </p:nvSpPr>
        <p:spPr>
          <a:xfrm>
            <a:off x="704850" y="5143500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F751404-CA94-414B-978B-9EF25B9BA750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340034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85E3208-5FEE-4096-938E-39BD4E0D7D3A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5. GAMMA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0A6ABD4-73DB-4638-8647-4E34123903E3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Gamma: алынатын нәтиже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581666" y="1333500"/>
            <a:ext cx="7028669" cy="409575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8E3B149-4916-4DC6-AADE-77A8EC70EA7A}"/>
              </a:ext>
            </a:extLst>
          </p:cNvPr>
          <p:cNvSpPr>
            <a:spLocks noGrp="1"/>
          </p:cNvSpPr>
          <p:nvPr/>
        </p:nvSpPr>
        <p:spPr>
          <a:xfrm>
            <a:off x="704850" y="5619750"/>
            <a:ext cx="1076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Оқу үлгісі: құрылым дайын болғаннан кейін мәтін, сурет, термин және деректер қайта тексеріледі.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D04F98B-8204-47DE-B909-D4D2B09B33F2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8834125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59C5625-0E2C-440C-8DAD-767EA1D68323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1-БӨЛІМ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68CB797-3799-48E5-9616-369A88FD0D6A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Күнделікті өмірдегі ЖИ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27760C4-728E-4846-A5FC-D5B368A37C02}"/>
              </a:ext>
            </a:extLst>
          </p:cNvPr>
          <p:cNvSpPr>
            <a:spLocks noGrp="1"/>
          </p:cNvSpPr>
          <p:nvPr/>
        </p:nvSpPr>
        <p:spPr>
          <a:xfrm>
            <a:off x="704850" y="1952625"/>
            <a:ext cx="8763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Сапар, сатып алу, күн жоспары және отбасыға арналған материалдар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3507BBE-01FA-4645-8945-533B3158649D}"/>
              </a:ext>
            </a:extLst>
          </p:cNvPr>
          <p:cNvSpPr>
            <a:spLocks noGrp="1"/>
          </p:cNvSpPr>
          <p:nvPr/>
        </p:nvSpPr>
        <p:spPr>
          <a:xfrm>
            <a:off x="704850" y="3524250"/>
            <a:ext cx="85725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Мақсат: дұрыс шарттарды беру және дереккөзді тексеру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68A02D8-89A4-42AF-867F-B2B329281AA1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9820900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AE4AFA1-60F4-4F73-AF93-33FD0DD1F317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6602AE3-3080-481B-932F-EE14775221C2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Сапарды жоспарлау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3E858B3-D84A-448E-A493-121D97D5A4E6}"/>
              </a:ext>
            </a:extLst>
          </p:cNvPr>
          <p:cNvSpPr>
            <a:spLocks noGrp="1"/>
          </p:cNvSpPr>
          <p:nvPr/>
        </p:nvSpPr>
        <p:spPr>
          <a:xfrm>
            <a:off x="704850" y="1257300"/>
            <a:ext cx="1076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Іздеу нәтижесін сатып алудың орнына қолданбаймыз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CC1E44F-5AC1-4766-8736-20B575203C5B}"/>
              </a:ext>
            </a:extLst>
          </p:cNvPr>
          <p:cNvSpPr>
            <a:spLocks noGrp="1"/>
          </p:cNvSpPr>
          <p:nvPr/>
        </p:nvSpPr>
        <p:spPr>
          <a:xfrm>
            <a:off x="704849" y="1809750"/>
            <a:ext cx="11372849" cy="1368879"/>
          </a:xfrm>
          <a:prstGeom prst="roundRect">
            <a:avLst>
              <a:gd name="adj" fmla="val 562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F1AB5EC-C86E-42C2-9F73-7164ADC477A8}"/>
              </a:ext>
            </a:extLst>
          </p:cNvPr>
          <p:cNvSpPr>
            <a:spLocks noGrp="1"/>
          </p:cNvSpPr>
          <p:nvPr/>
        </p:nvSpPr>
        <p:spPr>
          <a:xfrm>
            <a:off x="952500" y="2038350"/>
            <a:ext cx="1238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2130273-E3B5-4B4B-9E87-7B771AC99066}"/>
              </a:ext>
            </a:extLst>
          </p:cNvPr>
          <p:cNvSpPr>
            <a:spLocks noGrp="1"/>
          </p:cNvSpPr>
          <p:nvPr/>
        </p:nvSpPr>
        <p:spPr>
          <a:xfrm>
            <a:off x="922564" y="1619250"/>
            <a:ext cx="10287000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Алматыдан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Астанаға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25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қыркүйекте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бір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адамға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рейстерді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салыстыруға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көмектес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20:00-ге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дейін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келуім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керек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20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кг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багаж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қажет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Нәтижені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кестемен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бер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: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ұшу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уақыты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келу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уақыты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багаж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толық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баға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дереккөз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тексерілген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күн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0DFD2C4-308F-4422-AC06-6DEBAE69FA5D}"/>
              </a:ext>
            </a:extLst>
          </p:cNvPr>
          <p:cNvSpPr>
            <a:spLocks noGrp="1"/>
          </p:cNvSpPr>
          <p:nvPr/>
        </p:nvSpPr>
        <p:spPr>
          <a:xfrm>
            <a:off x="619125" y="3254829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1970DB5-C649-49A6-B780-5B0B396F751A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33</a:t>
            </a:r>
          </a:p>
        </p:txBody>
      </p:sp>
      <p:pic>
        <p:nvPicPr>
          <p:cNvPr id="11" name="Рисунок 10" descr="Изображение выглядит как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A95E1A3-DEA1-EB0C-09C3-EE2F6812DB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91"/>
          <a:stretch>
            <a:fillRect/>
          </a:stretch>
        </p:blipFill>
        <p:spPr>
          <a:xfrm>
            <a:off x="619125" y="3790950"/>
            <a:ext cx="5055961" cy="2319564"/>
          </a:xfrm>
          <a:prstGeom prst="rect">
            <a:avLst/>
          </a:prstGeom>
        </p:spPr>
      </p:pic>
      <p:pic>
        <p:nvPicPr>
          <p:cNvPr id="13" name="Рисунок 12" descr="Изображение выглядит как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B76F8CD-9051-A49D-EFD0-14F5E6F3DB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9076" y="3325884"/>
            <a:ext cx="6298623" cy="348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5200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E400159-7591-4055-87B4-AA97CFFE51F3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A0A6105-DF56-43A8-B72E-558B80648623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Сатып алуды салыстыру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380BA03-5992-4C4F-A6B4-0300655C7913}"/>
              </a:ext>
            </a:extLst>
          </p:cNvPr>
          <p:cNvSpPr>
            <a:spLocks noGrp="1"/>
          </p:cNvSpPr>
          <p:nvPr/>
        </p:nvSpPr>
        <p:spPr>
          <a:xfrm>
            <a:off x="704850" y="952500"/>
            <a:ext cx="1076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Баға</a:t>
            </a:r>
            <a:r>
              <a:rPr sz="135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35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емес</a:t>
            </a:r>
            <a:r>
              <a:rPr sz="135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35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толық</a:t>
            </a:r>
            <a:r>
              <a:rPr sz="135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35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пайдалану</a:t>
            </a:r>
            <a:r>
              <a:rPr sz="135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35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шығынын</a:t>
            </a:r>
            <a:r>
              <a:rPr sz="135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35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салыстырамыз</a:t>
            </a:r>
            <a:endParaRPr sz="1350" b="0" dirty="0">
              <a:solidFill>
                <a:srgbClr val="59616E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EEF8E33C-9145-468D-8F2B-544CB567E128}"/>
              </a:ext>
            </a:extLst>
          </p:cNvPr>
          <p:cNvSpPr>
            <a:spLocks noGrp="1"/>
          </p:cNvSpPr>
          <p:nvPr/>
        </p:nvSpPr>
        <p:spPr>
          <a:xfrm>
            <a:off x="723900" y="1314450"/>
            <a:ext cx="10763250" cy="1752600"/>
          </a:xfrm>
          <a:prstGeom prst="roundRect">
            <a:avLst>
              <a:gd name="adj" fmla="val 562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EA53009-4986-4A03-ADD5-41BA337DB307}"/>
              </a:ext>
            </a:extLst>
          </p:cNvPr>
          <p:cNvSpPr>
            <a:spLocks noGrp="1"/>
          </p:cNvSpPr>
          <p:nvPr/>
        </p:nvSpPr>
        <p:spPr>
          <a:xfrm>
            <a:off x="952500" y="1485900"/>
            <a:ext cx="1238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 dirty="0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7664FF3-450A-4C14-8A37-95A633DC9F77}"/>
              </a:ext>
            </a:extLst>
          </p:cNvPr>
          <p:cNvSpPr>
            <a:spLocks noGrp="1"/>
          </p:cNvSpPr>
          <p:nvPr/>
        </p:nvSpPr>
        <p:spPr>
          <a:xfrm>
            <a:off x="942975" y="1295400"/>
            <a:ext cx="10287000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Мына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екі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принтер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моделін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салыстыр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: [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сілтеме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1]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[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сілтеме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2].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Айына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500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бет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басып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шығарамын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Өндіруші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сайтынан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басу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жылдамдығын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екіжақты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басуды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картридж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ресурсын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кепілдікті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тексер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Соңында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менің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талабым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үшін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қолайлысын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түсіндір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D30B7D0-AECE-43AE-A438-25BCF4B1A79D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үлгісі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Құпия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жеке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деректерді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енгізбейміз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F36CB13-0802-4560-9F6C-AA1583B660EA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34</a:t>
            </a:r>
          </a:p>
        </p:txBody>
      </p:sp>
      <p:pic>
        <p:nvPicPr>
          <p:cNvPr id="11" name="Рисунок 10" descr="Изображение выглядит как текст, снимок экрана, Шрифт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7FE52B5-BEC4-16C8-6A1A-DB8207061A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1" y="3390901"/>
            <a:ext cx="3644900" cy="3415500"/>
          </a:xfrm>
          <a:prstGeom prst="rect">
            <a:avLst/>
          </a:prstGeom>
        </p:spPr>
      </p:pic>
      <p:pic>
        <p:nvPicPr>
          <p:cNvPr id="13" name="Рисунок 12" descr="Изображение выглядит как текст, снимок экрана, меню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3488F74-CBA0-6F55-5DFE-4529E834E3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1817" y="3219450"/>
            <a:ext cx="5897208" cy="3598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895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C6D0FA3-3FE3-42AF-BB52-AA65BF477953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D0A6C60-B9E7-41A3-B448-3F6DAA8EB7A1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Күн тәртібін жоспарлау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4003B6B-3AEB-4292-AF7A-B34A9A6A8BEE}"/>
              </a:ext>
            </a:extLst>
          </p:cNvPr>
          <p:cNvSpPr>
            <a:spLocks noGrp="1"/>
          </p:cNvSpPr>
          <p:nvPr/>
        </p:nvSpPr>
        <p:spPr>
          <a:xfrm>
            <a:off x="704850" y="995136"/>
            <a:ext cx="1076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ЖИ </a:t>
            </a:r>
            <a:r>
              <a:rPr sz="135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жетіспейтін</a:t>
            </a:r>
            <a:r>
              <a:rPr sz="135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35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ақпаратты</a:t>
            </a:r>
            <a:r>
              <a:rPr sz="135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35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алдымен</a:t>
            </a:r>
            <a:r>
              <a:rPr sz="135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35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сұрайды</a:t>
            </a:r>
            <a:endParaRPr sz="1350" b="0" dirty="0">
              <a:solidFill>
                <a:srgbClr val="59616E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3CA3F61F-1607-434F-8154-C052FE99B1E2}"/>
              </a:ext>
            </a:extLst>
          </p:cNvPr>
          <p:cNvSpPr>
            <a:spLocks noGrp="1"/>
          </p:cNvSpPr>
          <p:nvPr/>
        </p:nvSpPr>
        <p:spPr>
          <a:xfrm>
            <a:off x="704850" y="1357086"/>
            <a:ext cx="10763250" cy="1553028"/>
          </a:xfrm>
          <a:prstGeom prst="roundRect">
            <a:avLst>
              <a:gd name="adj" fmla="val 562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F7D00CA-B2DF-438D-8C2C-B085B76DC9A6}"/>
              </a:ext>
            </a:extLst>
          </p:cNvPr>
          <p:cNvSpPr>
            <a:spLocks noGrp="1"/>
          </p:cNvSpPr>
          <p:nvPr/>
        </p:nvSpPr>
        <p:spPr>
          <a:xfrm>
            <a:off x="952500" y="1543050"/>
            <a:ext cx="1238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 dirty="0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233F03E-7F3D-419C-8B46-557A95673BDF}"/>
              </a:ext>
            </a:extLst>
          </p:cNvPr>
          <p:cNvSpPr>
            <a:spLocks noGrp="1"/>
          </p:cNvSpPr>
          <p:nvPr/>
        </p:nvSpPr>
        <p:spPr>
          <a:xfrm>
            <a:off x="857250" y="1299936"/>
            <a:ext cx="10287000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10:00-ден 16:00-ге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дейін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азық-түлік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алу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,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сервис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орталығына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бару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ата-анама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соғу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керек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Түскі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асқа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уақыт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30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минут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қалдыр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Алдымен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жол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мен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істердің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ұзақтығын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сұра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Содан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кейін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орындалатын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жоспар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жаса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AFCB994-5F0A-4EF6-94C6-955AA97CCB53}"/>
              </a:ext>
            </a:extLst>
          </p:cNvPr>
          <p:cNvSpPr>
            <a:spLocks noGrp="1"/>
          </p:cNvSpPr>
          <p:nvPr/>
        </p:nvSpPr>
        <p:spPr>
          <a:xfrm>
            <a:off x="704850" y="3009900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үлгісі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Құпия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жеке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деректерді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200" b="0" dirty="0" err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енгізбейміз</a:t>
            </a:r>
            <a:r>
              <a:rPr sz="1200" b="0" dirty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38BE353-835C-457E-98A6-2EB19F822282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35</a:t>
            </a:r>
          </a:p>
        </p:txBody>
      </p:sp>
      <p:pic>
        <p:nvPicPr>
          <p:cNvPr id="11" name="Рисунок 10" descr="Изображение выглядит как текст, снимок экрана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C6EAA33-CB6E-49BA-2D86-7957DEF896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850" y="3295650"/>
            <a:ext cx="5835650" cy="3560654"/>
          </a:xfrm>
          <a:prstGeom prst="rect">
            <a:avLst/>
          </a:prstGeom>
        </p:spPr>
      </p:pic>
      <p:pic>
        <p:nvPicPr>
          <p:cNvPr id="13" name="Рисунок 12" descr="Изображение выглядит как текст, снимок экрана, программное обеспечение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09A8D5C-09E7-7C97-A90D-F919A06DDC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2900" y="3333836"/>
            <a:ext cx="5322251" cy="352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370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47DE0D8-59AA-4387-96DB-3247B02E3BD5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0001562-A4BC-4D37-9EFE-C1AE3F62E6E8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Фото немесе файлды түсіндіру</a:t>
            </a: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04850" y="1162050"/>
            <a:ext cx="4572000" cy="3044788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BE23662-DB08-45AD-9E85-DBC86293454D}"/>
              </a:ext>
            </a:extLst>
          </p:cNvPr>
          <p:cNvSpPr>
            <a:spLocks noGrp="1"/>
          </p:cNvSpPr>
          <p:nvPr/>
        </p:nvSpPr>
        <p:spPr>
          <a:xfrm>
            <a:off x="5905500" y="1162050"/>
            <a:ext cx="4762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Сұрау үлгісі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66F8B79-3EBE-4145-AFCA-7071841C3D91}"/>
              </a:ext>
            </a:extLst>
          </p:cNvPr>
          <p:cNvSpPr>
            <a:spLocks noGrp="1"/>
          </p:cNvSpPr>
          <p:nvPr/>
        </p:nvSpPr>
        <p:spPr>
          <a:xfrm>
            <a:off x="5810250" y="1033462"/>
            <a:ext cx="4953000" cy="1952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«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Құжаттың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негізгі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ойын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қарапайым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тілмен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түсіндір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Міндетті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мерзімдерді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кімге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қатысты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екенін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бөлек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жаз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Әр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жауаптың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бетін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немесе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бөлімін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көрсет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»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C70A954-0FA6-40C3-BC81-316DF89F22F0}"/>
              </a:ext>
            </a:extLst>
          </p:cNvPr>
          <p:cNvSpPr>
            <a:spLocks noGrp="1"/>
          </p:cNvSpPr>
          <p:nvPr/>
        </p:nvSpPr>
        <p:spPr>
          <a:xfrm>
            <a:off x="5810250" y="2447925"/>
            <a:ext cx="4953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 dirty="0" err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Құпия</a:t>
            </a:r>
            <a:r>
              <a:rPr sz="1425" b="1" dirty="0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 dirty="0" err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құжатты</a:t>
            </a:r>
            <a:r>
              <a:rPr sz="1425" b="1" dirty="0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 dirty="0" err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жүктемейміз</a:t>
            </a:r>
            <a:r>
              <a:rPr sz="1425" b="1" dirty="0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425" b="1" dirty="0" err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Тек</a:t>
            </a:r>
            <a:r>
              <a:rPr sz="1425" b="1" dirty="0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 dirty="0" err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рұқсат</a:t>
            </a:r>
            <a:r>
              <a:rPr sz="1425" b="1" dirty="0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 dirty="0" err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етілген</a:t>
            </a:r>
            <a:r>
              <a:rPr sz="1425" b="1" dirty="0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 dirty="0" err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оқу</a:t>
            </a:r>
            <a:r>
              <a:rPr sz="1425" b="1" dirty="0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 dirty="0" err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файлын</a:t>
            </a:r>
            <a:r>
              <a:rPr sz="1425" b="1" dirty="0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425" b="1" dirty="0" err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қолданамыз</a:t>
            </a:r>
            <a:r>
              <a:rPr sz="1425" b="1" dirty="0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1E2103B-DCAE-4931-8DBC-13A4FB9D4053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36</a:t>
            </a:r>
          </a:p>
        </p:txBody>
      </p:sp>
      <p:pic>
        <p:nvPicPr>
          <p:cNvPr id="9" name="Рисунок 8" descr="Изображение выглядит как текст, снимок экрана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040EB37-2960-BFDF-E645-3AD9081F5B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3486" y="2976394"/>
            <a:ext cx="6361665" cy="3881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1592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613F062-FAFA-447E-85E2-B47397A2391D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2-БӨЛІМ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76550B6-A47A-4AB0-A7CC-1BD3517591B2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Жұмыста қолдану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9A60A5A-318D-49A6-BCFD-47BCBEBC73C4}"/>
              </a:ext>
            </a:extLst>
          </p:cNvPr>
          <p:cNvSpPr>
            <a:spLocks noGrp="1"/>
          </p:cNvSpPr>
          <p:nvPr/>
        </p:nvSpPr>
        <p:spPr>
          <a:xfrm>
            <a:off x="704850" y="1952625"/>
            <a:ext cx="9334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Қызметтік хат, хаттама, ауысым есебі, Excel және техникалық мәтін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C878364-F442-40B7-B5F6-1A465C092B74}"/>
              </a:ext>
            </a:extLst>
          </p:cNvPr>
          <p:cNvSpPr>
            <a:spLocks noGrp="1"/>
          </p:cNvSpPr>
          <p:nvPr/>
        </p:nvSpPr>
        <p:spPr>
          <a:xfrm>
            <a:off x="704850" y="3524250"/>
            <a:ext cx="85725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Барлық деректер ойдан құрастырылған оқу мысалдары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2259983-CB72-455E-ACFE-4656B435A560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7590557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1C020B2-FE72-45B7-AC22-0A017F72576D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59FE84C-D628-471B-866C-60E4AFE9FAB6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1. Қызметтік хат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CE94793-DF98-4D60-B9E6-EAA70A74F3EC}"/>
              </a:ext>
            </a:extLst>
          </p:cNvPr>
          <p:cNvSpPr>
            <a:spLocks noGrp="1"/>
          </p:cNvSpPr>
          <p:nvPr/>
        </p:nvSpPr>
        <p:spPr>
          <a:xfrm>
            <a:off x="704850" y="1257300"/>
            <a:ext cx="1076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дерегі: нақты объект пен қызметкер аты қолданылмайды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E1BA25B9-2328-4787-8590-6FA545D6E6D9}"/>
              </a:ext>
            </a:extLst>
          </p:cNvPr>
          <p:cNvSpPr>
            <a:spLocks noGrp="1"/>
          </p:cNvSpPr>
          <p:nvPr/>
        </p:nvSpPr>
        <p:spPr>
          <a:xfrm>
            <a:off x="704850" y="1809750"/>
            <a:ext cx="10763250" cy="3048000"/>
          </a:xfrm>
          <a:prstGeom prst="roundRect">
            <a:avLst>
              <a:gd name="adj" fmla="val 562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62C0F01-34EA-46CC-8590-C2FFAFE10FF2}"/>
              </a:ext>
            </a:extLst>
          </p:cNvPr>
          <p:cNvSpPr>
            <a:spLocks noGrp="1"/>
          </p:cNvSpPr>
          <p:nvPr/>
        </p:nvSpPr>
        <p:spPr>
          <a:xfrm>
            <a:off x="952500" y="2038350"/>
            <a:ext cx="1238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7AAE8F6-FD23-4F3A-98C1-30A9A5F964A0}"/>
              </a:ext>
            </a:extLst>
          </p:cNvPr>
          <p:cNvSpPr>
            <a:spLocks noGrp="1"/>
          </p:cNvSpPr>
          <p:nvPr/>
        </p:nvSpPr>
        <p:spPr>
          <a:xfrm>
            <a:off x="952500" y="2400300"/>
            <a:ext cx="10287000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Сен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тәжірибелі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іс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жүргізушісің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Техникалық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қызмет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көрсету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мерзімі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20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қыркүйектен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25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қыркүйекке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ауысты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Себебі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: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оқу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мысалындағы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қосалқы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бөлшек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кешікті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Басшылыққа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арналған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қысқа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қызметтік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хат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жаз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Ресми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стиль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қолдан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Қазақ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және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орыс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тілдерінде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бер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Мәтінде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жоқ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деректі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875" b="0" dirty="0" err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қоспа</a:t>
            </a:r>
            <a:r>
              <a:rPr sz="1875" b="0" dirty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10646B4-741F-4358-A91C-569E629936B3}"/>
              </a:ext>
            </a:extLst>
          </p:cNvPr>
          <p:cNvSpPr>
            <a:spLocks noGrp="1"/>
          </p:cNvSpPr>
          <p:nvPr/>
        </p:nvSpPr>
        <p:spPr>
          <a:xfrm>
            <a:off x="704850" y="5143500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5F5337E-9499-4677-8045-86C97CD255E9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10929492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296DDC9-915D-48AA-824A-42455B50E1F6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ЭКРАНДАҒЫ НӘТИЖЕ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2EB6A89-5572-442D-AF9F-7CEECF96A4F3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1. Хаттың нәтижесі</a:t>
            </a: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9302833-1CC1-41B1-AB22-C6C00DB7B80C}"/>
              </a:ext>
            </a:extLst>
          </p:cNvPr>
          <p:cNvSpPr>
            <a:spLocks noGrp="1"/>
          </p:cNvSpPr>
          <p:nvPr/>
        </p:nvSpPr>
        <p:spPr>
          <a:xfrm>
            <a:off x="704850" y="1381125"/>
            <a:ext cx="10763250" cy="3714750"/>
          </a:xfrm>
          <a:prstGeom prst="roundRect">
            <a:avLst>
              <a:gd name="adj" fmla="val 461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EB8D5D9-2AB3-43E9-B17A-0259A71ECA2A}"/>
              </a:ext>
            </a:extLst>
          </p:cNvPr>
          <p:cNvSpPr>
            <a:spLocks noGrp="1"/>
          </p:cNvSpPr>
          <p:nvPr/>
        </p:nvSpPr>
        <p:spPr>
          <a:xfrm>
            <a:off x="952500" y="1590675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ЖИ ЖАУАБЫНЫҢ ОҚУ ҮЛГІСІ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A55F29C-5821-4283-84E9-F7432CA26CB1}"/>
              </a:ext>
            </a:extLst>
          </p:cNvPr>
          <p:cNvSpPr>
            <a:spLocks noGrp="1"/>
          </p:cNvSpPr>
          <p:nvPr/>
        </p:nvSpPr>
        <p:spPr>
          <a:xfrm>
            <a:off x="952500" y="2000250"/>
            <a:ext cx="233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Тақырып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808CAC4-5DBA-42A5-B917-72BCFFF55AAF}"/>
              </a:ext>
            </a:extLst>
          </p:cNvPr>
          <p:cNvSpPr>
            <a:spLocks noGrp="1"/>
          </p:cNvSpPr>
          <p:nvPr/>
        </p:nvSpPr>
        <p:spPr>
          <a:xfrm>
            <a:off x="3333750" y="2000250"/>
            <a:ext cx="7810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Техникалық қызмет көрсету мерзімінің өзгеруі туралы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145242C-D3ED-40DE-9C07-53C21A5C1170}"/>
              </a:ext>
            </a:extLst>
          </p:cNvPr>
          <p:cNvSpPr>
            <a:spLocks noGrp="1"/>
          </p:cNvSpPr>
          <p:nvPr/>
        </p:nvSpPr>
        <p:spPr>
          <a:xfrm>
            <a:off x="952500" y="2552700"/>
            <a:ext cx="233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Негізгі ақпарат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C24E261-D414-419D-9C96-908B5E117BF0}"/>
              </a:ext>
            </a:extLst>
          </p:cNvPr>
          <p:cNvSpPr>
            <a:spLocks noGrp="1"/>
          </p:cNvSpPr>
          <p:nvPr/>
        </p:nvSpPr>
        <p:spPr>
          <a:xfrm>
            <a:off x="3333750" y="2552700"/>
            <a:ext cx="7810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Жұмысты орындау мерзімі 20 қыркүйектен 25 қыркүйекке ауысады.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7B9C5A5-F185-4BD3-AA67-539431090535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233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Себеп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7C85F0-7973-4ADF-944C-EB8A51AA98CE}"/>
              </a:ext>
            </a:extLst>
          </p:cNvPr>
          <p:cNvSpPr>
            <a:spLocks noGrp="1"/>
          </p:cNvSpPr>
          <p:nvPr/>
        </p:nvSpPr>
        <p:spPr>
          <a:xfrm>
            <a:off x="3333750" y="3105150"/>
            <a:ext cx="7810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Қосалқы бөлшектің кешігуі.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40E78A10-2D24-431D-8623-CF30406E6D58}"/>
              </a:ext>
            </a:extLst>
          </p:cNvPr>
          <p:cNvSpPr>
            <a:spLocks noGrp="1"/>
          </p:cNvSpPr>
          <p:nvPr/>
        </p:nvSpPr>
        <p:spPr>
          <a:xfrm>
            <a:off x="952500" y="3657600"/>
            <a:ext cx="233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Қосымша белгі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3285D5B-9862-495F-825A-84CCE9FEE95C}"/>
              </a:ext>
            </a:extLst>
          </p:cNvPr>
          <p:cNvSpPr>
            <a:spLocks noGrp="1"/>
          </p:cNvSpPr>
          <p:nvPr/>
        </p:nvSpPr>
        <p:spPr>
          <a:xfrm>
            <a:off x="3333750" y="3657600"/>
            <a:ext cx="7810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Адресат пен жіберуші көрсетілмеген.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450EB81-71BE-4E79-B5FB-8BA8152951B4}"/>
              </a:ext>
            </a:extLst>
          </p:cNvPr>
          <p:cNvSpPr>
            <a:spLocks noGrp="1"/>
          </p:cNvSpPr>
          <p:nvPr/>
        </p:nvSpPr>
        <p:spPr>
          <a:xfrm>
            <a:off x="704850" y="5334000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Тексеру: күндер дұрыс па, себеп өзгермеді ме, ойдан қосылған адам немесе объект жоқ па?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37AE86C-2CA9-47BE-8690-B64D60D8F7DC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4201196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DD33310-82AF-4718-9B7F-4EB21DD3690A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7B43F12-A9AA-4E51-9896-A7AC91760940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2. Хаттамадан тапсырмалар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A0258DE-846D-40DB-A232-9BFA12A5951E}"/>
              </a:ext>
            </a:extLst>
          </p:cNvPr>
          <p:cNvSpPr>
            <a:spLocks noGrp="1"/>
          </p:cNvSpPr>
          <p:nvPr/>
        </p:nvSpPr>
        <p:spPr>
          <a:xfrm>
            <a:off x="704850" y="1257300"/>
            <a:ext cx="1076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ЖИ шешім мен ұсынысты шатастырмауы керек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C9E00E7F-930E-4368-B214-DE715151A0CB}"/>
              </a:ext>
            </a:extLst>
          </p:cNvPr>
          <p:cNvSpPr>
            <a:spLocks noGrp="1"/>
          </p:cNvSpPr>
          <p:nvPr/>
        </p:nvSpPr>
        <p:spPr>
          <a:xfrm>
            <a:off x="704850" y="1809750"/>
            <a:ext cx="10763250" cy="3048000"/>
          </a:xfrm>
          <a:prstGeom prst="roundRect">
            <a:avLst>
              <a:gd name="adj" fmla="val 562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6680B5-1C04-49F8-9E58-4C85AA656A5F}"/>
              </a:ext>
            </a:extLst>
          </p:cNvPr>
          <p:cNvSpPr>
            <a:spLocks noGrp="1"/>
          </p:cNvSpPr>
          <p:nvPr/>
        </p:nvSpPr>
        <p:spPr>
          <a:xfrm>
            <a:off x="952500" y="2038350"/>
            <a:ext cx="1238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37461BD-B06F-44DC-B0EE-E77B071DB4C4}"/>
              </a:ext>
            </a:extLst>
          </p:cNvPr>
          <p:cNvSpPr>
            <a:spLocks noGrp="1"/>
          </p:cNvSpPr>
          <p:nvPr/>
        </p:nvSpPr>
        <p:spPr>
          <a:xfrm>
            <a:off x="952500" y="2400300"/>
            <a:ext cx="10287000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Төмендегі хаттама мәтінінен орындалатын тапсырмаларды шығар. Кесте бағандары: тапсырма, жауапты адам, мерзім, мәртебе. Қабылданбаған ұсыныстарды бөлек көрсет. Адам немесе мерзім жазылмаса, «көрсетілмеген» деп жаз. [ХАТТАМА МӘТІНІ]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0B88C9D-43C5-42F8-B915-ACA9C1BDD5D5}"/>
              </a:ext>
            </a:extLst>
          </p:cNvPr>
          <p:cNvSpPr>
            <a:spLocks noGrp="1"/>
          </p:cNvSpPr>
          <p:nvPr/>
        </p:nvSpPr>
        <p:spPr>
          <a:xfrm>
            <a:off x="704850" y="5143500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F4410CF-90CC-4E1E-BB91-13436C66C55B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154541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C36EC77-6A84-45D9-B782-384B3B2CC475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ЭКРАНДАҒЫ НӘТИЖЕ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48E2212-8A3D-4653-AEC6-89C25DFC73A3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2. Хаттама нәтижесі</a:t>
            </a:r>
          </a:p>
        </p:txBody>
      </p:sp>
      <p:graphicFrame>
        <p:nvGraphicFramePr>
          <p:cNvPr id="10" name="Таблица 9"/>
          <p:cNvGraphicFramePr/>
          <p:nvPr/>
        </p:nvGraphicFramePr>
        <p:xfrm>
          <a:off x="704850" y="1476375"/>
          <a:ext cx="10763250" cy="2857500"/>
        </p:xfrm>
        <a:graphic>
          <a:graphicData uri="http://schemas.openxmlformats.org/drawingml/2006/table">
            <a:tbl>
              <a:tblPr/>
              <a:tblGrid>
                <a:gridCol w="409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Тапсырма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Жауапты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Мерзім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Мәртебе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Бағдарламаны дайындау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Әлия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18 қыркүйек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Қабылданды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Дыбысты тексеру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Тимур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21 қыркүйек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Қабылданды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Залды брондау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Көрсетілмеген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18 қыркүйек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Нақтылау керек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Кеңсе заттары тізімі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Марат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Көрсетілмеген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Нақтылау керек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2DE5FE1A-DF01-4A54-8508-8A26CB513086}"/>
              </a:ext>
            </a:extLst>
          </p:cNvPr>
          <p:cNvSpPr>
            <a:spLocks noGrp="1"/>
          </p:cNvSpPr>
          <p:nvPr/>
        </p:nvSpPr>
        <p:spPr>
          <a:xfrm>
            <a:off x="704850" y="4762500"/>
            <a:ext cx="10763250" cy="857250"/>
          </a:xfrm>
          <a:prstGeom prst="roundRect">
            <a:avLst>
              <a:gd name="adj" fmla="val 15556"/>
            </a:avLst>
          </a:prstGeom>
          <a:solidFill>
            <a:srgbClr val="EDF2E3"/>
          </a:solidFill>
          <a:ln w="9525">
            <a:solidFill>
              <a:srgbClr val="D7DCCF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3640A80-FCFD-41D8-8CDF-8828FF83C3F7}"/>
              </a:ext>
            </a:extLst>
          </p:cNvPr>
          <p:cNvSpPr>
            <a:spLocks noGrp="1"/>
          </p:cNvSpPr>
          <p:nvPr/>
        </p:nvSpPr>
        <p:spPr>
          <a:xfrm>
            <a:off x="933450" y="4953000"/>
            <a:ext cx="100965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Қабылданбаған ұсыныс: кофе-брейсті ұйымдастыру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5AAFDA7-7D54-4877-ACDF-BE5A0D518CEC}"/>
              </a:ext>
            </a:extLst>
          </p:cNvPr>
          <p:cNvSpPr>
            <a:spLocks noGrp="1"/>
          </p:cNvSpPr>
          <p:nvPr/>
        </p:nvSpPr>
        <p:spPr>
          <a:xfrm>
            <a:off x="704850" y="581025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Келесі қадам: жауапты адам мен мерзімі жоқ жолдар бойынша әріптестерге сұрақ дайындау.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896AEFA-D2FE-4A30-B2BF-C2DBC96AE9AD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5079649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766D458-BBB1-4135-89E2-243669CB6A1B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B95FD40-F3D9-4858-8ABB-712EE0AADAD1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3. Ауысым есебі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AF2210A-4B09-4E88-A01B-41B46865B266}"/>
              </a:ext>
            </a:extLst>
          </p:cNvPr>
          <p:cNvSpPr>
            <a:spLocks noGrp="1"/>
          </p:cNvSpPr>
          <p:nvPr/>
        </p:nvSpPr>
        <p:spPr>
          <a:xfrm>
            <a:off x="704850" y="1257300"/>
            <a:ext cx="1076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Нәтиже бастапқы жазбаны алмастырмайды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01D896FD-424E-41FA-8ADD-9E46F0C16999}"/>
              </a:ext>
            </a:extLst>
          </p:cNvPr>
          <p:cNvSpPr>
            <a:spLocks noGrp="1"/>
          </p:cNvSpPr>
          <p:nvPr/>
        </p:nvSpPr>
        <p:spPr>
          <a:xfrm>
            <a:off x="704850" y="1809750"/>
            <a:ext cx="10763250" cy="3048000"/>
          </a:xfrm>
          <a:prstGeom prst="roundRect">
            <a:avLst>
              <a:gd name="adj" fmla="val 562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7DA0679-D63E-4654-8A2A-13E1F0EF763D}"/>
              </a:ext>
            </a:extLst>
          </p:cNvPr>
          <p:cNvSpPr>
            <a:spLocks noGrp="1"/>
          </p:cNvSpPr>
          <p:nvPr/>
        </p:nvSpPr>
        <p:spPr>
          <a:xfrm>
            <a:off x="952500" y="2038350"/>
            <a:ext cx="1238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AB5CF58-7164-42DE-AE53-5A186C92F2B8}"/>
              </a:ext>
            </a:extLst>
          </p:cNvPr>
          <p:cNvSpPr>
            <a:spLocks noGrp="1"/>
          </p:cNvSpPr>
          <p:nvPr/>
        </p:nvSpPr>
        <p:spPr>
          <a:xfrm>
            <a:off x="952500" y="2400300"/>
            <a:ext cx="10287000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Осы ойдан құрастырылған ауысым жазбасын төрт бөлімге бөл: негізгі оқиғалар, орындалған жұмыстар, шешілмеген мәселелер, келесі ауысымға тапсырмалар. Уақыт пен нысан атауларын өзгертпе. Мәлімет жетпесе, «нақтылау қажет» деп белгіле. [АУЫСЫМ ЖАЗБАСЫ]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E584A4F-B1A8-41A3-9D92-6B76158998D7}"/>
              </a:ext>
            </a:extLst>
          </p:cNvPr>
          <p:cNvSpPr>
            <a:spLocks noGrp="1"/>
          </p:cNvSpPr>
          <p:nvPr/>
        </p:nvSpPr>
        <p:spPr>
          <a:xfrm>
            <a:off x="704850" y="5143500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5A15DA0-0033-424B-811E-F5AA62C9340F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3963092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4EC181F-ECC6-46F3-BAF7-CF8413944C13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ЭКРАНДАҒЫ НӘТИЖЕ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49D5986-4275-420C-BB63-E2412F91A29F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3. Ауысым есебінің құрылымы</a:t>
            </a: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0D9B05B2-85F2-413F-ABF3-576CB4DAB914}"/>
              </a:ext>
            </a:extLst>
          </p:cNvPr>
          <p:cNvSpPr>
            <a:spLocks noGrp="1"/>
          </p:cNvSpPr>
          <p:nvPr/>
        </p:nvSpPr>
        <p:spPr>
          <a:xfrm>
            <a:off x="704850" y="1381125"/>
            <a:ext cx="10763250" cy="3714750"/>
          </a:xfrm>
          <a:prstGeom prst="roundRect">
            <a:avLst>
              <a:gd name="adj" fmla="val 461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5BA4C1C-1B27-4DDC-97EF-0EC1C714A513}"/>
              </a:ext>
            </a:extLst>
          </p:cNvPr>
          <p:cNvSpPr>
            <a:spLocks noGrp="1"/>
          </p:cNvSpPr>
          <p:nvPr/>
        </p:nvSpPr>
        <p:spPr>
          <a:xfrm>
            <a:off x="952500" y="1590675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ЖИ ЖАУАБЫНЫҢ ОҚУ ҮЛГІСІ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E5E3C08-B155-4D26-B8F7-00232B8D706C}"/>
              </a:ext>
            </a:extLst>
          </p:cNvPr>
          <p:cNvSpPr>
            <a:spLocks noGrp="1"/>
          </p:cNvSpPr>
          <p:nvPr/>
        </p:nvSpPr>
        <p:spPr>
          <a:xfrm>
            <a:off x="952500" y="2000250"/>
            <a:ext cx="233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Негізгі оқиға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CC14345-5CE1-482B-BACD-65AF806208E4}"/>
              </a:ext>
            </a:extLst>
          </p:cNvPr>
          <p:cNvSpPr>
            <a:spLocks noGrp="1"/>
          </p:cNvSpPr>
          <p:nvPr/>
        </p:nvSpPr>
        <p:spPr>
          <a:xfrm>
            <a:off x="3333750" y="2000250"/>
            <a:ext cx="7810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14:20-да оқу нысанындағы қысым көрсеткіші тексерілді.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F91F0D8-B565-4DE5-982C-B7F912F100EF}"/>
              </a:ext>
            </a:extLst>
          </p:cNvPr>
          <p:cNvSpPr>
            <a:spLocks noGrp="1"/>
          </p:cNvSpPr>
          <p:nvPr/>
        </p:nvSpPr>
        <p:spPr>
          <a:xfrm>
            <a:off x="952500" y="2552700"/>
            <a:ext cx="233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Орындалған жұмыс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07963CE-52D6-4F8F-9EBD-BE4A9DA781FF}"/>
              </a:ext>
            </a:extLst>
          </p:cNvPr>
          <p:cNvSpPr>
            <a:spLocks noGrp="1"/>
          </p:cNvSpPr>
          <p:nvPr/>
        </p:nvSpPr>
        <p:spPr>
          <a:xfrm>
            <a:off x="3333750" y="2552700"/>
            <a:ext cx="7810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Өлшеу қайталанып, журналға белгі қойылды.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298359A-CAFC-458B-A47B-D42C88C36D04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233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Шешілмеген мәселе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4661EE5-D619-4267-B900-C107F58C830E}"/>
              </a:ext>
            </a:extLst>
          </p:cNvPr>
          <p:cNvSpPr>
            <a:spLocks noGrp="1"/>
          </p:cNvSpPr>
          <p:nvPr/>
        </p:nvSpPr>
        <p:spPr>
          <a:xfrm>
            <a:off x="3333750" y="3105150"/>
            <a:ext cx="7810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Келесі тексеру уақыты көрсетілмеген.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77D379A-EF8B-4CB9-9D34-D224F22DB3A9}"/>
              </a:ext>
            </a:extLst>
          </p:cNvPr>
          <p:cNvSpPr>
            <a:spLocks noGrp="1"/>
          </p:cNvSpPr>
          <p:nvPr/>
        </p:nvSpPr>
        <p:spPr>
          <a:xfrm>
            <a:off x="952500" y="3657600"/>
            <a:ext cx="233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Келесі ауысым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8AD4C8E9-F244-41BA-A1A1-DF538803DA7F}"/>
              </a:ext>
            </a:extLst>
          </p:cNvPr>
          <p:cNvSpPr>
            <a:spLocks noGrp="1"/>
          </p:cNvSpPr>
          <p:nvPr/>
        </p:nvSpPr>
        <p:spPr>
          <a:xfrm>
            <a:off x="3333750" y="3657600"/>
            <a:ext cx="7810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Тексеру уақытын жауапты маманмен нақтылау.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C2A44C2-4E7C-4236-8B1F-A73EF2578019}"/>
              </a:ext>
            </a:extLst>
          </p:cNvPr>
          <p:cNvSpPr>
            <a:spLocks noGrp="1"/>
          </p:cNvSpPr>
          <p:nvPr/>
        </p:nvSpPr>
        <p:spPr>
          <a:xfrm>
            <a:off x="704850" y="5334000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Тексеру: әр жол бастапқы мәтінде бар ма және техникалық мағына өзгермеді ме?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9CE928-2871-412B-BA6B-A7895767AC9E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8041979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9001416-CAE0-420A-8843-E12F7166FAFD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719FB91-AC29-494F-8B60-86D24E6483AC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4. Excel деректері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13169" y="1381125"/>
            <a:ext cx="8746611" cy="390525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716B2C1-F6B1-4ED8-9D31-EC887B437D88}"/>
              </a:ext>
            </a:extLst>
          </p:cNvPr>
          <p:cNvSpPr>
            <a:spLocks noGrp="1"/>
          </p:cNvSpPr>
          <p:nvPr/>
        </p:nvSpPr>
        <p:spPr>
          <a:xfrm>
            <a:off x="704850" y="5572125"/>
            <a:ext cx="1076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Оқу файлы: 300 жол. Нақты қызметтік дерек жоқ.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0EC35A5-7A41-4F56-8609-E479A32AB9D1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19702217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0B9BC53-0D3F-49D7-9A89-CC8E1D1DD5A3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6413F5C-842E-47F8-92D8-0C99CC5C7FB0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4. Excel бойынша сұрау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4E98FC-8708-4B69-ABDB-F7890FFF7D10}"/>
              </a:ext>
            </a:extLst>
          </p:cNvPr>
          <p:cNvSpPr>
            <a:spLocks noGrp="1"/>
          </p:cNvSpPr>
          <p:nvPr/>
        </p:nvSpPr>
        <p:spPr>
          <a:xfrm>
            <a:off x="704850" y="1257300"/>
            <a:ext cx="1076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Бүкіл ауқымды қосамыз, тек экранда көрінетін бөлікті емес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DC72497-A590-4574-942D-1E16581B5C8F}"/>
              </a:ext>
            </a:extLst>
          </p:cNvPr>
          <p:cNvSpPr>
            <a:spLocks noGrp="1"/>
          </p:cNvSpPr>
          <p:nvPr/>
        </p:nvSpPr>
        <p:spPr>
          <a:xfrm>
            <a:off x="704850" y="1809750"/>
            <a:ext cx="10763250" cy="3048000"/>
          </a:xfrm>
          <a:prstGeom prst="roundRect">
            <a:avLst>
              <a:gd name="adj" fmla="val 562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F6F2DB0-FB33-43B5-886E-EED68FC1F9E7}"/>
              </a:ext>
            </a:extLst>
          </p:cNvPr>
          <p:cNvSpPr>
            <a:spLocks noGrp="1"/>
          </p:cNvSpPr>
          <p:nvPr/>
        </p:nvSpPr>
        <p:spPr>
          <a:xfrm>
            <a:off x="952500" y="2038350"/>
            <a:ext cx="1238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AD2A0CC-DFA9-4759-ADE0-87135E03E062}"/>
              </a:ext>
            </a:extLst>
          </p:cNvPr>
          <p:cNvSpPr>
            <a:spLocks noGrp="1"/>
          </p:cNvSpPr>
          <p:nvPr/>
        </p:nvSpPr>
        <p:spPr>
          <a:xfrm>
            <a:off x="952500" y="2400300"/>
            <a:ext cx="10287000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Осы толық 300 жолдық оқу кестесін талда. 1) жол және бірегей ID санын есепте; 2) мәртебелер санын шығар; 3) 15.09.2026 күні жабылмаған және мерзімі өткен жолдарды тап; 4) қайталанатын ID мен жауапты адамы жоқ жолдарды көрсет. Әр есептеудің ережесін жаз.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B4C3164-95FC-487F-9735-C2A02ADE3A8A}"/>
              </a:ext>
            </a:extLst>
          </p:cNvPr>
          <p:cNvSpPr>
            <a:spLocks noGrp="1"/>
          </p:cNvSpPr>
          <p:nvPr/>
        </p:nvSpPr>
        <p:spPr>
          <a:xfrm>
            <a:off x="704850" y="5143500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1F33795-2B14-4815-AEE0-F5B0A396AFF7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189550011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C08E3DB-EBDC-4BF2-9031-F1A2D2DEB1A2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ЭКРАНДАҒЫ НӘТИЖЕ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DC3EAFF-D500-4760-8ECB-F61FEC1F9CEE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4. Excel нәтижесі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177048" y="1381125"/>
            <a:ext cx="5837903" cy="36195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E7E3430-2048-4A3A-AA68-89C81246E4A5}"/>
              </a:ext>
            </a:extLst>
          </p:cNvPr>
          <p:cNvSpPr>
            <a:spLocks noGrp="1"/>
          </p:cNvSpPr>
          <p:nvPr/>
        </p:nvSpPr>
        <p:spPr>
          <a:xfrm>
            <a:off x="704850" y="5286375"/>
            <a:ext cx="1076325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Нәтиже: 300 жол, 298 бірегей ID, 75 мерзімі өткен жол, 10 жауаптысы жоқ жол, қайталанған ID: Z-007 және Z-014.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D31A196-C00B-4499-BC69-F659DC2E42AF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3680719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76D7AFD-77FE-43DB-9302-774E88B8AC6D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8202388-6093-4254-A8FC-80E9E133BC8D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4. Тексеруден кейінгі әрекет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F2AA566-0EA9-4F32-8E5F-83743FEC856B}"/>
              </a:ext>
            </a:extLst>
          </p:cNvPr>
          <p:cNvSpPr>
            <a:spLocks noGrp="1"/>
          </p:cNvSpPr>
          <p:nvPr/>
        </p:nvSpPr>
        <p:spPr>
          <a:xfrm>
            <a:off x="876300" y="1619250"/>
            <a:ext cx="2667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531"/>
          </a:bodyPr>
          <a:lstStyle/>
          <a:p>
            <a:pPr algn="l"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13D570E-8091-4328-ABAF-9D65A61642E8}"/>
              </a:ext>
            </a:extLst>
          </p:cNvPr>
          <p:cNvSpPr>
            <a:spLocks noGrp="1"/>
          </p:cNvSpPr>
          <p:nvPr/>
        </p:nvSpPr>
        <p:spPr>
          <a:xfrm>
            <a:off x="1238250" y="1619250"/>
            <a:ext cx="992505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Z-007 және Z-014 ID неге қайталанғанын анықтау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FE22D4D-E600-440A-B26F-684D38880773}"/>
              </a:ext>
            </a:extLst>
          </p:cNvPr>
          <p:cNvSpPr>
            <a:spLocks noGrp="1"/>
          </p:cNvSpPr>
          <p:nvPr/>
        </p:nvSpPr>
        <p:spPr>
          <a:xfrm>
            <a:off x="876300" y="2381250"/>
            <a:ext cx="2667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531"/>
          </a:bodyPr>
          <a:lstStyle/>
          <a:p>
            <a:pPr algn="l"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DD5DB1F-E7A3-46FC-A53A-4D32175EFC55}"/>
              </a:ext>
            </a:extLst>
          </p:cNvPr>
          <p:cNvSpPr>
            <a:spLocks noGrp="1"/>
          </p:cNvSpPr>
          <p:nvPr/>
        </p:nvSpPr>
        <p:spPr>
          <a:xfrm>
            <a:off x="1238250" y="2381250"/>
            <a:ext cx="992505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Жауапты адам көрсетілмеген 10 жолды нақтылау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E649416-F88B-4981-8571-E6DCF986B839}"/>
              </a:ext>
            </a:extLst>
          </p:cNvPr>
          <p:cNvSpPr>
            <a:spLocks noGrp="1"/>
          </p:cNvSpPr>
          <p:nvPr/>
        </p:nvSpPr>
        <p:spPr>
          <a:xfrm>
            <a:off x="876300" y="3143250"/>
            <a:ext cx="2667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531"/>
          </a:bodyPr>
          <a:lstStyle/>
          <a:p>
            <a:pPr algn="l"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5C62A4B-474F-4397-BB7F-C44568FB4BA5}"/>
              </a:ext>
            </a:extLst>
          </p:cNvPr>
          <p:cNvSpPr>
            <a:spLocks noGrp="1"/>
          </p:cNvSpPr>
          <p:nvPr/>
        </p:nvSpPr>
        <p:spPr>
          <a:xfrm>
            <a:off x="1238250" y="3143250"/>
            <a:ext cx="992505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Мерзімі өткен 75 жолды тапсырма иелерімен қарау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63F1C50-01FA-42FE-9730-8100450D1AC7}"/>
              </a:ext>
            </a:extLst>
          </p:cNvPr>
          <p:cNvSpPr>
            <a:spLocks noGrp="1"/>
          </p:cNvSpPr>
          <p:nvPr/>
        </p:nvSpPr>
        <p:spPr>
          <a:xfrm>
            <a:off x="876300" y="3905250"/>
            <a:ext cx="2667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531"/>
          </a:bodyPr>
          <a:lstStyle/>
          <a:p>
            <a:pPr algn="l"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B918069-E8E7-41F1-A4BA-D26D70B561E1}"/>
              </a:ext>
            </a:extLst>
          </p:cNvPr>
          <p:cNvSpPr>
            <a:spLocks noGrp="1"/>
          </p:cNvSpPr>
          <p:nvPr/>
        </p:nvSpPr>
        <p:spPr>
          <a:xfrm>
            <a:off x="1238250" y="3905250"/>
            <a:ext cx="992505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Есептеу ережесін және тексеру күнін есепте сақтау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4B11D04-3A3A-404A-B18F-653B3CDEA430}"/>
              </a:ext>
            </a:extLst>
          </p:cNvPr>
          <p:cNvSpPr>
            <a:spLocks noGrp="1"/>
          </p:cNvSpPr>
          <p:nvPr/>
        </p:nvSpPr>
        <p:spPr>
          <a:xfrm>
            <a:off x="704850" y="5334000"/>
            <a:ext cx="10763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ЖИ әрекетті орындамайды. Ол тек тексерілген деректерге сүйенген ұсыныс береді.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6888140-58B6-498B-AC8D-559C030DB84D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5394896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EBC5B81-C260-44BD-A988-7D755283F578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29F37B9-9B13-40D3-A9F5-619F31F657E0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5. Техникалық нұсқаулық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085FDE0-CA43-4D87-8769-7E62BA964964}"/>
              </a:ext>
            </a:extLst>
          </p:cNvPr>
          <p:cNvSpPr>
            <a:spLocks noGrp="1"/>
          </p:cNvSpPr>
          <p:nvPr/>
        </p:nvSpPr>
        <p:spPr>
          <a:xfrm>
            <a:off x="704850" y="1257300"/>
            <a:ext cx="1076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Қысқарту кезінде талаптың мағынасы өзгермеуі керек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82ED903C-953E-4CB7-8EEC-2BBB8B99AB4A}"/>
              </a:ext>
            </a:extLst>
          </p:cNvPr>
          <p:cNvSpPr>
            <a:spLocks noGrp="1"/>
          </p:cNvSpPr>
          <p:nvPr/>
        </p:nvSpPr>
        <p:spPr>
          <a:xfrm>
            <a:off x="704850" y="1809750"/>
            <a:ext cx="10763250" cy="3048000"/>
          </a:xfrm>
          <a:prstGeom prst="roundRect">
            <a:avLst>
              <a:gd name="adj" fmla="val 562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E8C8E96-6B04-4107-A6B0-6024C2375EAD}"/>
              </a:ext>
            </a:extLst>
          </p:cNvPr>
          <p:cNvSpPr>
            <a:spLocks noGrp="1"/>
          </p:cNvSpPr>
          <p:nvPr/>
        </p:nvSpPr>
        <p:spPr>
          <a:xfrm>
            <a:off x="952500" y="2038350"/>
            <a:ext cx="1238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8250D99-C9EE-4A16-85E9-74F479B667B1}"/>
              </a:ext>
            </a:extLst>
          </p:cNvPr>
          <p:cNvSpPr>
            <a:spLocks noGrp="1"/>
          </p:cNvSpPr>
          <p:nvPr/>
        </p:nvSpPr>
        <p:spPr>
          <a:xfrm>
            <a:off x="952500" y="2400300"/>
            <a:ext cx="10287000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Осы рұқсат етілген оқу нұсқаулығының үзіндісін қарапайым тілмен түсіндір. Міндетті қауіпсіздік талаптарын бөлек тізімде. Әр тармақтың құжаттағы бөлімін көрсет. Техникалық терминдерді өзгертпе. Егер талап түсініксіз болса, болжам жасама. [ҮЗІНДІ]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3613512-B610-462C-A3F7-31C48321C4BF}"/>
              </a:ext>
            </a:extLst>
          </p:cNvPr>
          <p:cNvSpPr>
            <a:spLocks noGrp="1"/>
          </p:cNvSpPr>
          <p:nvPr/>
        </p:nvSpPr>
        <p:spPr>
          <a:xfrm>
            <a:off x="704850" y="5143500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6E846F8-BFDF-4E1E-8944-DDE657DC39C3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48</a:t>
            </a:r>
          </a:p>
        </p:txBody>
      </p:sp>
    </p:spTree>
    <p:extLst>
      <p:ext uri="{BB962C8B-B14F-4D97-AF65-F5344CB8AC3E}">
        <p14:creationId xmlns:p14="http://schemas.microsoft.com/office/powerpoint/2010/main" val="11105243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164923B-AA1A-4FAB-9170-8CEA18EBA1C9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ЭКРАНДАҒЫ НӘТИЖЕ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6D29102-9E2C-48E9-A466-F66C97019D26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5. Нұсқаулық нәтижесі</a:t>
            </a: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20DAA7B9-C1A6-49AB-A2DC-D4C94D1E10AE}"/>
              </a:ext>
            </a:extLst>
          </p:cNvPr>
          <p:cNvSpPr>
            <a:spLocks noGrp="1"/>
          </p:cNvSpPr>
          <p:nvPr/>
        </p:nvSpPr>
        <p:spPr>
          <a:xfrm>
            <a:off x="704850" y="1381125"/>
            <a:ext cx="10763250" cy="3714750"/>
          </a:xfrm>
          <a:prstGeom prst="roundRect">
            <a:avLst>
              <a:gd name="adj" fmla="val 461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DDCB6A-87D1-46CE-89C4-72260F38B3D8}"/>
              </a:ext>
            </a:extLst>
          </p:cNvPr>
          <p:cNvSpPr>
            <a:spLocks noGrp="1"/>
          </p:cNvSpPr>
          <p:nvPr/>
        </p:nvSpPr>
        <p:spPr>
          <a:xfrm>
            <a:off x="952500" y="1590675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ЖИ ЖАУАБЫНЫҢ ОҚУ ҮЛГІСІ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C8D118D-B108-4C1C-8D86-407AF532DB3D}"/>
              </a:ext>
            </a:extLst>
          </p:cNvPr>
          <p:cNvSpPr>
            <a:spLocks noGrp="1"/>
          </p:cNvSpPr>
          <p:nvPr/>
        </p:nvSpPr>
        <p:spPr>
          <a:xfrm>
            <a:off x="952500" y="2000250"/>
            <a:ext cx="233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Негізгі талап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4113C67-1B29-46C9-B7E8-42F777507FD6}"/>
              </a:ext>
            </a:extLst>
          </p:cNvPr>
          <p:cNvSpPr>
            <a:spLocks noGrp="1"/>
          </p:cNvSpPr>
          <p:nvPr/>
        </p:nvSpPr>
        <p:spPr>
          <a:xfrm>
            <a:off x="3333750" y="2000250"/>
            <a:ext cx="7810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Жұмыс басталғанға дейін жауапты тұлға рұқсатты тексереді.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0D0099B-18DC-4538-BADF-DCEBE38593CC}"/>
              </a:ext>
            </a:extLst>
          </p:cNvPr>
          <p:cNvSpPr>
            <a:spLocks noGrp="1"/>
          </p:cNvSpPr>
          <p:nvPr/>
        </p:nvSpPr>
        <p:spPr>
          <a:xfrm>
            <a:off x="952500" y="2552700"/>
            <a:ext cx="233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Қауіпсіздік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ECFBF15-8AB4-45A0-9C48-86899BA89F06}"/>
              </a:ext>
            </a:extLst>
          </p:cNvPr>
          <p:cNvSpPr>
            <a:spLocks noGrp="1"/>
          </p:cNvSpPr>
          <p:nvPr/>
        </p:nvSpPr>
        <p:spPr>
          <a:xfrm>
            <a:off x="3333750" y="2552700"/>
            <a:ext cx="7810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Жеке қорғаныс құралдары оқу құжатының 2.1-бөліміне сай қолданылады.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3C0F46B-848F-47DD-A89F-90999AFED184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233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Тыйым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C2DB1B8-F288-425C-BBA8-BE50649C43EA}"/>
              </a:ext>
            </a:extLst>
          </p:cNvPr>
          <p:cNvSpPr>
            <a:spLocks noGrp="1"/>
          </p:cNvSpPr>
          <p:nvPr/>
        </p:nvSpPr>
        <p:spPr>
          <a:xfrm>
            <a:off x="3333750" y="3105150"/>
            <a:ext cx="7810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Рұқсатсыз әрекет жасауға болмайды, 2.3-бөлім.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54386CF-3190-47CC-8E30-966535C0355F}"/>
              </a:ext>
            </a:extLst>
          </p:cNvPr>
          <p:cNvSpPr>
            <a:spLocks noGrp="1"/>
          </p:cNvSpPr>
          <p:nvPr/>
        </p:nvSpPr>
        <p:spPr>
          <a:xfrm>
            <a:off x="952500" y="3657600"/>
            <a:ext cx="2333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Белгісіз тұс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E0BCBB4-DE3B-4B7E-AFE3-60241428ED8D}"/>
              </a:ext>
            </a:extLst>
          </p:cNvPr>
          <p:cNvSpPr>
            <a:spLocks noGrp="1"/>
          </p:cNvSpPr>
          <p:nvPr/>
        </p:nvSpPr>
        <p:spPr>
          <a:xfrm>
            <a:off x="3333750" y="3657600"/>
            <a:ext cx="7810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Тексеру жиілігі үзіндіде көрсетілмеген.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72AB3D2-585C-47F4-8925-5CDB0493368B}"/>
              </a:ext>
            </a:extLst>
          </p:cNvPr>
          <p:cNvSpPr>
            <a:spLocks noGrp="1"/>
          </p:cNvSpPr>
          <p:nvPr/>
        </p:nvSpPr>
        <p:spPr>
          <a:xfrm>
            <a:off x="704850" y="5334000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Тексеру: бөлім нөмірлері ашылған құжатпен сәйкес пе және міндетті сөздер жоғалмады ма?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1BE7874-6350-44A6-8590-73E8543B4161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16872043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0FD0F64-7D27-482F-A0B4-C37F638B84CE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BFFEF60-9B21-4CF4-8861-75437EBFE776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6. Қазақша және орысша мәтін</a:t>
            </a: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2BF11EC-FD3D-4925-9C96-CA20AB9A1117}"/>
              </a:ext>
            </a:extLst>
          </p:cNvPr>
          <p:cNvSpPr>
            <a:spLocks noGrp="1"/>
          </p:cNvSpPr>
          <p:nvPr/>
        </p:nvSpPr>
        <p:spPr>
          <a:xfrm>
            <a:off x="704850" y="1476375"/>
            <a:ext cx="5095875" cy="371475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7DCCF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7D485B4A-8B79-4C28-A0A0-E06B531ECC8F}"/>
              </a:ext>
            </a:extLst>
          </p:cNvPr>
          <p:cNvSpPr>
            <a:spLocks noGrp="1"/>
          </p:cNvSpPr>
          <p:nvPr/>
        </p:nvSpPr>
        <p:spPr>
          <a:xfrm>
            <a:off x="6372225" y="1476375"/>
            <a:ext cx="5095875" cy="371475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7DCCF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AAA9BB3-8DE3-494A-998D-E4F227A60D35}"/>
              </a:ext>
            </a:extLst>
          </p:cNvPr>
          <p:cNvSpPr>
            <a:spLocks noGrp="1"/>
          </p:cNvSpPr>
          <p:nvPr/>
        </p:nvSpPr>
        <p:spPr>
          <a:xfrm>
            <a:off x="952500" y="17145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652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Қазақша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C35BDE4-9F33-4C62-9810-B8C3FB381015}"/>
              </a:ext>
            </a:extLst>
          </p:cNvPr>
          <p:cNvSpPr>
            <a:spLocks noGrp="1"/>
          </p:cNvSpPr>
          <p:nvPr/>
        </p:nvSpPr>
        <p:spPr>
          <a:xfrm>
            <a:off x="952500" y="2238375"/>
            <a:ext cx="4381500" cy="1714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Техникалық қызмет көрсету 25 қыркүйекте жүргізіледі. Жұмыс аймағына кіру уақытша шектеледі. Қосымша ақпаратты жауапты бөлімнен алыңыз.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76FA3BA-65E5-46BF-A5CE-59D5FAC61631}"/>
              </a:ext>
            </a:extLst>
          </p:cNvPr>
          <p:cNvSpPr>
            <a:spLocks noGrp="1"/>
          </p:cNvSpPr>
          <p:nvPr/>
        </p:nvSpPr>
        <p:spPr>
          <a:xfrm>
            <a:off x="6619875" y="17145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652"/>
          </a:bodyPr>
          <a:lstStyle/>
          <a:p>
            <a:pPr algn="l">
              <a:def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Русский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904833A-12B8-47D0-A558-9E27918A194E}"/>
              </a:ext>
            </a:extLst>
          </p:cNvPr>
          <p:cNvSpPr>
            <a:spLocks noGrp="1"/>
          </p:cNvSpPr>
          <p:nvPr/>
        </p:nvSpPr>
        <p:spPr>
          <a:xfrm>
            <a:off x="6619875" y="2238375"/>
            <a:ext cx="4381500" cy="1714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Техническое обслуживание состоится 25 сентября. Доступ в рабочую зону будет временно ограничен. Дополнительную информацию уточняйте в ответственном подразделении.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BD6AFE3-A506-4A2A-89B8-1863E054322A}"/>
              </a:ext>
            </a:extLst>
          </p:cNvPr>
          <p:cNvSpPr>
            <a:spLocks noGrp="1"/>
          </p:cNvSpPr>
          <p:nvPr/>
        </p:nvSpPr>
        <p:spPr>
          <a:xfrm>
            <a:off x="704850" y="5524500"/>
            <a:ext cx="107632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7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Тексеру: күн, шектеу және әрекет екі тілде бірдей ме?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4A48FE8-FB65-40CF-9898-D469BCEB1E57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15377738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87CCF88B-DB0E-49B1-9FBA-5CF68FA9BDB9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E3F932C-3A4A-4D14-9DF0-AAA301D75E3E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7. Мәтіннен презентация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E94DC12-2EC5-4013-B8D9-A4D73BBD3298}"/>
              </a:ext>
            </a:extLst>
          </p:cNvPr>
          <p:cNvSpPr>
            <a:spLocks noGrp="1"/>
          </p:cNvSpPr>
          <p:nvPr/>
        </p:nvSpPr>
        <p:spPr>
          <a:xfrm>
            <a:off x="800100" y="147637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C05B312-D423-4CB1-894E-B05A93FAC52E}"/>
              </a:ext>
            </a:extLst>
          </p:cNvPr>
          <p:cNvSpPr>
            <a:spLocks noGrp="1"/>
          </p:cNvSpPr>
          <p:nvPr/>
        </p:nvSpPr>
        <p:spPr>
          <a:xfrm>
            <a:off x="1381125" y="1476375"/>
            <a:ext cx="9048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Тексерілген мәтінді дайындау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99575C1-6642-4EF2-80A2-9DE8FC0CC1AD}"/>
              </a:ext>
            </a:extLst>
          </p:cNvPr>
          <p:cNvSpPr>
            <a:spLocks noGrp="1"/>
          </p:cNvSpPr>
          <p:nvPr/>
        </p:nvSpPr>
        <p:spPr>
          <a:xfrm>
            <a:off x="800100" y="22574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DDE3875-28BD-4CCF-A202-1B78998C4506}"/>
              </a:ext>
            </a:extLst>
          </p:cNvPr>
          <p:cNvSpPr>
            <a:spLocks noGrp="1"/>
          </p:cNvSpPr>
          <p:nvPr/>
        </p:nvSpPr>
        <p:spPr>
          <a:xfrm>
            <a:off x="1381125" y="2257425"/>
            <a:ext cx="9048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Аудитория мен мақсатты көрсету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4DECCFC-3759-4709-99AF-F041B9EDC2DF}"/>
              </a:ext>
            </a:extLst>
          </p:cNvPr>
          <p:cNvSpPr>
            <a:spLocks noGrp="1"/>
          </p:cNvSpPr>
          <p:nvPr/>
        </p:nvSpPr>
        <p:spPr>
          <a:xfrm>
            <a:off x="800100" y="303847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3C0213E-2BF5-4A44-AE29-90FA001F489D}"/>
              </a:ext>
            </a:extLst>
          </p:cNvPr>
          <p:cNvSpPr>
            <a:spLocks noGrp="1"/>
          </p:cNvSpPr>
          <p:nvPr/>
        </p:nvSpPr>
        <p:spPr>
          <a:xfrm>
            <a:off x="1381125" y="3038475"/>
            <a:ext cx="9048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10 слайдтық құрылым сұрау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76F3D20-0822-4860-917D-A26484076954}"/>
              </a:ext>
            </a:extLst>
          </p:cNvPr>
          <p:cNvSpPr>
            <a:spLocks noGrp="1"/>
          </p:cNvSpPr>
          <p:nvPr/>
        </p:nvSpPr>
        <p:spPr>
          <a:xfrm>
            <a:off x="800100" y="38195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BFF705E-5FA0-4F4D-8EB9-F1511A655803}"/>
              </a:ext>
            </a:extLst>
          </p:cNvPr>
          <p:cNvSpPr>
            <a:spLocks noGrp="1"/>
          </p:cNvSpPr>
          <p:nvPr/>
        </p:nvSpPr>
        <p:spPr>
          <a:xfrm>
            <a:off x="1381125" y="3819525"/>
            <a:ext cx="9048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Әр слайдтың мәтінін қысқарту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A149209-7046-4D80-9BC5-34E2A0F1CCD0}"/>
              </a:ext>
            </a:extLst>
          </p:cNvPr>
          <p:cNvSpPr>
            <a:spLocks noGrp="1"/>
          </p:cNvSpPr>
          <p:nvPr/>
        </p:nvSpPr>
        <p:spPr>
          <a:xfrm>
            <a:off x="800100" y="460057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7BAAC02-DBBA-4A0B-B77A-7988904D27AC}"/>
              </a:ext>
            </a:extLst>
          </p:cNvPr>
          <p:cNvSpPr>
            <a:spLocks noGrp="1"/>
          </p:cNvSpPr>
          <p:nvPr/>
        </p:nvSpPr>
        <p:spPr>
          <a:xfrm>
            <a:off x="1381125" y="4600575"/>
            <a:ext cx="9048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Фактілер мен көріністі тексеру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9AF3C79A-C2C9-4800-88EA-59A278D30F29}"/>
              </a:ext>
            </a:extLst>
          </p:cNvPr>
          <p:cNvSpPr>
            <a:spLocks noGrp="1"/>
          </p:cNvSpPr>
          <p:nvPr/>
        </p:nvSpPr>
        <p:spPr>
          <a:xfrm>
            <a:off x="704850" y="5619750"/>
            <a:ext cx="107632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Сұрау: «Осы есептен басшылыққа арналған 10 слайдтық құрылым жаса. Әр слайдта бір негізгі ой болсын»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E729F42-6CAA-4D36-9385-4C952FF1512C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51</a:t>
            </a:r>
          </a:p>
        </p:txBody>
      </p:sp>
      <p:pic>
        <p:nvPicPr>
          <p:cNvPr id="17" name="Рисунок 16" descr="Изображение выглядит как текст, Реклама в Интернете, Веб-сайт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2941602-FD1B-6153-C2BA-833023A9F2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885" y="1271852"/>
            <a:ext cx="6473372" cy="36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8326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07AE2FE-36E7-4EFC-AFAE-B39E0F46E04A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CD6319B-2781-4E46-BDCC-D5EAC187FD1C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8. Қауіпсіздік бойынша оқу тесті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491DFDC-A924-4F70-A476-D5C458617B26}"/>
              </a:ext>
            </a:extLst>
          </p:cNvPr>
          <p:cNvSpPr>
            <a:spLocks noGrp="1"/>
          </p:cNvSpPr>
          <p:nvPr/>
        </p:nvSpPr>
        <p:spPr>
          <a:xfrm>
            <a:off x="704850" y="1257300"/>
            <a:ext cx="1076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Тест тек бекітілген оқу материалына сүйенеді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3F65AE6B-DCB0-435B-AEAF-7E92B3FA383C}"/>
              </a:ext>
            </a:extLst>
          </p:cNvPr>
          <p:cNvSpPr>
            <a:spLocks noGrp="1"/>
          </p:cNvSpPr>
          <p:nvPr/>
        </p:nvSpPr>
        <p:spPr>
          <a:xfrm>
            <a:off x="704850" y="1809750"/>
            <a:ext cx="10763250" cy="3048000"/>
          </a:xfrm>
          <a:prstGeom prst="roundRect">
            <a:avLst>
              <a:gd name="adj" fmla="val 562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DFA6A25-AF92-4A99-8CA3-398BF8AA74B9}"/>
              </a:ext>
            </a:extLst>
          </p:cNvPr>
          <p:cNvSpPr>
            <a:spLocks noGrp="1"/>
          </p:cNvSpPr>
          <p:nvPr/>
        </p:nvSpPr>
        <p:spPr>
          <a:xfrm>
            <a:off x="952500" y="2038350"/>
            <a:ext cx="1238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6E6CA49-CC34-46B9-8105-CFE3C0538700}"/>
              </a:ext>
            </a:extLst>
          </p:cNvPr>
          <p:cNvSpPr>
            <a:spLocks noGrp="1"/>
          </p:cNvSpPr>
          <p:nvPr/>
        </p:nvSpPr>
        <p:spPr>
          <a:xfrm>
            <a:off x="952500" y="2400300"/>
            <a:ext cx="10287000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Берілген оқу нұсқаулығына сүйеніп, қызметкерлерге арналған 8 жағдаяттық сұрақ дайында. Әр сұрақта 4 жауап нұсқасы болсын. Дұрыс жауап пен қысқа түсіндірмені бөлек кілтте көрсет. Құжатта жоқ ережені қоспа. [ОҚУ НҰСҚАУЛЫҒЫ]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C0E5685-7FCF-435B-99A8-07BD43AE3DE1}"/>
              </a:ext>
            </a:extLst>
          </p:cNvPr>
          <p:cNvSpPr>
            <a:spLocks noGrp="1"/>
          </p:cNvSpPr>
          <p:nvPr/>
        </p:nvSpPr>
        <p:spPr>
          <a:xfrm>
            <a:off x="704850" y="5143500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1020F17-2EB8-4403-846B-E387D3365601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20603453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7ABD731-50DC-4B11-8F71-0D04B0D0EEBB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ЭКРАНДАҒЫ НӘТИЖЕ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1B5D0EE-5E9A-4EDF-8EA4-DA3BFFF37549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 8. Тест нәтижесінің үлгісі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558E636C-A6E2-4055-9E28-DA2D1A6FCD2B}"/>
              </a:ext>
            </a:extLst>
          </p:cNvPr>
          <p:cNvSpPr>
            <a:spLocks noGrp="1"/>
          </p:cNvSpPr>
          <p:nvPr/>
        </p:nvSpPr>
        <p:spPr>
          <a:xfrm>
            <a:off x="704850" y="1428750"/>
            <a:ext cx="107632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Жағдай: жұмыс аймағында белгісіз иіс байқалды. Қызметкердің бірінші әрекеті қандай?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44F9704B-C842-4804-BD7A-9DEE4D634F4B}"/>
              </a:ext>
            </a:extLst>
          </p:cNvPr>
          <p:cNvSpPr>
            <a:spLocks noGrp="1"/>
          </p:cNvSpPr>
          <p:nvPr/>
        </p:nvSpPr>
        <p:spPr>
          <a:xfrm>
            <a:off x="952500" y="2333625"/>
            <a:ext cx="1028700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7DCCF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7066E6B-B450-4723-8E6D-728802B734A3}"/>
              </a:ext>
            </a:extLst>
          </p:cNvPr>
          <p:cNvSpPr>
            <a:spLocks noGrp="1"/>
          </p:cNvSpPr>
          <p:nvPr/>
        </p:nvSpPr>
        <p:spPr>
          <a:xfrm>
            <a:off x="1162050" y="2381250"/>
            <a:ext cx="9810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A. Жұмысты жалғастыру</a:t>
            </a: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F1BCE6E9-D71D-4B33-9BED-3FD5CD215781}"/>
              </a:ext>
            </a:extLst>
          </p:cNvPr>
          <p:cNvSpPr>
            <a:spLocks noGrp="1"/>
          </p:cNvSpPr>
          <p:nvPr/>
        </p:nvSpPr>
        <p:spPr>
          <a:xfrm>
            <a:off x="952500" y="2981325"/>
            <a:ext cx="10287000" cy="495300"/>
          </a:xfrm>
          <a:prstGeom prst="roundRect">
            <a:avLst>
              <a:gd name="adj" fmla="val 23077"/>
            </a:avLst>
          </a:prstGeom>
          <a:solidFill>
            <a:srgbClr val="EDF2E3"/>
          </a:solidFill>
          <a:ln w="9525">
            <a:solidFill>
              <a:srgbClr val="8FCF25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422BC9C-63A0-4F41-8C98-09AF003A8209}"/>
              </a:ext>
            </a:extLst>
          </p:cNvPr>
          <p:cNvSpPr>
            <a:spLocks noGrp="1"/>
          </p:cNvSpPr>
          <p:nvPr/>
        </p:nvSpPr>
        <p:spPr>
          <a:xfrm>
            <a:off x="1162050" y="3028950"/>
            <a:ext cx="9810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B. Бекітілген тәртіпке сай жұмысты тоқтатып, жауапты тұлғаға хабарлау</a:t>
            </a: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C9DCB2B-F5DB-4C47-969B-BB943B11BCEF}"/>
              </a:ext>
            </a:extLst>
          </p:cNvPr>
          <p:cNvSpPr>
            <a:spLocks noGrp="1"/>
          </p:cNvSpPr>
          <p:nvPr/>
        </p:nvSpPr>
        <p:spPr>
          <a:xfrm>
            <a:off x="952500" y="3629025"/>
            <a:ext cx="1028700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7DCCF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1CFEEC4-08CA-4BB1-B51C-C0F800B7256B}"/>
              </a:ext>
            </a:extLst>
          </p:cNvPr>
          <p:cNvSpPr>
            <a:spLocks noGrp="1"/>
          </p:cNvSpPr>
          <p:nvPr/>
        </p:nvSpPr>
        <p:spPr>
          <a:xfrm>
            <a:off x="1162050" y="3676650"/>
            <a:ext cx="9810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C. Жеке тексеру жүргізу</a:t>
            </a: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3BF0315C-49C6-4776-88BF-43AE600F142F}"/>
              </a:ext>
            </a:extLst>
          </p:cNvPr>
          <p:cNvSpPr>
            <a:spLocks noGrp="1"/>
          </p:cNvSpPr>
          <p:nvPr/>
        </p:nvSpPr>
        <p:spPr>
          <a:xfrm>
            <a:off x="952500" y="4276725"/>
            <a:ext cx="1028700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7DCCF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853740C-BA5E-40B0-AF95-4BEF723DAF77}"/>
              </a:ext>
            </a:extLst>
          </p:cNvPr>
          <p:cNvSpPr>
            <a:spLocks noGrp="1"/>
          </p:cNvSpPr>
          <p:nvPr/>
        </p:nvSpPr>
        <p:spPr>
          <a:xfrm>
            <a:off x="1162050" y="4324350"/>
            <a:ext cx="9810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D. Ақпаратты елемеу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D0D6524-B0E1-43A4-9441-5F79689156A4}"/>
              </a:ext>
            </a:extLst>
          </p:cNvPr>
          <p:cNvSpPr>
            <a:spLocks noGrp="1"/>
          </p:cNvSpPr>
          <p:nvPr/>
        </p:nvSpPr>
        <p:spPr>
          <a:xfrm>
            <a:off x="704850" y="5238750"/>
            <a:ext cx="1076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Кілт: B. Нақты негіздеме бекітілген нұсқаулық бөлімінен тексеріледі.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7746C0C-DDB1-45B4-BA0C-6AE9E6091175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3143248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0A9734-FCE3-4399-9EBB-302470332498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ПРАКТИКА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2F58880-FF51-4338-B4E6-C157F467F6C7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Кейс</a:t>
            </a:r>
            <a:r>
              <a:rPr sz="2550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lang="ru-RU" sz="2550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9</a:t>
            </a:r>
            <a:r>
              <a:rPr sz="2550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2550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Басымдықтарды</a:t>
            </a:r>
            <a:r>
              <a:rPr sz="2550" b="1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550" b="1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келісу</a:t>
            </a:r>
            <a:endParaRPr sz="2550" b="1" dirty="0">
              <a:solidFill>
                <a:srgbClr val="0E142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3DA507-3D71-4382-BD68-B30682564D87}"/>
              </a:ext>
            </a:extLst>
          </p:cNvPr>
          <p:cNvSpPr>
            <a:spLocks noGrp="1"/>
          </p:cNvSpPr>
          <p:nvPr/>
        </p:nvSpPr>
        <p:spPr>
          <a:xfrm>
            <a:off x="704850" y="1257300"/>
            <a:ext cx="1076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12 сағат міндетке 8 сағат қана бар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0CF9BF6C-579C-4BCE-90D4-703C4565DF6F}"/>
              </a:ext>
            </a:extLst>
          </p:cNvPr>
          <p:cNvSpPr>
            <a:spLocks noGrp="1"/>
          </p:cNvSpPr>
          <p:nvPr/>
        </p:nvSpPr>
        <p:spPr>
          <a:xfrm>
            <a:off x="704850" y="1809750"/>
            <a:ext cx="10763250" cy="3048000"/>
          </a:xfrm>
          <a:prstGeom prst="roundRect">
            <a:avLst>
              <a:gd name="adj" fmla="val 5625"/>
            </a:avLst>
          </a:prstGeom>
          <a:solidFill>
            <a:srgbClr val="0E1420"/>
          </a:solidFill>
          <a:ln w="9525">
            <a:solidFill>
              <a:srgbClr val="0E1420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AC0F3C4-B941-411D-B3FC-A7B7CDBBF1BD}"/>
              </a:ext>
            </a:extLst>
          </p:cNvPr>
          <p:cNvSpPr>
            <a:spLocks noGrp="1"/>
          </p:cNvSpPr>
          <p:nvPr/>
        </p:nvSpPr>
        <p:spPr>
          <a:xfrm>
            <a:off x="952500" y="2038350"/>
            <a:ext cx="1238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СҰРАУ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C27E64A-8EFD-4F66-A419-8FF2CA071CE6}"/>
              </a:ext>
            </a:extLst>
          </p:cNvPr>
          <p:cNvSpPr>
            <a:spLocks noGrp="1"/>
          </p:cNvSpPr>
          <p:nvPr/>
        </p:nvSpPr>
        <p:spPr>
          <a:xfrm>
            <a:off x="952500" y="2400300"/>
            <a:ext cx="10287000" cy="2095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Сен басшысың, мен қызметкермін. Есепке 5 сағат, өтінімдерді салыстыруға 4 сағат, хаттарға 3 сағат керек. Жұмыс күні 8 сағат. Бір-бірден сұрақ қойып, басымдықты сабырмен келісуге көмектес. Соңында орындалатын жоспар жаса.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B22D219-C1EA-4BF9-9B68-5C7DC4E95974}"/>
              </a:ext>
            </a:extLst>
          </p:cNvPr>
          <p:cNvSpPr>
            <a:spLocks noGrp="1"/>
          </p:cNvSpPr>
          <p:nvPr/>
        </p:nvSpPr>
        <p:spPr>
          <a:xfrm>
            <a:off x="704850" y="5143500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Оқу үлгісі. Құпия және жеке деректерді енгізбейміз.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6A2679B-AA8A-44D0-AF03-1B4EF21E37F0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55</a:t>
            </a:r>
          </a:p>
        </p:txBody>
      </p:sp>
    </p:spTree>
    <p:extLst>
      <p:ext uri="{BB962C8B-B14F-4D97-AF65-F5344CB8AC3E}">
        <p14:creationId xmlns:p14="http://schemas.microsoft.com/office/powerpoint/2010/main" val="88152394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DCBA424-20E1-415E-B624-6E0497F2088C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84CF4FD-E4BD-4941-A2E3-B548743A5645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Дереккөзді тексеру</a:t>
            </a:r>
          </a:p>
        </p:txBody>
      </p:sp>
      <p:graphicFrame>
        <p:nvGraphicFramePr>
          <p:cNvPr id="8" name="Таблица 7"/>
          <p:cNvGraphicFramePr/>
          <p:nvPr/>
        </p:nvGraphicFramePr>
        <p:xfrm>
          <a:off x="704850" y="1524000"/>
          <a:ext cx="10763250" cy="3429000"/>
        </p:xfrm>
        <a:graphic>
          <a:graphicData uri="http://schemas.openxmlformats.org/drawingml/2006/table">
            <a:tbl>
              <a:tblPr/>
              <a:tblGrid>
                <a:gridCol w="447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8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Тексеру сұрағы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 істейміз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Дерек қайдан алынды?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Ресми құжатты немесе сайтты ашамыз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Ақпараттың күні қандай?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Жаңартылған күнін қараймыз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Мәтінде дәл бар ма?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Тиісті бөлімді өзіміз оқимыз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Екі дерек қайшы ма?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Ресми және жаңа деректі басым көреміз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Маңызды шешім бе?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Маман немесе жауапты бөлім растайды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F3C30BD-450D-4AAE-98ED-6C69E84B490F}"/>
              </a:ext>
            </a:extLst>
          </p:cNvPr>
          <p:cNvSpPr>
            <a:spLocks noGrp="1"/>
          </p:cNvSpPr>
          <p:nvPr/>
        </p:nvSpPr>
        <p:spPr>
          <a:xfrm>
            <a:off x="704850" y="5429250"/>
            <a:ext cx="107632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Сілтеме бар болуы ақпараттың автоматты түрде дұрыс екенін білдірмейді.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92E48D0-2D23-4B58-B6C4-85DCD8ACC187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128454997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0B719DA-C648-425B-8DF1-505CF6108143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71474EA-C9C8-4CAC-86D8-44FFAEF07AD0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Міндетке сай құрал таңдау</a:t>
            </a:r>
          </a:p>
        </p:txBody>
      </p:sp>
      <p:graphicFrame>
        <p:nvGraphicFramePr>
          <p:cNvPr id="7" name="Таблица 6"/>
          <p:cNvGraphicFramePr/>
          <p:nvPr/>
        </p:nvGraphicFramePr>
        <p:xfrm>
          <a:off x="704850" y="1476375"/>
          <a:ext cx="10763250" cy="3714750"/>
        </p:xfrm>
        <a:graphic>
          <a:graphicData uri="http://schemas.openxmlformats.org/drawingml/2006/table">
            <a:tbl>
              <a:tblPr/>
              <a:tblGrid>
                <a:gridCol w="561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Егер сізге керек болса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Алдымен пайдаланыңыз</a:t>
                      </a:r>
                    </a:p>
                  </a:txBody>
                  <a:tcPr>
                    <a:solidFill>
                      <a:srgbClr val="B8F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Қысқа мәтін немесе жоспар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ChatGPT немесе 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Файлдағы мазмұн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Файл қабылдайтын негізгі чат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Ағымдағы веб дерек пен сілтеме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Perplexity немесе веб іздеуі бар чат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Презентацияның алғашқы құрылымы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Негізгі чат, кейін Gamma</a:t>
                      </a:r>
                    </a:p>
                  </a:txBody>
                  <a:tcPr>
                    <a:solidFill>
                      <a:srgbClr val="ED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Қайталанатын Excel талдауы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E142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Қауіпсіз орта және тексерілетін формула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F0F1AEB-F182-456F-B526-947D8808FAE4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57</a:t>
            </a:r>
          </a:p>
        </p:txBody>
      </p:sp>
    </p:spTree>
    <p:extLst>
      <p:ext uri="{BB962C8B-B14F-4D97-AF65-F5344CB8AC3E}">
        <p14:creationId xmlns:p14="http://schemas.microsoft.com/office/powerpoint/2010/main" val="14054341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04CF8F4-1D9F-425D-A535-F1601E5E5E50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5AAA0CF-068A-42C2-AE9F-DC03EF91932C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Тегін және ақылы нұсқа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F5CA2E0-701D-43E6-A51B-4B0461D06E8F}"/>
              </a:ext>
            </a:extLst>
          </p:cNvPr>
          <p:cNvSpPr>
            <a:spLocks noGrp="1"/>
          </p:cNvSpPr>
          <p:nvPr/>
        </p:nvSpPr>
        <p:spPr>
          <a:xfrm>
            <a:off x="876300" y="1666875"/>
            <a:ext cx="26670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531"/>
          </a:bodyPr>
          <a:lstStyle/>
          <a:p>
            <a:pPr algn="l"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F3BA8F6-10AB-4621-BFCC-A8E555AF79AA}"/>
              </a:ext>
            </a:extLst>
          </p:cNvPr>
          <p:cNvSpPr>
            <a:spLocks noGrp="1"/>
          </p:cNvSpPr>
          <p:nvPr/>
        </p:nvSpPr>
        <p:spPr>
          <a:xfrm>
            <a:off x="1238250" y="1666875"/>
            <a:ext cx="992505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Алдымен өз міндетіңізді тегін нұсқада сынаңыз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563BD60-B219-45D8-921C-1B328AE99B03}"/>
              </a:ext>
            </a:extLst>
          </p:cNvPr>
          <p:cNvSpPr>
            <a:spLocks noGrp="1"/>
          </p:cNvSpPr>
          <p:nvPr/>
        </p:nvSpPr>
        <p:spPr>
          <a:xfrm>
            <a:off x="876300" y="2405063"/>
            <a:ext cx="26670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531"/>
          </a:bodyPr>
          <a:lstStyle/>
          <a:p>
            <a:pPr algn="l"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B2CBDF9-B502-40AB-A613-6FADCE70C6EF}"/>
              </a:ext>
            </a:extLst>
          </p:cNvPr>
          <p:cNvSpPr>
            <a:spLocks noGrp="1"/>
          </p:cNvSpPr>
          <p:nvPr/>
        </p:nvSpPr>
        <p:spPr>
          <a:xfrm>
            <a:off x="1238250" y="2405063"/>
            <a:ext cx="992505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Қажет функцияны нақты атаңыз: файл, веб іздеу, сурет немесе лимит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FD7D1CF-878B-4428-A19E-7D48B501DC7C}"/>
              </a:ext>
            </a:extLst>
          </p:cNvPr>
          <p:cNvSpPr>
            <a:spLocks noGrp="1"/>
          </p:cNvSpPr>
          <p:nvPr/>
        </p:nvSpPr>
        <p:spPr>
          <a:xfrm>
            <a:off x="876300" y="3143250"/>
            <a:ext cx="26670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531"/>
          </a:bodyPr>
          <a:lstStyle/>
          <a:p>
            <a:pPr algn="l"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373C701-7E96-4EB7-8895-8D6EDCFC660E}"/>
              </a:ext>
            </a:extLst>
          </p:cNvPr>
          <p:cNvSpPr>
            <a:spLocks noGrp="1"/>
          </p:cNvSpPr>
          <p:nvPr/>
        </p:nvSpPr>
        <p:spPr>
          <a:xfrm>
            <a:off x="1238250" y="3143250"/>
            <a:ext cx="992505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Бір айлық төлем мен жылдық міндеттемені бөлек салыстырыңыз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D2CB6BD3-29C2-4685-B56F-BF424F1671D8}"/>
              </a:ext>
            </a:extLst>
          </p:cNvPr>
          <p:cNvSpPr>
            <a:spLocks noGrp="1"/>
          </p:cNvSpPr>
          <p:nvPr/>
        </p:nvSpPr>
        <p:spPr>
          <a:xfrm>
            <a:off x="876300" y="3881438"/>
            <a:ext cx="26670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531"/>
          </a:bodyPr>
          <a:lstStyle/>
          <a:p>
            <a:pPr algn="l"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D7CF682-D339-4300-BBCE-D2F4839466C3}"/>
              </a:ext>
            </a:extLst>
          </p:cNvPr>
          <p:cNvSpPr>
            <a:spLocks noGrp="1"/>
          </p:cNvSpPr>
          <p:nvPr/>
        </p:nvSpPr>
        <p:spPr>
          <a:xfrm>
            <a:off x="1238250" y="3881438"/>
            <a:ext cx="9925050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Келесі төлем күнін және автоматты жаңартуды тексеріңіз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64A963F-17E1-473B-8CD5-6E67BD2EDEDB}"/>
              </a:ext>
            </a:extLst>
          </p:cNvPr>
          <p:cNvSpPr>
            <a:spLocks noGrp="1"/>
          </p:cNvSpPr>
          <p:nvPr/>
        </p:nvSpPr>
        <p:spPr>
          <a:xfrm>
            <a:off x="704850" y="5334000"/>
            <a:ext cx="107632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D94B4B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D94B4B"/>
                </a:solidFill>
                <a:latin typeface="DejaVu Sans"/>
                <a:ea typeface="DejaVu Sans"/>
                <a:cs typeface="DejaVu Sans"/>
              </a:rPr>
              <a:t>Баға мен лимит өзгеруі мүмкін. Соңғы соманы тек өз аккаунтыңыздан тексеріңіз.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A0B2822-6A6C-40F0-815C-992E3EA396E7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58</a:t>
            </a:r>
          </a:p>
        </p:txBody>
      </p:sp>
    </p:spTree>
    <p:extLst>
      <p:ext uri="{BB962C8B-B14F-4D97-AF65-F5344CB8AC3E}">
        <p14:creationId xmlns:p14="http://schemas.microsoft.com/office/powerpoint/2010/main" val="148770727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393AA75-09A1-436A-B67D-933854684FE9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ЖЕКЕ ПРАКТИКА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8E26DAB-2041-487F-A3AA-E16A653FFE8D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Өзіңіздің жұмыс міндетіңіз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CFE9727-AB95-46DA-B466-F9C89888CC3B}"/>
              </a:ext>
            </a:extLst>
          </p:cNvPr>
          <p:cNvSpPr>
            <a:spLocks noGrp="1"/>
          </p:cNvSpPr>
          <p:nvPr/>
        </p:nvSpPr>
        <p:spPr>
          <a:xfrm>
            <a:off x="876300" y="1428750"/>
            <a:ext cx="2667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531"/>
          </a:bodyPr>
          <a:lstStyle/>
          <a:p>
            <a:pPr algn="l"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A622B1E-EE69-40E9-B57E-A91978B1E23B}"/>
              </a:ext>
            </a:extLst>
          </p:cNvPr>
          <p:cNvSpPr>
            <a:spLocks noGrp="1"/>
          </p:cNvSpPr>
          <p:nvPr/>
        </p:nvSpPr>
        <p:spPr>
          <a:xfrm>
            <a:off x="1238250" y="1428750"/>
            <a:ext cx="992505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Қызметтік хабарлама немесе хат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A20A8DC-5077-4CF2-AD45-141FB9208BBD}"/>
              </a:ext>
            </a:extLst>
          </p:cNvPr>
          <p:cNvSpPr>
            <a:spLocks noGrp="1"/>
          </p:cNvSpPr>
          <p:nvPr/>
        </p:nvSpPr>
        <p:spPr>
          <a:xfrm>
            <a:off x="876300" y="2057400"/>
            <a:ext cx="2667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531"/>
          </a:bodyPr>
          <a:lstStyle/>
          <a:p>
            <a:pPr algn="l"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8AD08B5-B53A-4871-A1F5-AE4EB0B5CA50}"/>
              </a:ext>
            </a:extLst>
          </p:cNvPr>
          <p:cNvSpPr>
            <a:spLocks noGrp="1"/>
          </p:cNvSpPr>
          <p:nvPr/>
        </p:nvSpPr>
        <p:spPr>
          <a:xfrm>
            <a:off x="1238250" y="2057400"/>
            <a:ext cx="992505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Хаттамадан тапсырмалар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C84B016-0BDD-414B-81B9-06055B9426E8}"/>
              </a:ext>
            </a:extLst>
          </p:cNvPr>
          <p:cNvSpPr>
            <a:spLocks noGrp="1"/>
          </p:cNvSpPr>
          <p:nvPr/>
        </p:nvSpPr>
        <p:spPr>
          <a:xfrm>
            <a:off x="876300" y="2686050"/>
            <a:ext cx="2667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531"/>
          </a:bodyPr>
          <a:lstStyle/>
          <a:p>
            <a:pPr algn="l"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2C9C70A-0147-4B91-BDB0-D16A4B125EB1}"/>
              </a:ext>
            </a:extLst>
          </p:cNvPr>
          <p:cNvSpPr>
            <a:spLocks noGrp="1"/>
          </p:cNvSpPr>
          <p:nvPr/>
        </p:nvSpPr>
        <p:spPr>
          <a:xfrm>
            <a:off x="1238250" y="2686050"/>
            <a:ext cx="992505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Оқу Excel кестесін талдау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64D68B9-7D63-401A-9951-857735A9BCCF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2667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531"/>
          </a:bodyPr>
          <a:lstStyle/>
          <a:p>
            <a:pPr algn="l"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00A9063-6BFA-4DBA-A031-14EB91EA9122}"/>
              </a:ext>
            </a:extLst>
          </p:cNvPr>
          <p:cNvSpPr>
            <a:spLocks noGrp="1"/>
          </p:cNvSpPr>
          <p:nvPr/>
        </p:nvSpPr>
        <p:spPr>
          <a:xfrm>
            <a:off x="1238250" y="3314700"/>
            <a:ext cx="992505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Рұқсат етілген мәтінді түсіндіру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996CF87-7879-4A0F-8A1C-A7E266B6264D}"/>
              </a:ext>
            </a:extLst>
          </p:cNvPr>
          <p:cNvSpPr>
            <a:spLocks noGrp="1"/>
          </p:cNvSpPr>
          <p:nvPr/>
        </p:nvSpPr>
        <p:spPr>
          <a:xfrm>
            <a:off x="876300" y="3943350"/>
            <a:ext cx="2667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531"/>
          </a:bodyPr>
          <a:lstStyle/>
          <a:p>
            <a:pPr algn="l">
              <a:def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•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6B73251-7544-44EB-8490-4ACA6BAE48B4}"/>
              </a:ext>
            </a:extLst>
          </p:cNvPr>
          <p:cNvSpPr>
            <a:spLocks noGrp="1"/>
          </p:cNvSpPr>
          <p:nvPr/>
        </p:nvSpPr>
        <p:spPr>
          <a:xfrm>
            <a:off x="1238250" y="3943350"/>
            <a:ext cx="992505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Оқу тестін немесе презентация құрылымын жасау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696F805-52D8-4D20-8F38-54001901117A}"/>
              </a:ext>
            </a:extLst>
          </p:cNvPr>
          <p:cNvSpPr>
            <a:spLocks noGrp="1"/>
          </p:cNvSpPr>
          <p:nvPr/>
        </p:nvSpPr>
        <p:spPr>
          <a:xfrm>
            <a:off x="704850" y="5286375"/>
            <a:ext cx="107632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Бір міндет таңдаңыз. Құпия деректі алып тастаңыз. Нәтижені тексеріп сақтаңыз.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1538131-DF0C-4BFA-BD00-42E83B59F469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127818919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70229482-2559-4647-8F2B-D2B9E0EC9842}"/>
              </a:ext>
            </a:extLst>
          </p:cNvPr>
          <p:cNvSpPr>
            <a:spLocks noGrp="1"/>
          </p:cNvSpPr>
          <p:nvPr/>
        </p:nvSpPr>
        <p:spPr>
          <a:xfrm>
            <a:off x="704850" y="228600"/>
            <a:ext cx="3810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808" lnSpcReduction="10000"/>
          </a:bodyPr>
          <a:lstStyle/>
          <a:p>
            <a:pPr algn="l">
              <a:def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AI / КҮНДЕ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118D231-0227-4C80-A6CC-3C74A67F7CAC}"/>
              </a:ext>
            </a:extLst>
          </p:cNvPr>
          <p:cNvSpPr>
            <a:spLocks noGrp="1"/>
          </p:cNvSpPr>
          <p:nvPr/>
        </p:nvSpPr>
        <p:spPr>
          <a:xfrm>
            <a:off x="704850" y="552450"/>
            <a:ext cx="10763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Дайын сұрау үлгісі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86EEF7-9CAD-4A57-8ABC-F18AB1B3B95F}"/>
              </a:ext>
            </a:extLst>
          </p:cNvPr>
          <p:cNvSpPr>
            <a:spLocks noGrp="1"/>
          </p:cNvSpPr>
          <p:nvPr/>
        </p:nvSpPr>
        <p:spPr>
          <a:xfrm>
            <a:off x="838200" y="13811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A5F09D5-869E-4748-BF72-0297C7CD3CDE}"/>
              </a:ext>
            </a:extLst>
          </p:cNvPr>
          <p:cNvSpPr>
            <a:spLocks noGrp="1"/>
          </p:cNvSpPr>
          <p:nvPr/>
        </p:nvSpPr>
        <p:spPr>
          <a:xfrm>
            <a:off x="1428750" y="1381125"/>
            <a:ext cx="9429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Маған қажеті: [міндет]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AEAE472-C268-4246-ADBD-0A240E53FBD7}"/>
              </a:ext>
            </a:extLst>
          </p:cNvPr>
          <p:cNvSpPr>
            <a:spLocks noGrp="1"/>
          </p:cNvSpPr>
          <p:nvPr/>
        </p:nvSpPr>
        <p:spPr>
          <a:xfrm>
            <a:off x="838200" y="208597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2C4CBB9-BB1A-4017-A693-D69105460E41}"/>
              </a:ext>
            </a:extLst>
          </p:cNvPr>
          <p:cNvSpPr>
            <a:spLocks noGrp="1"/>
          </p:cNvSpPr>
          <p:nvPr/>
        </p:nvSpPr>
        <p:spPr>
          <a:xfrm>
            <a:off x="1428750" y="2085975"/>
            <a:ext cx="9429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Бастапқы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ақпарат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: [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құпиясыз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725" b="0" dirty="0" err="1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мәтін</a:t>
            </a:r>
            <a:r>
              <a:rPr sz="1725" b="0" dirty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]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040D9B2D-DA04-44CC-85BF-BC4A6B98EADD}"/>
              </a:ext>
            </a:extLst>
          </p:cNvPr>
          <p:cNvSpPr>
            <a:spLocks noGrp="1"/>
          </p:cNvSpPr>
          <p:nvPr/>
        </p:nvSpPr>
        <p:spPr>
          <a:xfrm>
            <a:off x="838200" y="27908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9AAD031-AAE2-4DD1-90EA-AC5F5A4991A6}"/>
              </a:ext>
            </a:extLst>
          </p:cNvPr>
          <p:cNvSpPr>
            <a:spLocks noGrp="1"/>
          </p:cNvSpPr>
          <p:nvPr/>
        </p:nvSpPr>
        <p:spPr>
          <a:xfrm>
            <a:off x="1428750" y="2790825"/>
            <a:ext cx="9429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Жауапты мына түрде бер: [кесте, хат, жоспар]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877F5B0-59AB-4479-BF0A-C5779A87F3A2}"/>
              </a:ext>
            </a:extLst>
          </p:cNvPr>
          <p:cNvSpPr>
            <a:spLocks noGrp="1"/>
          </p:cNvSpPr>
          <p:nvPr/>
        </p:nvSpPr>
        <p:spPr>
          <a:xfrm>
            <a:off x="838200" y="349567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FC1E5C9-CA87-485C-9A98-8622AE9465F9}"/>
              </a:ext>
            </a:extLst>
          </p:cNvPr>
          <p:cNvSpPr>
            <a:spLocks noGrp="1"/>
          </p:cNvSpPr>
          <p:nvPr/>
        </p:nvSpPr>
        <p:spPr>
          <a:xfrm>
            <a:off x="1428750" y="3495675"/>
            <a:ext cx="9429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Тіл және ұзындық: [талап]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77C2E2B0-A2CB-432E-8716-3E40A249C428}"/>
              </a:ext>
            </a:extLst>
          </p:cNvPr>
          <p:cNvSpPr>
            <a:spLocks noGrp="1"/>
          </p:cNvSpPr>
          <p:nvPr/>
        </p:nvSpPr>
        <p:spPr>
          <a:xfrm>
            <a:off x="838200" y="42005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019FF52-07EF-41A6-8806-D76A163066E7}"/>
              </a:ext>
            </a:extLst>
          </p:cNvPr>
          <p:cNvSpPr>
            <a:spLocks noGrp="1"/>
          </p:cNvSpPr>
          <p:nvPr/>
        </p:nvSpPr>
        <p:spPr>
          <a:xfrm>
            <a:off x="1428750" y="4200525"/>
            <a:ext cx="9429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Мәтінде жоқ ақпаратты қоспа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55D46FC-BA21-4C5F-B9ED-920F4F0E76F4}"/>
              </a:ext>
            </a:extLst>
          </p:cNvPr>
          <p:cNvSpPr>
            <a:spLocks noGrp="1"/>
          </p:cNvSpPr>
          <p:nvPr/>
        </p:nvSpPr>
        <p:spPr>
          <a:xfrm>
            <a:off x="838200" y="490537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8FCF25"/>
                </a:solidFill>
                <a:latin typeface="DejaVu Sans"/>
                <a:ea typeface="DejaVu Sans"/>
                <a:cs typeface="DejaVu Sans"/>
              </a:rPr>
              <a:t>6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B5FC0A4-4625-4D6C-9D6C-389E5F4A3175}"/>
              </a:ext>
            </a:extLst>
          </p:cNvPr>
          <p:cNvSpPr>
            <a:spLocks noGrp="1"/>
          </p:cNvSpPr>
          <p:nvPr/>
        </p:nvSpPr>
        <p:spPr>
          <a:xfrm>
            <a:off x="1428750" y="4905375"/>
            <a:ext cx="9429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E1420"/>
                </a:solidFill>
                <a:latin typeface="DejaVu Sans"/>
                <a:ea typeface="DejaVu Sans"/>
                <a:cs typeface="DejaVu Sans"/>
              </a:rPr>
              <a:t>Мәлімет аз болса, алдымен сұрақ қой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95FB2B3-9A84-46F6-B41E-713D4A5BAAE8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33107474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A57FB84-ABE5-4254-918A-2A7A4945EA06}"/>
              </a:ext>
            </a:extLst>
          </p:cNvPr>
          <p:cNvSpPr>
            <a:spLocks noGrp="1"/>
          </p:cNvSpPr>
          <p:nvPr/>
        </p:nvSpPr>
        <p:spPr>
          <a:xfrm>
            <a:off x="704850" y="666750"/>
            <a:ext cx="85725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8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Ертең қолданатын 5 қадам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D01B601-B1B0-43BB-A823-BC75DF814F6F}"/>
              </a:ext>
            </a:extLst>
          </p:cNvPr>
          <p:cNvSpPr>
            <a:spLocks noGrp="1"/>
          </p:cNvSpPr>
          <p:nvPr/>
        </p:nvSpPr>
        <p:spPr>
          <a:xfrm>
            <a:off x="838200" y="15716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0B693CF-77F6-4D01-9117-48B69C37CD82}"/>
              </a:ext>
            </a:extLst>
          </p:cNvPr>
          <p:cNvSpPr>
            <a:spLocks noGrp="1"/>
          </p:cNvSpPr>
          <p:nvPr/>
        </p:nvSpPr>
        <p:spPr>
          <a:xfrm>
            <a:off x="1428750" y="1571625"/>
            <a:ext cx="80962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Қауіпсіз міндет таңдаңыз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2353E09-2482-47FC-9350-0897C644315E}"/>
              </a:ext>
            </a:extLst>
          </p:cNvPr>
          <p:cNvSpPr>
            <a:spLocks noGrp="1"/>
          </p:cNvSpPr>
          <p:nvPr/>
        </p:nvSpPr>
        <p:spPr>
          <a:xfrm>
            <a:off x="838200" y="235267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269AEFD-B570-44D7-8911-B419EE76F9A2}"/>
              </a:ext>
            </a:extLst>
          </p:cNvPr>
          <p:cNvSpPr>
            <a:spLocks noGrp="1"/>
          </p:cNvSpPr>
          <p:nvPr/>
        </p:nvSpPr>
        <p:spPr>
          <a:xfrm>
            <a:off x="1428750" y="2352675"/>
            <a:ext cx="80962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Нақты сұрау жазыңыз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C37BF38-1B2F-45B5-BF9B-0FF5E6672DAE}"/>
              </a:ext>
            </a:extLst>
          </p:cNvPr>
          <p:cNvSpPr>
            <a:spLocks noGrp="1"/>
          </p:cNvSpPr>
          <p:nvPr/>
        </p:nvSpPr>
        <p:spPr>
          <a:xfrm>
            <a:off x="838200" y="31337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B223A27-DFF0-4A0F-A0F1-F5BE0A833222}"/>
              </a:ext>
            </a:extLst>
          </p:cNvPr>
          <p:cNvSpPr>
            <a:spLocks noGrp="1"/>
          </p:cNvSpPr>
          <p:nvPr/>
        </p:nvSpPr>
        <p:spPr>
          <a:xfrm>
            <a:off x="1428750" y="3133725"/>
            <a:ext cx="80962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Жауапты тексеріңіз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57DEC2D-01D7-4FE5-9448-DB8BD659E499}"/>
              </a:ext>
            </a:extLst>
          </p:cNvPr>
          <p:cNvSpPr>
            <a:spLocks noGrp="1"/>
          </p:cNvSpPr>
          <p:nvPr/>
        </p:nvSpPr>
        <p:spPr>
          <a:xfrm>
            <a:off x="838200" y="391477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55EBA15-C606-4C09-8224-3A0C2A6078D1}"/>
              </a:ext>
            </a:extLst>
          </p:cNvPr>
          <p:cNvSpPr>
            <a:spLocks noGrp="1"/>
          </p:cNvSpPr>
          <p:nvPr/>
        </p:nvSpPr>
        <p:spPr>
          <a:xfrm>
            <a:off x="1428750" y="3914775"/>
            <a:ext cx="80962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Қажет болса нақтылаңыз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D19C1C6-18DB-406D-865B-9151E63115D6}"/>
              </a:ext>
            </a:extLst>
          </p:cNvPr>
          <p:cNvSpPr>
            <a:spLocks noGrp="1"/>
          </p:cNvSpPr>
          <p:nvPr/>
        </p:nvSpPr>
        <p:spPr>
          <a:xfrm>
            <a:off x="838200" y="4695825"/>
            <a:ext cx="42862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92C730F-6F52-4E5B-BCBC-ED29C5E0CA43}"/>
              </a:ext>
            </a:extLst>
          </p:cNvPr>
          <p:cNvSpPr>
            <a:spLocks noGrp="1"/>
          </p:cNvSpPr>
          <p:nvPr/>
        </p:nvSpPr>
        <p:spPr>
          <a:xfrm>
            <a:off x="1428750" y="4695825"/>
            <a:ext cx="80962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Дайын нәтижені адам бекітеді</a:t>
            </a:r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25000" y="1809750"/>
            <a:ext cx="2000250" cy="2000250"/>
          </a:xfrm>
          <a:prstGeom prst="rect">
            <a:avLst/>
          </a:prstGeom>
        </p:spPr>
      </p:pic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74DC7D4-D7E3-4072-814C-11410C6BC4F2}"/>
              </a:ext>
            </a:extLst>
          </p:cNvPr>
          <p:cNvSpPr>
            <a:spLocks noGrp="1"/>
          </p:cNvSpPr>
          <p:nvPr/>
        </p:nvSpPr>
        <p:spPr>
          <a:xfrm>
            <a:off x="704850" y="5905500"/>
            <a:ext cx="10477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>
                <a:solidFill>
                  <a:srgbClr val="B8F23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F238"/>
                </a:solidFill>
                <a:latin typeface="DejaVu Sans"/>
                <a:ea typeface="DejaVu Sans"/>
                <a:cs typeface="DejaVu Sans"/>
              </a:rPr>
              <a:t>Материалдар: nursultannurmukhamet.github.io/ai-masterclass-materials/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5D89DA7-2F09-4779-BC6F-BE2BAD6DCC09}"/>
              </a:ext>
            </a:extLst>
          </p:cNvPr>
          <p:cNvSpPr>
            <a:spLocks noGrp="1"/>
          </p:cNvSpPr>
          <p:nvPr/>
        </p:nvSpPr>
        <p:spPr>
          <a:xfrm>
            <a:off x="11144250" y="6419850"/>
            <a:ext cx="476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 lnSpcReduction="10000"/>
          </a:bodyPr>
          <a:lstStyle/>
          <a:p>
            <a:pPr algn="r">
              <a:def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59616E"/>
                </a:solidFill>
                <a:latin typeface="DejaVu Sans"/>
                <a:ea typeface="DejaVu Sans"/>
                <a:cs typeface="DejaVu Sans"/>
              </a:rPr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129279713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659</TotalTime>
  <Words>2931</Words>
  <Application>Microsoft Macintosh PowerPoint</Application>
  <DocSecurity>0</DocSecurity>
  <PresentationFormat>Широкоэкранный</PresentationFormat>
  <Paragraphs>610</Paragraphs>
  <Slides>59</Slides>
  <Notes>59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59</vt:i4>
      </vt:variant>
    </vt:vector>
  </HeadingPairs>
  <TitlesOfParts>
    <vt:vector size="62" baseType="lpstr">
      <vt:lpstr>Calibri</vt:lpstr>
      <vt:lpstr>DejaVu Sans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Жансая Дүйсенбекқызы</cp:lastModifiedBy>
  <cp:revision>1</cp:revision>
  <dcterms:created xsi:type="dcterms:W3CDTF">2026-09-20T19:16:15Z</dcterms:created>
  <dcterms:modified xsi:type="dcterms:W3CDTF">2026-09-21T07:09:25Z</dcterms:modified>
</cp:coreProperties>
</file>