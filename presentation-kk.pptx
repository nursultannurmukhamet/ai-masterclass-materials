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068edd81c0e4b72" /><Relationship Type="http://schemas.openxmlformats.org/officeDocument/2006/relationships/extended-properties" Target="/docProps/app.xml" Id="R1157adae616d4c47" /><Relationship Type="http://schemas.openxmlformats.org/officeDocument/2006/relationships/officeDocument" Target="/ppt/presentation.xml" Id="R6c4640ab6c0f4765" /></Relationships>
</file>

<file path=ppt/presentation.xml><?xml version="1.0" encoding="utf-8"?>
<p:presentation xmlns:p="http://schemas.openxmlformats.org/presentationml/2006/main">
  <p:sldMasterIdLst>
    <p:sldMasterId xmlns:r="http://schemas.openxmlformats.org/officeDocument/2006/relationships" id="2147483648" r:id="R1c7b7e794c744191"/>
  </p:sldMasterIdLst>
  <p:notesMasterIdLst>
    <p:notesMasterId xmlns:r="http://schemas.openxmlformats.org/officeDocument/2006/relationships" r:id="Ra4186e40be5c4437"/>
  </p:notesMasterIdLst>
  <p:sldIdLst>
    <p:sldId xmlns:r="http://schemas.openxmlformats.org/officeDocument/2006/relationships" id="256" r:id="R8912ee457a1a4e74"/>
    <p:sldId xmlns:r="http://schemas.openxmlformats.org/officeDocument/2006/relationships" id="257" r:id="Re07d98a707074550"/>
    <p:sldId xmlns:r="http://schemas.openxmlformats.org/officeDocument/2006/relationships" id="258" r:id="R598d0619ffa24bdf"/>
    <p:sldId xmlns:r="http://schemas.openxmlformats.org/officeDocument/2006/relationships" id="259" r:id="Ra7edf1d1944b4cf2"/>
    <p:sldId xmlns:r="http://schemas.openxmlformats.org/officeDocument/2006/relationships" id="260" r:id="R41317e650b084078"/>
    <p:sldId xmlns:r="http://schemas.openxmlformats.org/officeDocument/2006/relationships" id="261" r:id="R10030eb822f9431e"/>
    <p:sldId xmlns:r="http://schemas.openxmlformats.org/officeDocument/2006/relationships" id="262" r:id="R4df6592222d84ce5"/>
    <p:sldId xmlns:r="http://schemas.openxmlformats.org/officeDocument/2006/relationships" id="263" r:id="R10c795a2ef9c43bb"/>
    <p:sldId xmlns:r="http://schemas.openxmlformats.org/officeDocument/2006/relationships" id="264" r:id="Rb0ee80286de3412b"/>
    <p:sldId xmlns:r="http://schemas.openxmlformats.org/officeDocument/2006/relationships" id="265" r:id="R65e5efd78a4644d9"/>
    <p:sldId xmlns:r="http://schemas.openxmlformats.org/officeDocument/2006/relationships" id="266" r:id="R7ed741c4f08d41a0"/>
    <p:sldId xmlns:r="http://schemas.openxmlformats.org/officeDocument/2006/relationships" id="267" r:id="R97f2fae033224d63"/>
    <p:sldId xmlns:r="http://schemas.openxmlformats.org/officeDocument/2006/relationships" id="268" r:id="Ra902e33d586b46ae"/>
    <p:sldId xmlns:r="http://schemas.openxmlformats.org/officeDocument/2006/relationships" id="269" r:id="R9c818c1c30ea4e1b"/>
    <p:sldId xmlns:r="http://schemas.openxmlformats.org/officeDocument/2006/relationships" id="270" r:id="R8a4895e6f0064d33"/>
    <p:sldId xmlns:r="http://schemas.openxmlformats.org/officeDocument/2006/relationships" id="271" r:id="Rcdbbdbb4e2234f9c"/>
    <p:sldId xmlns:r="http://schemas.openxmlformats.org/officeDocument/2006/relationships" id="272" r:id="Rc17421a3c8c540bd"/>
    <p:sldId xmlns:r="http://schemas.openxmlformats.org/officeDocument/2006/relationships" id="273" r:id="Rc0faf47952a94652"/>
    <p:sldId xmlns:r="http://schemas.openxmlformats.org/officeDocument/2006/relationships" id="274" r:id="R929880d4636e4cb9"/>
    <p:sldId xmlns:r="http://schemas.openxmlformats.org/officeDocument/2006/relationships" id="275" r:id="R4bcf3dafe44c4b96"/>
    <p:sldId xmlns:r="http://schemas.openxmlformats.org/officeDocument/2006/relationships" id="276" r:id="R0c9cdde6260c427e"/>
    <p:sldId xmlns:r="http://schemas.openxmlformats.org/officeDocument/2006/relationships" id="277" r:id="R08492193bb4a4470"/>
    <p:sldId xmlns:r="http://schemas.openxmlformats.org/officeDocument/2006/relationships" id="278" r:id="R2bb2c75a6cd9421f"/>
    <p:sldId xmlns:r="http://schemas.openxmlformats.org/officeDocument/2006/relationships" id="279" r:id="R0eded936baa0498a"/>
    <p:sldId xmlns:r="http://schemas.openxmlformats.org/officeDocument/2006/relationships" id="280" r:id="Ree339d48132446c6"/>
    <p:sldId xmlns:r="http://schemas.openxmlformats.org/officeDocument/2006/relationships" id="281" r:id="Rc27d5dac5d0045c0"/>
    <p:sldId xmlns:r="http://schemas.openxmlformats.org/officeDocument/2006/relationships" id="282" r:id="Rdf83e9b107a34e6f"/>
    <p:sldId xmlns:r="http://schemas.openxmlformats.org/officeDocument/2006/relationships" id="283" r:id="Rd2a76ab0ae24484a"/>
    <p:sldId xmlns:r="http://schemas.openxmlformats.org/officeDocument/2006/relationships" id="284" r:id="R26e72c75e8624fb4"/>
    <p:sldId xmlns:r="http://schemas.openxmlformats.org/officeDocument/2006/relationships" id="285" r:id="R7f0b9fc2651d45b2"/>
    <p:sldId xmlns:r="http://schemas.openxmlformats.org/officeDocument/2006/relationships" id="286" r:id="R8757e47d5d3641b1"/>
    <p:sldId xmlns:r="http://schemas.openxmlformats.org/officeDocument/2006/relationships" id="287" r:id="R11ab5c5de57141b7"/>
    <p:sldId xmlns:r="http://schemas.openxmlformats.org/officeDocument/2006/relationships" id="288" r:id="R0a2909644a9f44ec"/>
    <p:sldId xmlns:r="http://schemas.openxmlformats.org/officeDocument/2006/relationships" id="289" r:id="R3666dadebfa64464"/>
    <p:sldId xmlns:r="http://schemas.openxmlformats.org/officeDocument/2006/relationships" id="290" r:id="Rf497d6d2e3844a5b"/>
    <p:sldId xmlns:r="http://schemas.openxmlformats.org/officeDocument/2006/relationships" id="291" r:id="R7819e4517d5445c7"/>
    <p:sldId xmlns:r="http://schemas.openxmlformats.org/officeDocument/2006/relationships" id="292" r:id="R877ef83c3da843c6"/>
    <p:sldId xmlns:r="http://schemas.openxmlformats.org/officeDocument/2006/relationships" id="293" r:id="R88157f8d258e4266"/>
    <p:sldId xmlns:r="http://schemas.openxmlformats.org/officeDocument/2006/relationships" id="294" r:id="Rbaf0cd104bb34a06"/>
    <p:sldId xmlns:r="http://schemas.openxmlformats.org/officeDocument/2006/relationships" id="295" r:id="R35d467e2600f4348"/>
    <p:sldId xmlns:r="http://schemas.openxmlformats.org/officeDocument/2006/relationships" id="296" r:id="Rbffb71bb21764af4"/>
    <p:sldId xmlns:r="http://schemas.openxmlformats.org/officeDocument/2006/relationships" id="297" r:id="R6379b848dc8e4b17"/>
    <p:sldId xmlns:r="http://schemas.openxmlformats.org/officeDocument/2006/relationships" id="298" r:id="R1447b9e7b3ee4551"/>
    <p:sldId xmlns:r="http://schemas.openxmlformats.org/officeDocument/2006/relationships" id="299" r:id="Ra1d3275a76dd4666"/>
    <p:sldId xmlns:r="http://schemas.openxmlformats.org/officeDocument/2006/relationships" id="300" r:id="Rc06a2edd9e044f8b"/>
    <p:sldId xmlns:r="http://schemas.openxmlformats.org/officeDocument/2006/relationships" id="301" r:id="R9658ec2f17ec4e02"/>
    <p:sldId xmlns:r="http://schemas.openxmlformats.org/officeDocument/2006/relationships" id="302" r:id="R8e5cfe3d9346470f"/>
    <p:sldId xmlns:r="http://schemas.openxmlformats.org/officeDocument/2006/relationships" id="303" r:id="Rf10f8601025f4166"/>
    <p:sldId xmlns:r="http://schemas.openxmlformats.org/officeDocument/2006/relationships" id="304" r:id="Rf463d7946fdb4b7e"/>
    <p:sldId xmlns:r="http://schemas.openxmlformats.org/officeDocument/2006/relationships" id="305" r:id="Rf68c20014bf445c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8f91d6f58f14d76" /><Relationship Type="http://schemas.openxmlformats.org/officeDocument/2006/relationships/slideMaster" Target="/ppt/slideMasters/slideMaster1.xml" Id="R1c7b7e794c744191" /><Relationship Type="http://schemas.openxmlformats.org/officeDocument/2006/relationships/notesMaster" Target="/ppt/notesMasters/notesMaster1.xml" Id="Ra4186e40be5c4437" /><Relationship Type="http://schemas.openxmlformats.org/officeDocument/2006/relationships/presProps" Target="/ppt/presProps.xml" Id="Re8202c3e88d34253" /><Relationship Type="http://schemas.openxmlformats.org/officeDocument/2006/relationships/tableStyles" Target="/ppt/tableStyles.xml" Id="R3d2e5795049c4919" /><Relationship Type="http://schemas.openxmlformats.org/officeDocument/2006/relationships/slide" Target="/ppt/slides/slide1.xml" Id="R8912ee457a1a4e74" /><Relationship Type="http://schemas.openxmlformats.org/officeDocument/2006/relationships/slide" Target="/ppt/slides/slide2.xml" Id="Re07d98a707074550" /><Relationship Type="http://schemas.openxmlformats.org/officeDocument/2006/relationships/slide" Target="/ppt/slides/slide3.xml" Id="R598d0619ffa24bdf" /><Relationship Type="http://schemas.openxmlformats.org/officeDocument/2006/relationships/slide" Target="/ppt/slides/slide4.xml" Id="Ra7edf1d1944b4cf2" /><Relationship Type="http://schemas.openxmlformats.org/officeDocument/2006/relationships/slide" Target="/ppt/slides/slide5.xml" Id="R41317e650b084078" /><Relationship Type="http://schemas.openxmlformats.org/officeDocument/2006/relationships/slide" Target="/ppt/slides/slide6.xml" Id="R10030eb822f9431e" /><Relationship Type="http://schemas.openxmlformats.org/officeDocument/2006/relationships/slide" Target="/ppt/slides/slide7.xml" Id="R4df6592222d84ce5" /><Relationship Type="http://schemas.openxmlformats.org/officeDocument/2006/relationships/slide" Target="/ppt/slides/slide8.xml" Id="R10c795a2ef9c43bb" /><Relationship Type="http://schemas.openxmlformats.org/officeDocument/2006/relationships/slide" Target="/ppt/slides/slide9.xml" Id="Rb0ee80286de3412b" /><Relationship Type="http://schemas.openxmlformats.org/officeDocument/2006/relationships/slide" Target="/ppt/slides/slide10.xml" Id="R65e5efd78a4644d9" /><Relationship Type="http://schemas.openxmlformats.org/officeDocument/2006/relationships/slide" Target="/ppt/slides/slide11.xml" Id="R7ed741c4f08d41a0" /><Relationship Type="http://schemas.openxmlformats.org/officeDocument/2006/relationships/slide" Target="/ppt/slides/slide12.xml" Id="R97f2fae033224d63" /><Relationship Type="http://schemas.openxmlformats.org/officeDocument/2006/relationships/slide" Target="/ppt/slides/slide13.xml" Id="Ra902e33d586b46ae" /><Relationship Type="http://schemas.openxmlformats.org/officeDocument/2006/relationships/slide" Target="/ppt/slides/slide14.xml" Id="R9c818c1c30ea4e1b" /><Relationship Type="http://schemas.openxmlformats.org/officeDocument/2006/relationships/slide" Target="/ppt/slides/slide15.xml" Id="R8a4895e6f0064d33" /><Relationship Type="http://schemas.openxmlformats.org/officeDocument/2006/relationships/slide" Target="/ppt/slides/slide16.xml" Id="Rcdbbdbb4e2234f9c" /><Relationship Type="http://schemas.openxmlformats.org/officeDocument/2006/relationships/slide" Target="/ppt/slides/slide17.xml" Id="Rc17421a3c8c540bd" /><Relationship Type="http://schemas.openxmlformats.org/officeDocument/2006/relationships/slide" Target="/ppt/slides/slide18.xml" Id="Rc0faf47952a94652" /><Relationship Type="http://schemas.openxmlformats.org/officeDocument/2006/relationships/slide" Target="/ppt/slides/slide19.xml" Id="R929880d4636e4cb9" /><Relationship Type="http://schemas.openxmlformats.org/officeDocument/2006/relationships/slide" Target="/ppt/slides/slide20.xml" Id="R4bcf3dafe44c4b96" /><Relationship Type="http://schemas.openxmlformats.org/officeDocument/2006/relationships/slide" Target="/ppt/slides/slide21.xml" Id="R0c9cdde6260c427e" /><Relationship Type="http://schemas.openxmlformats.org/officeDocument/2006/relationships/slide" Target="/ppt/slides/slide22.xml" Id="R08492193bb4a4470" /><Relationship Type="http://schemas.openxmlformats.org/officeDocument/2006/relationships/slide" Target="/ppt/slides/slide23.xml" Id="R2bb2c75a6cd9421f" /><Relationship Type="http://schemas.openxmlformats.org/officeDocument/2006/relationships/slide" Target="/ppt/slides/slide24.xml" Id="R0eded936baa0498a" /><Relationship Type="http://schemas.openxmlformats.org/officeDocument/2006/relationships/slide" Target="/ppt/slides/slide25.xml" Id="Ree339d48132446c6" /><Relationship Type="http://schemas.openxmlformats.org/officeDocument/2006/relationships/slide" Target="/ppt/slides/slide26.xml" Id="Rc27d5dac5d0045c0" /><Relationship Type="http://schemas.openxmlformats.org/officeDocument/2006/relationships/slide" Target="/ppt/slides/slide27.xml" Id="Rdf83e9b107a34e6f" /><Relationship Type="http://schemas.openxmlformats.org/officeDocument/2006/relationships/slide" Target="/ppt/slides/slide28.xml" Id="Rd2a76ab0ae24484a" /><Relationship Type="http://schemas.openxmlformats.org/officeDocument/2006/relationships/slide" Target="/ppt/slides/slide29.xml" Id="R26e72c75e8624fb4" /><Relationship Type="http://schemas.openxmlformats.org/officeDocument/2006/relationships/slide" Target="/ppt/slides/slide30.xml" Id="R7f0b9fc2651d45b2" /><Relationship Type="http://schemas.openxmlformats.org/officeDocument/2006/relationships/slide" Target="/ppt/slides/slide31.xml" Id="R8757e47d5d3641b1" /><Relationship Type="http://schemas.openxmlformats.org/officeDocument/2006/relationships/slide" Target="/ppt/slides/slide32.xml" Id="R11ab5c5de57141b7" /><Relationship Type="http://schemas.openxmlformats.org/officeDocument/2006/relationships/slide" Target="/ppt/slides/slide33.xml" Id="R0a2909644a9f44ec" /><Relationship Type="http://schemas.openxmlformats.org/officeDocument/2006/relationships/slide" Target="/ppt/slides/slide34.xml" Id="R3666dadebfa64464" /><Relationship Type="http://schemas.openxmlformats.org/officeDocument/2006/relationships/slide" Target="/ppt/slides/slide35.xml" Id="Rf497d6d2e3844a5b" /><Relationship Type="http://schemas.openxmlformats.org/officeDocument/2006/relationships/slide" Target="/ppt/slides/slide36.xml" Id="R7819e4517d5445c7" /><Relationship Type="http://schemas.openxmlformats.org/officeDocument/2006/relationships/slide" Target="/ppt/slides/slide37.xml" Id="R877ef83c3da843c6" /><Relationship Type="http://schemas.openxmlformats.org/officeDocument/2006/relationships/slide" Target="/ppt/slides/slide38.xml" Id="R88157f8d258e4266" /><Relationship Type="http://schemas.openxmlformats.org/officeDocument/2006/relationships/slide" Target="/ppt/slides/slide39.xml" Id="Rbaf0cd104bb34a06" /><Relationship Type="http://schemas.openxmlformats.org/officeDocument/2006/relationships/slide" Target="/ppt/slides/slide40.xml" Id="R35d467e2600f4348" /><Relationship Type="http://schemas.openxmlformats.org/officeDocument/2006/relationships/slide" Target="/ppt/slides/slide41.xml" Id="Rbffb71bb21764af4" /><Relationship Type="http://schemas.openxmlformats.org/officeDocument/2006/relationships/slide" Target="/ppt/slides/slide42.xml" Id="R6379b848dc8e4b17" /><Relationship Type="http://schemas.openxmlformats.org/officeDocument/2006/relationships/slide" Target="/ppt/slides/slide43.xml" Id="R1447b9e7b3ee4551" /><Relationship Type="http://schemas.openxmlformats.org/officeDocument/2006/relationships/slide" Target="/ppt/slides/slide44.xml" Id="Ra1d3275a76dd4666" /><Relationship Type="http://schemas.openxmlformats.org/officeDocument/2006/relationships/slide" Target="/ppt/slides/slide45.xml" Id="Rc06a2edd9e044f8b" /><Relationship Type="http://schemas.openxmlformats.org/officeDocument/2006/relationships/slide" Target="/ppt/slides/slide46.xml" Id="R9658ec2f17ec4e02" /><Relationship Type="http://schemas.openxmlformats.org/officeDocument/2006/relationships/slide" Target="/ppt/slides/slide47.xml" Id="R8e5cfe3d9346470f" /><Relationship Type="http://schemas.openxmlformats.org/officeDocument/2006/relationships/slide" Target="/ppt/slides/slide48.xml" Id="Rf10f8601025f4166" /><Relationship Type="http://schemas.openxmlformats.org/officeDocument/2006/relationships/slide" Target="/ppt/slides/slide49.xml" Id="Rf463d7946fdb4b7e" /><Relationship Type="http://schemas.openxmlformats.org/officeDocument/2006/relationships/slide" Target="/ppt/slides/slide50.xml" Id="Rf68c20014bf445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df8e59b1daf477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eb2a16f129409e" /><Relationship Type="http://schemas.openxmlformats.org/officeDocument/2006/relationships/notesMaster" Target="/ppt/notesMasters/notesMaster1.xml" Id="R336946f9ed404f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18a51f760134e89" /><Relationship Type="http://schemas.openxmlformats.org/officeDocument/2006/relationships/notesMaster" Target="/ppt/notesMasters/notesMaster1.xml" Id="Ra1bddc5deaf94d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e02dcc7d6bbb4d1c" /><Relationship Type="http://schemas.openxmlformats.org/officeDocument/2006/relationships/notesMaster" Target="/ppt/notesMasters/notesMaster1.xml" Id="R252b4a5257be461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118b3df54744d6c" /><Relationship Type="http://schemas.openxmlformats.org/officeDocument/2006/relationships/notesMaster" Target="/ppt/notesMasters/notesMaster1.xml" Id="Refcddc07275d47ee" /></Relationships>
</file>

<file path=ppt/notesSlides/_rels/notesSlide5.xml.rels>&#65279;<?xml version="1.0" encoding="utf-8"?><Relationships xmlns="http://schemas.openxmlformats.org/package/2006/relationships"><Relationship Type="http://schemas.openxmlformats.org/officeDocument/2006/relationships/slide" Target="/ppt/slides/slide5.xml" Id="R97726d7bab5a4bde" /><Relationship Type="http://schemas.openxmlformats.org/officeDocument/2006/relationships/notesMaster" Target="/ppt/notesMasters/notesMaster1.xml" Id="Rdac2a31d15f145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5162a5a8f1a4749" /><Relationship Type="http://schemas.openxmlformats.org/officeDocument/2006/relationships/notesMaster" Target="/ppt/notesMasters/notesMaster1.xml" Id="R84b09380fd3044cd" /></Relationships>
</file>

<file path=ppt/notesSlides/_rels/notesSlide7.xml.rels>&#65279;<?xml version="1.0" encoding="utf-8"?><Relationships xmlns="http://schemas.openxmlformats.org/package/2006/relationships"><Relationship Type="http://schemas.openxmlformats.org/officeDocument/2006/relationships/slide" Target="/ppt/slides/slide7.xml" Id="Rc816cb1f60bd4ecb" /><Relationship Type="http://schemas.openxmlformats.org/officeDocument/2006/relationships/notesMaster" Target="/ppt/notesMasters/notesMaster1.xml" Id="Rc78765f16c4f47e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0b29c62f1004505" /><Relationship Type="http://schemas.openxmlformats.org/officeDocument/2006/relationships/notesMaster" Target="/ppt/notesMasters/notesMaster1.xml" Id="R57bdee7c357b4ca5" /></Relationships>
</file>

<file path=ppt/notesSlides/_rels/notesSlide9.xml.rels>&#65279;<?xml version="1.0" encoding="utf-8"?><Relationships xmlns="http://schemas.openxmlformats.org/package/2006/relationships"><Relationship Type="http://schemas.openxmlformats.org/officeDocument/2006/relationships/slide" Target="/ppt/slides/slide9.xml" Id="R1e1582ffca4d414f" /><Relationship Type="http://schemas.openxmlformats.org/officeDocument/2006/relationships/notesMaster" Target="/ppt/notesMasters/notesMaster1.xml" Id="R8113fcff44c742d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4e91d649a184fdb" /><Relationship Type="http://schemas.openxmlformats.org/officeDocument/2006/relationships/notesMaster" Target="/ppt/notesMasters/notesMaster1.xml" Id="R67638b3e4a6b493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5ddc0b415d64d94" /><Relationship Type="http://schemas.openxmlformats.org/officeDocument/2006/relationships/notesMaster" Target="/ppt/notesMasters/notesMaster1.xml" Id="R9ae3e4bd4fcc4bc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67d226709744cbe" /><Relationship Type="http://schemas.openxmlformats.org/officeDocument/2006/relationships/notesMaster" Target="/ppt/notesMasters/notesMaster1.xml" Id="R9c7d888f0eb0420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9a6ac8eee67491c" /><Relationship Type="http://schemas.openxmlformats.org/officeDocument/2006/relationships/notesMaster" Target="/ppt/notesMasters/notesMaster1.xml" Id="Rb140bcd424844ea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9b5fc6010b141c2" /><Relationship Type="http://schemas.openxmlformats.org/officeDocument/2006/relationships/notesMaster" Target="/ppt/notesMasters/notesMaster1.xml" Id="R8cebb064f05b4a6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ca000ef70954c65" /><Relationship Type="http://schemas.openxmlformats.org/officeDocument/2006/relationships/notesMaster" Target="/ppt/notesMasters/notesMaster1.xml" Id="R7310ac164ccb45e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d9d8bcb78964389" /><Relationship Type="http://schemas.openxmlformats.org/officeDocument/2006/relationships/notesMaster" Target="/ppt/notesMasters/notesMaster1.xml" Id="R3d4fbd799e954c2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4e8e1f81f334249" /><Relationship Type="http://schemas.openxmlformats.org/officeDocument/2006/relationships/notesMaster" Target="/ppt/notesMasters/notesMaster1.xml" Id="R6c8add0713764cd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e7d37ae67da4ead" /><Relationship Type="http://schemas.openxmlformats.org/officeDocument/2006/relationships/notesMaster" Target="/ppt/notesMasters/notesMaster1.xml" Id="Rf9005bef10ef467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581699253e14c40" /><Relationship Type="http://schemas.openxmlformats.org/officeDocument/2006/relationships/notesMaster" Target="/ppt/notesMasters/notesMaster1.xml" Id="R73cd2d89620e422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f5244c59feb4f20" /><Relationship Type="http://schemas.openxmlformats.org/officeDocument/2006/relationships/notesMaster" Target="/ppt/notesMasters/notesMaster1.xml" Id="Ra331ddda86c04fa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2e19b4bb7d64c32" /><Relationship Type="http://schemas.openxmlformats.org/officeDocument/2006/relationships/notesMaster" Target="/ppt/notesMasters/notesMaster1.xml" Id="Rfa68cbd430a04cf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14587b99fac4ac6" /><Relationship Type="http://schemas.openxmlformats.org/officeDocument/2006/relationships/notesMaster" Target="/ppt/notesMasters/notesMaster1.xml" Id="R7bd47ef032ca494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ff8770c4e8d4a1c" /><Relationship Type="http://schemas.openxmlformats.org/officeDocument/2006/relationships/notesMaster" Target="/ppt/notesMasters/notesMaster1.xml" Id="R73fa68f6bd3f413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bdf99c042334907" /><Relationship Type="http://schemas.openxmlformats.org/officeDocument/2006/relationships/notesMaster" Target="/ppt/notesMasters/notesMaster1.xml" Id="R321db619598e432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c2ed9b5d1854fa5" /><Relationship Type="http://schemas.openxmlformats.org/officeDocument/2006/relationships/notesMaster" Target="/ppt/notesMasters/notesMaster1.xml" Id="R3f23e71810dd456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b1a8ff3172c4541" /><Relationship Type="http://schemas.openxmlformats.org/officeDocument/2006/relationships/notesMaster" Target="/ppt/notesMasters/notesMaster1.xml" Id="Rec87740f51124cc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85ae4ecf9fc4c93" /><Relationship Type="http://schemas.openxmlformats.org/officeDocument/2006/relationships/notesMaster" Target="/ppt/notesMasters/notesMaster1.xml" Id="Rbd3b3f6bd91344e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ed59d68d28b4724" /><Relationship Type="http://schemas.openxmlformats.org/officeDocument/2006/relationships/notesMaster" Target="/ppt/notesMasters/notesMaster1.xml" Id="Ra33f58da9af5487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784f273e9eb4f5b" /><Relationship Type="http://schemas.openxmlformats.org/officeDocument/2006/relationships/notesMaster" Target="/ppt/notesMasters/notesMaster1.xml" Id="R7658c87bd64b400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020389e20e64283" /><Relationship Type="http://schemas.openxmlformats.org/officeDocument/2006/relationships/notesMaster" Target="/ppt/notesMasters/notesMaster1.xml" Id="R8e2076c3dc124a3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22b82a36c7e4da0" /><Relationship Type="http://schemas.openxmlformats.org/officeDocument/2006/relationships/notesMaster" Target="/ppt/notesMasters/notesMaster1.xml" Id="Rb625e44647864a1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c3ff76909a2459a" /><Relationship Type="http://schemas.openxmlformats.org/officeDocument/2006/relationships/notesMaster" Target="/ppt/notesMasters/notesMaster1.xml" Id="R064241fadafa4ac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40d0af84d7e40ba" /><Relationship Type="http://schemas.openxmlformats.org/officeDocument/2006/relationships/notesMaster" Target="/ppt/notesMasters/notesMaster1.xml" Id="Rd5e44d4c4e634e0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c54e581f9094792" /><Relationship Type="http://schemas.openxmlformats.org/officeDocument/2006/relationships/notesMaster" Target="/ppt/notesMasters/notesMaster1.xml" Id="Rc33dc954995d42a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db6cc1a92d74063" /><Relationship Type="http://schemas.openxmlformats.org/officeDocument/2006/relationships/notesMaster" Target="/ppt/notesMasters/notesMaster1.xml" Id="R5c775065b0df41f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30fe64441374c80" /><Relationship Type="http://schemas.openxmlformats.org/officeDocument/2006/relationships/notesMaster" Target="/ppt/notesMasters/notesMaster1.xml" Id="R334fd4eca61846f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12fd2e399204b6b" /><Relationship Type="http://schemas.openxmlformats.org/officeDocument/2006/relationships/notesMaster" Target="/ppt/notesMasters/notesMaster1.xml" Id="R55a5f4f4374141f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831188c7de64af0" /><Relationship Type="http://schemas.openxmlformats.org/officeDocument/2006/relationships/notesMaster" Target="/ppt/notesMasters/notesMaster1.xml" Id="R5b0b728ba9cc4c2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4fe88e81e2c4671" /><Relationship Type="http://schemas.openxmlformats.org/officeDocument/2006/relationships/notesMaster" Target="/ppt/notesMasters/notesMaster1.xml" Id="Re39d7f648d08476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1fbc4a59d05487b" /><Relationship Type="http://schemas.openxmlformats.org/officeDocument/2006/relationships/notesMaster" Target="/ppt/notesMasters/notesMaster1.xml" Id="R5fab469d043c4d0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4ba55cf78c0421c" /><Relationship Type="http://schemas.openxmlformats.org/officeDocument/2006/relationships/notesMaster" Target="/ppt/notesMasters/notesMaster1.xml" Id="Red75d86590cd4677"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e7c4b92231745ac" /><Relationship Type="http://schemas.openxmlformats.org/officeDocument/2006/relationships/notesMaster" Target="/ppt/notesMasters/notesMaster1.xml" Id="R04dd6e4f41b8467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f95c57544b374d2f" /><Relationship Type="http://schemas.openxmlformats.org/officeDocument/2006/relationships/notesMaster" Target="/ppt/notesMasters/notesMaster1.xml" Id="Rfeecbf01e5f248f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e4d053d48f3401c" /><Relationship Type="http://schemas.openxmlformats.org/officeDocument/2006/relationships/notesMaster" Target="/ppt/notesMasters/notesMaster1.xml" Id="R9161ad1a5cc7458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c0865b92a19b4088" /><Relationship Type="http://schemas.openxmlformats.org/officeDocument/2006/relationships/notesMaster" Target="/ppt/notesMasters/notesMaster1.xml" Id="R184f18452a974122"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f41d4424bd1e48b7" /><Relationship Type="http://schemas.openxmlformats.org/officeDocument/2006/relationships/notesMaster" Target="/ppt/notesMasters/notesMaster1.xml" Id="Rf966bc786a244eaf"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55e3cc626d884758" /><Relationship Type="http://schemas.openxmlformats.org/officeDocument/2006/relationships/notesMaster" Target="/ppt/notesMasters/notesMaster1.xml" Id="R13e3d63e2bf543ad"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b313a8baada843fb" /><Relationship Type="http://schemas.openxmlformats.org/officeDocument/2006/relationships/notesMaster" Target="/ppt/notesMasters/notesMaster1.xml" Id="R617f1da380394da2"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d7d6be44e1bc43dd" /><Relationship Type="http://schemas.openxmlformats.org/officeDocument/2006/relationships/notesMaster" Target="/ppt/notesMasters/notesMaster1.xml" Id="R3305d38519fa491d"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92c47180c11b447b" /><Relationship Type="http://schemas.openxmlformats.org/officeDocument/2006/relationships/notesMaster" Target="/ppt/notesMasters/notesMaster1.xml" Id="Rb5da20c5db3746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Кіріспе. Кім бүгін хабарлама жазды, ақпарат іздеді немесе нұсқаларды салыстырды? Сабақ соңында әркімнің өз нәтижесі болады.</a:t>
            </a:r>
          </a:p>
          <a:p xmlns:a="http://schemas.openxmlformats.org/drawingml/2006/main">
            <a:r>
              <a:t/>
            </a:r>
          </a:p>
          <a:p xmlns:a="http://schemas.openxmlformats.org/drawingml/2006/main">
            <a:r>
              <a:t>Материалдар: сценарийлік жоспар және сұраулар кітапханасы. Аудиторияның негізгі тілі — қазақша. Кеңейтілген практика шамамен 120 минутқа есептелген.</a:t>
            </a:r>
          </a:p>
          <a:p xmlns:a="http://schemas.openxmlformats.org/drawingml/2006/main">
            <a:r>
              <a:t/>
            </a:r>
          </a:p>
          <a:p xmlns:a="http://schemas.openxmlformats.org/drawingml/2006/main">
            <a:r>
              <a:t>Өзекті бағдарлама: 16:00–18:00. Толық слайдтарды таңдап көрсетуге және өз бетінше қайталауға болады. Мұқаба ЖИ көмегімен жасалған.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Кіріспедегі 0–10 минуттың ішінде тренермен танысуға 1–2 минут. Дүйсенбекқызы Жансая, PhD. Жасанды интеллект саласындағы зерттеуші және оқытушы. NLP: табиғи тілді өңдеу. ASR: сөйлеуді автоматты тану. Аты-жөні, дәрежесі және жұмыс бағыттары пайдаланушы берген мәліметке негізделген. Фотосуретті пайдаланушы берді; адамның келбеті өзгертілмеді.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минутқа дейін. ЖИ деректердегі заңдылықтарды табады. Бұл жерде қолданбалы көмекшілерді қараймыз. Көрсетілгені — мүмкіндіктер топтары.</a:t>
            </a:r>
          </a:p>
          <a:p xmlns:a="http://schemas.openxmlformats.org/drawingml/2006/main">
            <a:r>
              <a:t/>
            </a:r>
          </a:p>
          <a:p xmlns:a="http://schemas.openxmlformats.org/drawingml/2006/main">
            <a:r>
              <a:t>Материалдар: сценарийлік жоспар және сұраулар кітапханасы. Аудиторияның негізгі тілі — қазақша. Кеңейтілген практика шамамен 120 минутқа есептелген.</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Картаны 3 минутта көрсетіңіз. Барлық сервиске тіркелу міндетті емес. Мүмкіндіктері ұқсас болуы мүмкін.</a:t>
            </a:r>
          </a:p>
          <a:p xmlns:a="http://schemas.openxmlformats.org/drawingml/2006/main">
            <a:r>
              <a:t/>
            </a:r>
          </a:p>
          <a:p xmlns:a="http://schemas.openxmlformats.org/drawingml/2006/main">
            <a:r>
              <a:t>Материалдар: сценарийлік жоспар және сұраулар кітапханасы. Аудиторияның негізгі тілі — қазақша. Кеңейтілген практика шамамен 120 минутқа есептелген.</a:t>
            </a:r>
          </a:p>
          <a:p xmlns:a="http://schemas.openxmlformats.org/drawingml/2006/main">
            <a:r>
              <a:t>Source, checked 2026-09-15: https://learn.chatgpt.com/docs/web-search</a:t>
            </a:r>
          </a:p>
          <a:p xmlns:a="http://schemas.openxmlformats.org/drawingml/2006/main">
            <a:r>
              <a:t>Source, checked 2026-09-15: https://support.google.com/gemini/answer/14903178?hl=ru</a:t>
            </a:r>
          </a:p>
          <a:p xmlns:a="http://schemas.openxmlformats.org/drawingml/2006/main">
            <a:r>
              <a:t>Source, checked 2026-09-15: https://help.x.com/en/using-x/about-grok</a:t>
            </a:r>
          </a:p>
          <a:p xmlns:a="http://schemas.openxmlformats.org/drawingml/2006/main">
            <a:r>
              <a:t>Source, checked 2026-09-15: https://help.gamma.app/en/articles/7838093-how-do-i-create-a-new-presentation-document-or-webpage-in-gamma</a:t>
            </a:r>
          </a:p>
          <a:p xmlns:a="http://schemas.openxmlformats.org/drawingml/2006/main">
            <a:r>
              <a:t>Source, checked 2026-09-15: https://www.perplexity.ai/help-center/en/articles/10352895-how-does-perplexity-work</a:t>
            </a:r>
          </a:p>
          <a:p xmlns:a="http://schemas.openxmlformats.org/drawingml/2006/main">
            <a:r>
              <a:t>Source, checked 2026-09-15: https://learn.chatgpt.com/docs/image-generation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chatgpt.com сайтын ашыңыз. Скриншотта аккаунтқа кірмеген бастапқы экран. Қосымша функцияларға кіру қажет болуы мүмкін. Телефондағы көрініс өзгеруі мүмкін.</a:t>
            </a:r>
          </a:p>
          <a:p xmlns:a="http://schemas.openxmlformats.org/drawingml/2006/main">
            <a:r>
              <a:t/>
            </a:r>
          </a:p>
          <a:p xmlns:a="http://schemas.openxmlformats.org/drawingml/2006/main">
            <a:r>
              <a:t>Материалдар: сценарийлік жоспар және сұраулар кітапханасы. Аудиторияның негізгі тілі — қазақша. Кеңейтілген практика шамамен 120 минутқа есептелген.</a:t>
            </a:r>
          </a:p>
          <a:p xmlns:a="http://schemas.openxmlformats.org/drawingml/2006/main">
            <a:r>
              <a:t>Source, checked 2026-09-15: https://learn.chatgpt.com/docs/web-search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10–20 минуттық бөлім. Сұрауды енгізуді көрсетіңіз. Скриншотта Gemini-дегі нақты қазақша сұрау. Қатысушы уақытты өзіне сай өзгертеді.</a:t>
            </a:r>
          </a:p>
          <a:p xmlns:a="http://schemas.openxmlformats.org/drawingml/2006/main">
            <a:r>
              <a:t/>
            </a:r>
          </a:p>
          <a:p xmlns:a="http://schemas.openxmlformats.org/drawingml/2006/main">
            <a:r>
              <a:t>Материалдар: сценарийлік жоспар және сұраулар кітапханасы. Аудиторияның негізгі тілі — қазақша. Кеңейтілген практика шамамен 120 минутқа есептелген.</a:t>
            </a:r>
          </a:p>
          <a:p xmlns:a="http://schemas.openxmlformats.org/drawingml/2006/main">
            <a:r>
              <a:t>Source, checked 2026-09-15: https://support.google.com/gemini/answer/14903178?hl=ru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Дайындау кезінде қонақ режиміндегі Gemini қарапайым сұрауға жауап бере алмады. Скриншот нақты сәтсіз жауапты көрсетеді. Нақтылау да әрдайым көмектеспейді; жаңа чат не басқа сервис қолданылады.</a:t>
            </a:r>
          </a:p>
          <a:p xmlns:a="http://schemas.openxmlformats.org/drawingml/2006/main">
            <a:r>
              <a:t/>
            </a:r>
          </a:p>
          <a:p xmlns:a="http://schemas.openxmlformats.org/drawingml/2006/main">
            <a:r>
              <a:t>Материалдар: сценарийлік жоспар және сұраулар кітапханасы. Аудиторияның негізгі тілі — қазақша. Кеңейтілген практика шамамен 120 минутқа есептелген.</a:t>
            </a:r>
          </a:p>
          <a:p xmlns:a="http://schemas.openxmlformats.org/drawingml/2006/main">
            <a:r>
              <a:t>Source, checked 2026-09-15: https://support.google.com/gemini/answer/14903178?hl=ru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Бұл — сабаққа арналған оқу үлгілері, сервистің жауабы ретінде берілмейді. Қатысушылар уақыт пен мағынаны тексереді. Мәтінді жазбаға көшіруді көрсетіңіз.</a:t>
            </a:r>
          </a:p>
          <a:p xmlns:a="http://schemas.openxmlformats.org/drawingml/2006/main">
            <a:r>
              <a:t/>
            </a:r>
          </a:p>
          <a:p xmlns:a="http://schemas.openxmlformats.org/drawingml/2006/main">
            <a:r>
              <a:t>Материалдар: сценарийлік жоспар және сұраулар кітапханасы. Аудиторияның негізгі тілі — қазақша. Кеңейтілген практика шамамен 120 минутқа есептелген.</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20–35 минуттық бөлім. Нақты Gemini мәзірінде құралдар үшін кіру қажет. Плюсті, кіруді және одан кейін файл таңдауды көрсетіңіз. Қолжетімсіз болса, оқу хабарландыруының мәтінін енгізіңіз.</a:t>
            </a:r>
          </a:p>
          <a:p xmlns:a="http://schemas.openxmlformats.org/drawingml/2006/main">
            <a:r>
              <a:t/>
            </a:r>
          </a:p>
          <a:p xmlns:a="http://schemas.openxmlformats.org/drawingml/2006/main">
            <a:r>
              <a:t>Материалдар: сценарийлік жоспар және сұраулар кітапханасы. Аудиторияның негізгі тілі — қазақша. Кеңейтілген практика шамамен 120 минутқа есептелген.</a:t>
            </a:r>
          </a:p>
          <a:p xmlns:a="http://schemas.openxmlformats.org/drawingml/2006/main">
            <a:r>
              <a:t>Source, checked 2026-09-15: https://support.google.com/gemini/answer/14903178?hl=ru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Практикаға арналған ойдан құрастырылған хабарландыру. Күні, уақыты, орны мен шартын сұратыңыз. Жауапты түпнұсқамен салыстырады.</a:t>
            </a:r>
          </a:p>
          <a:p xmlns:a="http://schemas.openxmlformats.org/drawingml/2006/main">
            <a:r>
              <a:t/>
            </a:r>
          </a:p>
          <a:p xmlns:a="http://schemas.openxmlformats.org/drawingml/2006/main">
            <a:r>
              <a:t>Материалдар: сценарийлік жоспар және сұраулар кітапханасы. Аудиторияның негізгі тілі — қазақша. Кеңейтілген практика шамамен 120 минутқа есептелген.</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Екінші сервистің қысқа көрсетілімі. Ашық құжат қолданыңыз. Кітапханада 25-карточка. Барлығының бірден тіркелуі міндетті емес.</a:t>
            </a:r>
          </a:p>
          <a:p xmlns:a="http://schemas.openxmlformats.org/drawingml/2006/main">
            <a:r>
              <a:t/>
            </a:r>
          </a:p>
          <a:p xmlns:a="http://schemas.openxmlformats.org/drawingml/2006/main">
            <a:r>
              <a:t>Материалдар: сценарийлік жоспар және сұраулар кітапханасы. Аудиторияның негізгі тілі — қазақша. Кеңейтілген практика шамамен 120 минутқа есептелген.</a:t>
            </a:r>
          </a:p>
          <a:p xmlns:a="http://schemas.openxmlformats.org/drawingml/2006/main">
            <a:r>
              <a:t>Source, checked 2026-09-15: https://support.google.com/gemini/answer/14903178?hl=ru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35–50 минуттық бөлім. Іздеуге дейін міндетті анықтаймыз. Билет сатып алуға уәде берілмейді. Толық сұрау — 9-карточка.</a:t>
            </a:r>
          </a:p>
          <a:p xmlns:a="http://schemas.openxmlformats.org/drawingml/2006/main">
            <a:r>
              <a:t/>
            </a:r>
          </a:p>
          <a:p xmlns:a="http://schemas.openxmlformats.org/drawingml/2006/main">
            <a:r>
              <a:t>Материалдар: сценарийлік жоспар және сұраулар кітапханасы. Аудиторияның негізгі тілі — қазақша. Кеңейтілген практика шамамен 120 минутқа есептелген.</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Бағалар ойдан алынған. Тапсырма: багаж керек, 20:00-ге дейін келу қажет. А — 32 000 теңге, кеш келеді. Б — 30 000 теңге, 18:00-де келеді, талапқа сай.</a:t>
            </a:r>
          </a:p>
          <a:p xmlns:a="http://schemas.openxmlformats.org/drawingml/2006/main">
            <a:r>
              <a:t/>
            </a:r>
          </a:p>
          <a:p xmlns:a="http://schemas.openxmlformats.org/drawingml/2006/main">
            <a:r>
              <a:t>Материалдар: сценарийлік жоспар және сұраулар кітапханасы. Аудиторияның негізгі тілі — қазақша. Кеңейтілген практика шамамен 120 минутқа есептелген.</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Perplexity мен Grok қосымша нұсқа ретінде көрсетіледі. Дереккөз тұжырымды тікелей растауы керек. Билетті тасымалдаушыдан тексереміз.</a:t>
            </a:r>
          </a:p>
          <a:p xmlns:a="http://schemas.openxmlformats.org/drawingml/2006/main">
            <a:r>
              <a:t/>
            </a:r>
          </a:p>
          <a:p xmlns:a="http://schemas.openxmlformats.org/drawingml/2006/main">
            <a:r>
              <a:t>Материалдар: сценарийлік жоспар және сұраулар кітапханасы. Аудиторияның негізгі тілі — қазақша. Кеңейтілген практика шамамен 120 минутқа есептелген.</a:t>
            </a:r>
          </a:p>
          <a:p xmlns:a="http://schemas.openxmlformats.org/drawingml/2006/main">
            <a:r>
              <a:t>Source, checked 2026-09-15: https://www.perplexity.ai/help-center/en/articles/10352895-how-does-perplexity-work</a:t>
            </a:r>
          </a:p>
          <a:p xmlns:a="http://schemas.openxmlformats.org/drawingml/2006/main">
            <a:r>
              <a:t>Source, checked 2026-09-15: https://help.x.com/en/using-x/about-grok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Сравни бесплатную ручную кладь Air Astana (экономкласс) и FlyArystan на 15 сентября 2026 года. Используй только официальные сайты авиакомпаний. Краткая таблица: вес, размеры, число мест. Дай прямые ссылки на источники и отметь изменения правил. Не смешивай ручную кладь и сдаваемый багаж. Если сведения противоречат друг другу, покажи это. Ответь по-русски, до 150 слов.</a:t>
            </a:r>
          </a:p>
          <a:p xmlns:a="http://schemas.openxmlformats.org/drawingml/2006/main">
            <a:r>
              <a:t>perplexity.ai сайтын ашып, іздеу режимінде сұрауды енгізіңіз. Мысал бір ересек жолаушының эконом-кластағы негізгі қол жүгіне қатысты. Өзге жеке заттар мен ақылы қызметтерді бөлек тексеріңіз.</a:t>
            </a:r>
          </a:p>
          <a:p xmlns:a="http://schemas.openxmlformats.org/drawingml/2006/main">
            <a:r>
              <a:t/>
            </a:r>
          </a:p>
          <a:p xmlns:a="http://schemas.openxmlformats.org/drawingml/2006/main">
            <a:r>
              <a:t>Perplexity және Grok қосымша бөлімі: екі негізгі мысалға шамамен 20 минут. Екінші мысалдарды өз бетімен қайталауға беруге болады.</a:t>
            </a:r>
          </a:p>
          <a:p xmlns:a="http://schemas.openxmlformats.org/drawingml/2006/main">
            <a:r>
              <a:t>Source, checked 2026-09-15: https://www.perplexity.ai/help-center/en/articles/10352895-how-does-perplexity-work</a:t>
            </a:r>
          </a:p>
          <a:p xmlns:a="http://schemas.openxmlformats.org/drawingml/2006/main">
            <a:r>
              <a:t>Source, checked 2026-09-15: https://airastana.com/kaz-en/information/carry-on-baggage</a:t>
            </a:r>
          </a:p>
          <a:p xmlns:a="http://schemas.openxmlformats.org/drawingml/2006/main">
            <a:r>
              <a:t>Source, checked 2026-09-15: https://flyarystan.com/hand-baggage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Perplexity-дің 15.09.2026 күнгі нақты жауабының үзіндісі. Бүйірлік панель мен cookie терезесі кадрға кірмеген. Екі баған көрсетілген. Жоғарыдан төмен: салмақ, өлшем, орын саны. Сандар ресми дереккөздермен салыстырылған.</a:t>
            </a:r>
          </a:p>
          <a:p xmlns:a="http://schemas.openxmlformats.org/drawingml/2006/main">
            <a:r>
              <a:t/>
            </a:r>
          </a:p>
          <a:p xmlns:a="http://schemas.openxmlformats.org/drawingml/2006/main">
            <a:r>
              <a:t>Perplexity және Grok қосымша бөлімі: екі негізгі мысалға шамамен 20 минут. Екінші мысалдарды өз бетімен қайталауға беруге болады.</a:t>
            </a:r>
          </a:p>
          <a:p xmlns:a="http://schemas.openxmlformats.org/drawingml/2006/main">
            <a:r>
              <a:t>Source, checked 2026-09-15: https://airastana.com/kaz-en/information/carry-on-baggage</a:t>
            </a:r>
          </a:p>
          <a:p xmlns:a="http://schemas.openxmlformats.org/drawingml/2006/main">
            <a:r>
              <a:t>Source, checked 2026-09-15: https://flyarystan.com/hand-baggage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Жауаптағы сандар дұрыс, бірақ ережедегі жария өзгерістерді көрсетпеген. FlyArystan ресми жаңалығы норманың 2026 жылғы 1 наурыздан бастап 5 кг-нан 7 кг-ға өскенін растайды. Сондықтан жауап толық емес. Сабақта сапар күніне арналған ережелерді қайта ашыңыз.</a:t>
            </a:r>
          </a:p>
          <a:p xmlns:a="http://schemas.openxmlformats.org/drawingml/2006/main">
            <a:r>
              <a:t/>
            </a:r>
          </a:p>
          <a:p xmlns:a="http://schemas.openxmlformats.org/drawingml/2006/main">
            <a:r>
              <a:t>Perplexity және Grok қосымша бөлімі: екі негізгі мысалға шамамен 20 минут. Екінші мысалдарды өз бетімен қайталауға беруге болады.</a:t>
            </a:r>
          </a:p>
          <a:p xmlns:a="http://schemas.openxmlformats.org/drawingml/2006/main">
            <a:r>
              <a:t>Source, checked 2026-09-15: https://www.go.flyarystan.com/tpost/3506gbhob1-flyarystan-uvelichivaet-normu-besplatnoi</a:t>
            </a:r>
          </a:p>
          <a:p xmlns:a="http://schemas.openxmlformats.org/drawingml/2006/main">
            <a:r>
              <a:t>Source, checked 2026-09-15: https://flyarystan.com/hand-baggage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Өз бетімен қайталауға арналған екінші мысал. Қатысушы қарастырып жүрген тұрмыстық техниканың екі нақты сілтемесін алады. Бұл — жаттығу сценарийі. Нәтижеде сілтемелер, тексерілген күн, сипаттамалар және расталмаған тармақтар болуы керек.</a:t>
            </a:r>
          </a:p>
          <a:p xmlns:a="http://schemas.openxmlformats.org/drawingml/2006/main">
            <a:r>
              <a:t/>
            </a:r>
          </a:p>
          <a:p xmlns:a="http://schemas.openxmlformats.org/drawingml/2006/main">
            <a:r>
              <a:t>Perplexity және Grok қосымша бөлімі: екі негізгі мысалға шамамен 20 минут. Екінші мысалдарды өз бетімен қайталауға беруге болады.</a:t>
            </a:r>
          </a:p>
          <a:p xmlns:a="http://schemas.openxmlformats.org/drawingml/2006/main">
            <a:r>
              <a:t>Source, checked 2026-09-15: https://www.perplexity.ai/help-center/en/articles/10352895-how-does-perplexity-work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Учебная ролевая игра. Ты руководитель, я сотрудник. На сегодня есть 8 рабочих часов. Отчёт займёт 5 часов, сверка заявок 4 часа, подготовка писем 3 часа. Все сроки поставлены на сегодня. Помоги отрепетировать спокойный разговор о приоритетах. Задавай по одному вопросу и жди моего ответа. Начни с одной короткой реплики руководителя. Не пиши весь диалог сразу.</a:t>
            </a:r>
          </a:p>
          <a:p xmlns:a="http://schemas.openxmlformats.org/drawingml/2006/main">
            <a:r>
              <a:t/>
            </a:r>
          </a:p>
          <a:p xmlns:a="http://schemas.openxmlformats.org/drawingml/2006/main">
            <a:r>
              <a:t>Perplexity және Grok қосымша бөлімі: екі негізгі мысалға шамамен 20 минут. Екінші мысалдарды өз бетімен қайталауға беруге болады.</a:t>
            </a:r>
          </a:p>
          <a:p xmlns:a="http://schemas.openxmlformats.org/drawingml/2006/main">
            <a:r>
              <a:t>Source, checked 2026-09-15: https://docs.x.ai/grok/overview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Оқу диалогы сабақ үшін құрастырылған. Ол Grok-тің нақты жауабы ретінде берілмейді. Әр репликадан кейін қатысушы өз жауабын жазады. Сервистің нақты жауабы басқаша болуы мүмкін.</a:t>
            </a:r>
          </a:p>
          <a:p xmlns:a="http://schemas.openxmlformats.org/drawingml/2006/main">
            <a:r>
              <a:t/>
            </a:r>
          </a:p>
          <a:p xmlns:a="http://schemas.openxmlformats.org/drawingml/2006/main">
            <a:r>
              <a:t>Perplexity және Grok қосымша бөлімі: екі негізгі мысалға шамамен 20 минут. Екінші мысалдарды өз бетімен қайталауға беруге болады.</a:t>
            </a:r>
          </a:p>
          <a:p xmlns:a="http://schemas.openxmlformats.org/drawingml/2006/main">
            <a:r>
              <a:t>Source, checked 2026-09-15: https://docs.x.ai/grok/overview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Жұппен практика: бірі басшы рөлінде, екіншісі жауап береді. Кейін рөлдерді ауыстырады. Берілген шарт бойынша 4 сағат жетіспейді. Басымдықтарды адам анықтайды. Бұл жаттығу, басшыға хабарлама жіберілмейді.</a:t>
            </a:r>
          </a:p>
          <a:p xmlns:a="http://schemas.openxmlformats.org/drawingml/2006/main">
            <a:r>
              <a:t/>
            </a:r>
          </a:p>
          <a:p xmlns:a="http://schemas.openxmlformats.org/drawingml/2006/main">
            <a:r>
              <a:t>Perplexity және Grok қосымша бөлімі: екі негізгі мысалға шамамен 20 минут. Екінші мысалдарды өз бетімен қайталауға беруге болады.</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Өз бетімен қайталауға арналған екінші мысал. Бастапқы мәліметтер ойдан алынған. Жол уақыты мен мекеме кестесін қатысушыдан нақтылау керек. Алдымен нақтылау сұрақтарын сұратыңыз.</a:t>
            </a:r>
          </a:p>
          <a:p xmlns:a="http://schemas.openxmlformats.org/drawingml/2006/main">
            <a:r>
              <a:t/>
            </a:r>
          </a:p>
          <a:p xmlns:a="http://schemas.openxmlformats.org/drawingml/2006/main">
            <a:r>
              <a:t>Perplexity және Grok қосымша бөлімі: екі негізгі мысалға шамамен 20 минут. Екінші мысалдарды өз бетімен қайталауға беруге болады.</a:t>
            </a:r>
          </a:p>
          <a:p xmlns:a="http://schemas.openxmlformats.org/drawingml/2006/main">
            <a:r>
              <a:t>Source, checked 2026-09-15: https://docs.x.ai/grok/overview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Салыстыру дағдысын басқа міндетке қолдануды көрсетіңіз. Толық жаттығу вебинарға арналған. 14-карточка.</a:t>
            </a:r>
          </a:p>
          <a:p xmlns:a="http://schemas.openxmlformats.org/drawingml/2006/main">
            <a:r>
              <a:t/>
            </a:r>
          </a:p>
          <a:p xmlns:a="http://schemas.openxmlformats.org/drawingml/2006/main">
            <a:r>
              <a:t>Материалдар: сценарийлік жоспар және сұраулар кітапханасы. Аудиторияның негізгі тілі — қазақша. Кеңейтілген практика шамамен 120 минутқа есептелген.</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70–80 минуттық бөлім. Сурет ImageGen арқылы оқу мысалы ретінде жасалған, сервис скриншоты емес. Іс-шараны, стильді және мәтінге бос орынды сипаттау. 22-карточка.</a:t>
            </a:r>
          </a:p>
          <a:p xmlns:a="http://schemas.openxmlformats.org/drawingml/2006/main">
            <a:r>
              <a:t/>
            </a:r>
          </a:p>
          <a:p xmlns:a="http://schemas.openxmlformats.org/drawingml/2006/main">
            <a:r>
              <a:t>Материалдар: сценарийлік жоспар және сұраулар кітапханасы. Аудиторияның негізгі тілі — қазақша. Кеңейтілген практика шамамен 120 минутқа есептелген.</a:t>
            </a:r>
          </a:p>
          <a:p xmlns:a="http://schemas.openxmlformats.org/drawingml/2006/main">
            <a:r>
              <a:t>Source, checked 2026-09-15: https://learn.chatgpt.com/docs/image-generation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Түпнұсқа мен өзгертілген нұсқаны көрсетіңіз. Міндет — гүлдердің орнын сақтап, фонды ашығырақ ету. Өзгеріс пен сақталған бөлшектерді салыстырыңыз.</a:t>
            </a:r>
          </a:p>
          <a:p xmlns:a="http://schemas.openxmlformats.org/drawingml/2006/main">
            <a:r>
              <a:t/>
            </a:r>
          </a:p>
          <a:p xmlns:a="http://schemas.openxmlformats.org/drawingml/2006/main">
            <a:r>
              <a:t>Материалдар: сценарийлік жоспар және сұраулар кітапханасы. Аудиторияның негізгі тілі — қазақша. Кеңейтілген практика шамамен 120 минутқа есептелген.</a:t>
            </a:r>
          </a:p>
          <a:p xmlns:a="http://schemas.openxmlformats.org/drawingml/2006/main">
            <a:r>
              <a:t>Source, checked 2026-09-15: https://learn.chatgpt.com/docs/image-generation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Gamma-мен қысқаша танысу. Өздік практикаға 27–28-карточка. Құжаттамада Generate, Paste, Import режимдері берілген. Слайдтар мен экспорт тексеріледі.</a:t>
            </a:r>
          </a:p>
          <a:p xmlns:a="http://schemas.openxmlformats.org/drawingml/2006/main">
            <a:r>
              <a:t/>
            </a:r>
          </a:p>
          <a:p xmlns:a="http://schemas.openxmlformats.org/drawingml/2006/main">
            <a:r>
              <a:t>Материалдар: сценарийлік жоспар және сұраулар кітапханасы. Аудиторияның негізгі тілі — қазақша. Кеңейтілген практика шамамен 120 минутқа есептелген.</a:t>
            </a:r>
          </a:p>
          <a:p xmlns:a="http://schemas.openxmlformats.org/drawingml/2006/main">
            <a:r>
              <a:t>Source, checked 2026-09-15: https://help.gamma.app/en/articles/7838093-how-do-i-create-a-new-presentation-document-or-webpage-in-gamma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Практика 20 минут. practice-requests.xlsx файлында 300 оқу жазбасы бар. Жолдар мен бірегей ID бөлек есептеледі. Бұл үлкен деректер технологиясының мысалы емес, қолмен қарауға уақыт кететін кесте.</a:t>
            </a:r>
          </a:p>
          <a:p xmlns:a="http://schemas.openxmlformats.org/drawingml/2006/main">
            <a:r>
              <a:t/>
            </a:r>
          </a:p>
          <a:p xmlns:a="http://schemas.openxmlformats.org/drawingml/2006/main">
            <a:r>
              <a:t>Материалдар: сценарийлік жоспар және сұраулар кітапханасы. Аудиторияның негізгі тілі — қазақша. Кеңейтілген практика шамамен 120 минутқа есептелген.</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practice-requests.xlsx файлын ашып, A4:G304 ауқымын көшіріп, сұраудан кейін енгізіңіз. Барлық жолды есептеуді сұраңыз. Скриншотта деректердің мәтінмен енгізілуі көрсетілген.</a:t>
            </a:r>
          </a:p>
          <a:p xmlns:a="http://schemas.openxmlformats.org/drawingml/2006/main">
            <a:r>
              <a:t/>
            </a:r>
          </a:p>
          <a:p xmlns:a="http://schemas.openxmlformats.org/drawingml/2006/main">
            <a:r>
              <a:t>Материалдар: сценарийлік жоспар және сұраулар кітапханасы. Аудиторияның негізгі тілі — қазақша. Кеңейтілген практика шамамен 120 минутқа есептелген.</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Төмендегі Excel кестесінен көшірілген деректерді талда. Бұл ойдан құрастырылған оқу деректері, есеп күні — 15.09.2026. Бірінші жолда баған атаулары берілген. Алғашқы жолдарға қарап болжама, файлдағы барлық жолды есепте. Мынаны көрсет: 1) жол саны және бірегей ID саны; 2) әр мәртебе бойынша саны; 3) мерзімі өткен жолдар: мәртебесі «Закрыта» емес, мерзімі 15.09.2026 күнінен ерте; 4) қайталанатын ID және жауапты адамы бос жолдар саны. Қайталанған жолдарды өз бетіңше өшірме. Нәтижені қысқа кестемен бер, есептеу ережесін түсіндір және басшыға 3 қорытынды жаз. Файл қолжетімсіз болса, ашық айт және сандарды ойдан шығарма. Қазақша жауап бер.</a:t>
            </a:r>
          </a:p>
          <a:p xmlns:a="http://schemas.openxmlformats.org/drawingml/2006/main">
            <a:r>
              <a:t/>
            </a:r>
          </a:p>
          <a:p xmlns:a="http://schemas.openxmlformats.org/drawingml/2006/main">
            <a:r>
              <a:t>Материалдар: сценарийлік жоспар және сұраулар кітапханасы. Аудиторияның негізгі тілі — қазақша. Кеңейтілген практика шамамен 120 минутқа есептелген.</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Бұл — мәтін ретінде енгізілген 300 жолға Gemini берген нақты жауап. Келесі слайдтағы бақылау сандарымен салыстырыңыз.</a:t>
            </a:r>
          </a:p>
          <a:p xmlns:a="http://schemas.openxmlformats.org/drawingml/2006/main">
            <a:r>
              <a:t/>
            </a:r>
          </a:p>
          <a:p xmlns:a="http://schemas.openxmlformats.org/drawingml/2006/main">
            <a:r>
              <a:t>Материалдар: сценарийлік жоспар және сұраулар кітапханасы. Аудиторияның негізгі тілі — қазақша. Кеңейтілген практика шамамен 120 минутқа есептелген.</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Бақылау бастапқы жолдар бойынша бөлек есептелді. Есеп күні 15.09.2026. Мерзімі осы күннен ерте және мәртебесі Закрыта емес жолдар алынды. Қайталанған ID өрістері әртүрлі, оларды автоматты өшіруге болмайды.</a:t>
            </a:r>
          </a:p>
          <a:p xmlns:a="http://schemas.openxmlformats.org/drawingml/2006/main">
            <a:r>
              <a:t/>
            </a:r>
          </a:p>
          <a:p xmlns:a="http://schemas.openxmlformats.org/drawingml/2006/main">
            <a:r>
              <a:t>Материалдар: сценарийлік жоспар және сұраулар кітапханасы. Аудиторияның негізгі тілі — қазақша. Кеңейтілген практика шамамен 120 минутқа есептелген.</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Нақты жауапта Gemini мерзім мәселесін ауыр деп бағалады. Бір оқу кестесі сандарды тексеруге жеткілікті, бірақ себептерді не бұрынғы тиімділікті дәлелдемейді. Мерзімнің өтуі мен ID қайталануының себебін нақтылаңыз.</a:t>
            </a:r>
          </a:p>
          <a:p xmlns:a="http://schemas.openxmlformats.org/drawingml/2006/main">
            <a:r>
              <a:t/>
            </a:r>
          </a:p>
          <a:p xmlns:a="http://schemas.openxmlformats.org/drawingml/2006/main">
            <a:r>
              <a:t>Материалдар: сценарийлік жоспар және сұраулар кітапханасы. Аудиторияның негізгі тілі — қазақша. Кеңейтілген практика шамамен 120 минутқа есептелген.</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Практика 15 минут. practice-meeting.docx файлын қолданыңыз. Қабылданған тапсырма мен талқыланған ұсынысты ажыратамыз.</a:t>
            </a:r>
          </a:p>
          <a:p xmlns:a="http://schemas.openxmlformats.org/drawingml/2006/main">
            <a:r>
              <a:t/>
            </a:r>
          </a:p>
          <a:p xmlns:a="http://schemas.openxmlformats.org/drawingml/2006/main">
            <a:r>
              <a:t>Материалдар: сценарийлік жоспар және сұраулар кітапханасы. Аудиторияның негізгі тілі — қазақша. Кеңейтілген практика шамамен 120 минутқа есептелген.</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practice-meeting.docx мәтінін толық көшіріп, сұраудан кейін енгізіңіз. Келесі слайдта осы тәсілмен алынған нақты Gemini жауабы көрсетілген.</a:t>
            </a:r>
          </a:p>
          <a:p xmlns:a="http://schemas.openxmlformats.org/drawingml/2006/main">
            <a:r>
              <a:t>Төменде толық берілген Word хаттамасының мәтінін оқы. Кесте жаса: тапсырма, жауапты адам, мерзім. Тек қабылданған тапсырмаларды енгіз. Жауапты адам немесе мерзім көрсетілмесе, «көрсетілмеген» деп жаз. Талқыланған, бірақ қабылданбаған ұсыныстарды бөлек көрсет. Одан кейін келесі дайындықты тексеруге дейін нені нақтылау қажет екенін әріптестерге қысқа хабарлама ретінде жаз. Күндерді сақта, шешімдерді ойдан қоспа. Файл қолжетімсіз болса, соны айт. Қазақша жауап бер.</a:t>
            </a:r>
          </a:p>
          <a:p xmlns:a="http://schemas.openxmlformats.org/drawingml/2006/main">
            <a:r>
              <a:t/>
            </a:r>
          </a:p>
          <a:p xmlns:a="http://schemas.openxmlformats.org/drawingml/2006/main">
            <a:r>
              <a:t>Материалдар: сценарийлік жоспар және сұраулар кітапханасы. Аудиторияның негізгі тілі — қазақша. Кеңейтілген практика шамамен 120 минутқа есептелген.</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Word мәтініне берілген нақты Gemini жауабы. Алғашқы жауаптан кейін бес жолды, есімдер мен мерзімдерді сақтап, мәтінді қысқарту сұралды. Қазақша нұсқа үшін аударма сұралды. Екі жетіспейтін өрісті табыңыз.</a:t>
            </a:r>
          </a:p>
          <a:p xmlns:a="http://schemas.openxmlformats.org/drawingml/2006/main">
            <a:r>
              <a:t/>
            </a:r>
          </a:p>
          <a:p xmlns:a="http://schemas.openxmlformats.org/drawingml/2006/main">
            <a:r>
              <a:t>Материалдар: сценарийлік жоспар және сұраулар кітапханасы. Аудиторияның негізгі тілі — қазақша. Кеңейтілген практика шамамен 120 минутқа есептелген.</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Қабылданған бес тапсырма: Әлия — бағдарлама 18 қыркүйекке дейін, Тимур — проектор мен дыбыс 21 қыркүйекке дейін, Дана — қатысуды растау 17 қыркүйекке дейін, зал — 16 қыркүйекке дейін, жауаптысы жоқ, Марат — кеңсе заттарының тізімі, мерзімі жоқ. Кофе-брейк бекітілмеген.</a:t>
            </a:r>
          </a:p>
          <a:p xmlns:a="http://schemas.openxmlformats.org/drawingml/2006/main">
            <a:r>
              <a:t/>
            </a:r>
          </a:p>
          <a:p xmlns:a="http://schemas.openxmlformats.org/drawingml/2006/main">
            <a:r>
              <a:t>Материалдар: сценарийлік жоспар және сұраулар кітапханасы. Аудиторияның негізгі тілі — қазақша. Кеңейтілген практика шамамен 120 минутқа есептелген.</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120–135 минуттық бөлім. Сұрауға 5 минут, нақтылау мен тексеруге 5 минут, жұпта талқылауға 5 минут. Әркім кемінде бір рет өзі орындайды.</a:t>
            </a:r>
          </a:p>
          <a:p xmlns:a="http://schemas.openxmlformats.org/drawingml/2006/main">
            <a:r>
              <a:t/>
            </a:r>
          </a:p>
          <a:p xmlns:a="http://schemas.openxmlformats.org/drawingml/2006/main">
            <a:r>
              <a:t>Материалдар: сценарийлік жоспар және сұраулар кітапханасы. Аудиторияның негізгі тілі — қазақша. Кеңейтілген практика шамамен 120 минутқа есептелген.</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Ұзақ үлгіні жаттау қажет емес. Төрт өрісті көрсетіңіз. Қиын болса, кітапхананың 30-карточкасын қолданыңыз.</a:t>
            </a:r>
          </a:p>
          <a:p xmlns:a="http://schemas.openxmlformats.org/drawingml/2006/main">
            <a:r>
              <a:t/>
            </a:r>
          </a:p>
          <a:p xmlns:a="http://schemas.openxmlformats.org/drawingml/2006/main">
            <a:r>
              <a:t>Материалдар: сценарийлік жоспар және сұраулар кітапханасы. Аудиторияның негізгі тілі — қазақша. Кеңейтілген практика шамамен 120 минутқа есептелген.</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Біреуі нәтижесін көрсетеді, екіншісі сұрақ қояды. Екі минуттан соң ауысыңыз. Нақты тексерілген деректі көрсетуін сұраңыз.</a:t>
            </a:r>
          </a:p>
          <a:p xmlns:a="http://schemas.openxmlformats.org/drawingml/2006/main">
            <a:r>
              <a:t/>
            </a:r>
          </a:p>
          <a:p xmlns:a="http://schemas.openxmlformats.org/drawingml/2006/main">
            <a:r>
              <a:t>Материалдар: сценарийлік жоспар және сұраулар кітапханасы. Аудиторияның негізгі тілі — қазақша. Кеңейтілген практика шамамен 120 минутқа есептелген.</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Мүмкіндіктердің бір бөлігі ұқсас. Бұл сапа рейтингі емес, өзіңіз сынап көруге арналған бағыт. Қолжетімділік аккаунтқа, өңірге және тарифке тәуелді.</a:t>
            </a:r>
          </a:p>
          <a:p xmlns:a="http://schemas.openxmlformats.org/drawingml/2006/main">
            <a:r>
              <a:t/>
            </a:r>
          </a:p>
          <a:p xmlns:a="http://schemas.openxmlformats.org/drawingml/2006/main">
            <a:r>
              <a:t>135–155 минут: мүмкіндіктер, жазылымдар және кітапханадағы жаңа жолдар. Сайт пен балаға арналған толық практиканы шеберлік сабағынан кейін орындауға болады.</a:t>
            </a:r>
          </a:p>
          <a:p xmlns:a="http://schemas.openxmlformats.org/drawingml/2006/main">
            <a:r>
              <a:t>Source, checked 2026-09-15: https://learn.chatgpt.com/docs/use-chatgpt</a:t>
            </a:r>
          </a:p>
          <a:p xmlns:a="http://schemas.openxmlformats.org/drawingml/2006/main">
            <a:r>
              <a:t>Source, checked 2026-09-15: https://one.google.com/about/google-ai-plans/</a:t>
            </a:r>
          </a:p>
          <a:p xmlns:a="http://schemas.openxmlformats.org/drawingml/2006/main">
            <a:r>
              <a:t>Source, checked 2026-09-15: https://docs.x.ai/grok/overview</a:t>
            </a:r>
          </a:p>
          <a:p xmlns:a="http://schemas.openxmlformats.org/drawingml/2006/main">
            <a:r>
              <a:t>Source, checked 2026-09-15: https://www.perplexity.ai/help-center/en/articles/11187416-which-perplexity-subscription-plan-is-right-for-you</a:t>
            </a:r>
          </a:p>
          <a:p xmlns:a="http://schemas.openxmlformats.org/drawingml/2006/main">
            <a:r>
              <a:t>Source, checked 2026-09-15: https://gamma.app/pricing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Бұл ашық беттердегі USD бағдары, жергілікті ұсыныс немесе толық тариф тізімі емес. ChatGPT Pro айына $100 бастап бар; Google-да AI Ultra бар. Алдымен өз міндетіңізді тегін нұсқада тексеріңіз. Лимит тұрақты хабар санына тең емес.</a:t>
            </a:r>
          </a:p>
          <a:p xmlns:a="http://schemas.openxmlformats.org/drawingml/2006/main">
            <a:r>
              <a:t/>
            </a:r>
          </a:p>
          <a:p xmlns:a="http://schemas.openxmlformats.org/drawingml/2006/main">
            <a:r>
              <a:t>135–155 минут: мүмкіндіктер, жазылымдар және кітапханадағы жаңа жолдар. Сайт пен балаға арналған толық практиканы шеберлік сабағынан кейін орындауға болады.</a:t>
            </a:r>
          </a:p>
          <a:p xmlns:a="http://schemas.openxmlformats.org/drawingml/2006/main">
            <a:r>
              <a:t>Source, checked 2026-09-15: https://learn.chatgpt.com/docs/pricing</a:t>
            </a:r>
          </a:p>
          <a:p xmlns:a="http://schemas.openxmlformats.org/drawingml/2006/main">
            <a:r>
              <a:t>Source, checked 2026-09-15: https://one.google.com/about/plans?hl=en_CA</a:t>
            </a:r>
          </a:p>
          <a:p xmlns:a="http://schemas.openxmlformats.org/drawingml/2006/main">
            <a:r>
              <a:t>Source, checked 2026-09-15: https://support.google.com/gemini/answer/16275805?hl=en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Perplexity Pro іздеу мен файлға көбірек мүмкіндік береді. Grok-тің лимиті жоғары ақылы жоспарлары, соның ішінде айына $100 SuperGrok Plus бар. Нақты лимиттерді сабақ алдында тексеріңіз. Бір сервистің жазылымы басқалардағы жеке жазылымды қоспайды.</a:t>
            </a:r>
          </a:p>
          <a:p xmlns:a="http://schemas.openxmlformats.org/drawingml/2006/main">
            <a:r>
              <a:t/>
            </a:r>
          </a:p>
          <a:p xmlns:a="http://schemas.openxmlformats.org/drawingml/2006/main">
            <a:r>
              <a:t>135–155 минут: мүмкіндіктер, жазылымдар және кітапханадағы жаңа жолдар. Сайт пен балаға арналған толық практиканы шеберлік сабағынан кейін орындауға болады.</a:t>
            </a:r>
          </a:p>
          <a:p xmlns:a="http://schemas.openxmlformats.org/drawingml/2006/main">
            <a:r>
              <a:t>Source, checked 2026-09-15: https://www.perplexity.ai/hub</a:t>
            </a:r>
          </a:p>
          <a:p xmlns:a="http://schemas.openxmlformats.org/drawingml/2006/main">
            <a:r>
              <a:t>Source, checked 2026-09-15: https://www.perplexity.ai/help-center/en/articles/11187416-which-perplexity-subscription-plan-is-right-for-you</a:t>
            </a:r>
          </a:p>
          <a:p xmlns:a="http://schemas.openxmlformats.org/drawingml/2006/main">
            <a:r>
              <a:t>Source, checked 2026-09-15: https://x.ai/pricing</a:t>
            </a:r>
          </a:p>
          <a:p xmlns:a="http://schemas.openxmlformats.org/drawingml/2006/main">
            <a:r>
              <a:t>Source, checked 2026-09-15: https://docs.x.ai/grok/faq</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Кредиттер ЖИ әрекеттеріне жұмсалады. Free бастапқы кредиттерді автоматты толықтырмайды. Ақылы жоспарларда ай сайын кредит беріледі. Ресми беттің қолжетімді мәтінінен нақты құн расталмады; аккаунтыңызда Pricing ашып, ай не жыл таңдап, төлемге дейін соманы қараңыз. Ақылы жоспардағы бір сұрауға слайд саны тілдік беттерде әртүрлі, сондықтан мұнда бекітілмейді.</a:t>
            </a:r>
          </a:p>
          <a:p xmlns:a="http://schemas.openxmlformats.org/drawingml/2006/main">
            <a:r>
              <a:t/>
            </a:r>
          </a:p>
          <a:p xmlns:a="http://schemas.openxmlformats.org/drawingml/2006/main">
            <a:r>
              <a:t>135–155 минут: мүмкіндіктер, жазылымдар және кітапханадағы жаңа жолдар. Сайт пен балаға арналған толық практиканы шеберлік сабағынан кейін орындауға болады.</a:t>
            </a:r>
          </a:p>
          <a:p xmlns:a="http://schemas.openxmlformats.org/drawingml/2006/main">
            <a:r>
              <a:t>Source, checked 2026-09-15: https://gamma.app/pricing</a:t>
            </a:r>
          </a:p>
          <a:p xmlns:a="http://schemas.openxmlformats.org/drawingml/2006/main">
            <a:r>
              <a:t>Source, checked 2026-09-15: https://help.gamma.app/en/articles/8077107-how-can-i-upgrade-my-gamma-subscription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Мысал 15.09.2026 ашық бетіндегі Perplexity Pro тарифіне қатысты. Есеп: 20×12=240; 200÷12≈16,67; 240−200=40. Айлық балама жылдық жазылымда ай сайын төленеді дегенді білдірмейді. Салық пен жергілікті қорытынды сома аккаунтта тексеріледі.</a:t>
            </a:r>
          </a:p>
          <a:p xmlns:a="http://schemas.openxmlformats.org/drawingml/2006/main">
            <a:r>
              <a:t/>
            </a:r>
          </a:p>
          <a:p xmlns:a="http://schemas.openxmlformats.org/drawingml/2006/main">
            <a:r>
              <a:t>135–155 минут: мүмкіндіктер, жазылымдар және кітапханадағы жаңа жолдар. Сайт пен балаға арналған толық практиканы шеберлік сабағынан кейін орындауға болады.</a:t>
            </a:r>
          </a:p>
          <a:p xmlns:a="http://schemas.openxmlformats.org/drawingml/2006/main">
            <a:r>
              <a:t>Source, checked 2026-09-15: https://www.perplexity.ai/hub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Қатысушыдан үш міндеті мен қолдану жиілігін сұраңыз. Тегін нұсқа жеткілікті болса, төлем қажет емес. Лимит жиі кедергі болса, нақты ақылы мүмкіндіктерді салыстырып, бір айдан бастауға болады. Жазылым рәсімделген жерде басқарылады: сайтта не қосымша дүкенінде. Қатысушы үшін төлем жасамаңыз.</a:t>
            </a:r>
          </a:p>
          <a:p xmlns:a="http://schemas.openxmlformats.org/drawingml/2006/main">
            <a:r>
              <a:t/>
            </a:r>
          </a:p>
          <a:p xmlns:a="http://schemas.openxmlformats.org/drawingml/2006/main">
            <a:r>
              <a:t>135–155 минут: мүмкіндіктер, жазылымдар және кітапханадағы жаңа жолдар. Сайт пен балаға арналған толық практиканы шеберлік сабағынан кейін орындауға болады.</a:t>
            </a:r>
          </a:p>
          <a:p xmlns:a="http://schemas.openxmlformats.org/drawingml/2006/main">
            <a:r>
              <a:t>Source, checked 2026-09-15: https://docs.x.ai/grok/faq</a:t>
            </a:r>
          </a:p>
          <a:p xmlns:a="http://schemas.openxmlformats.org/drawingml/2006/main">
            <a:r>
              <a:t>Source, checked 2026-09-15: https://www.perplexity.ai/help-center/en/articles/11187416-which-perplexity-subscription-plan-is-right-for-you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[Кімге] арналған [тақырып] туралы қарапайым сайтты [тіл] тілінде жаса. Тек мына мәліметтерді қолдан: [ашық мәліметтер]. Тақырып, сипаттама, үш бөлім және мен көрсетсем байланыс деректері керек. Мәтіні ірі, телефонда ыңғайлы болсын. Тіркелу, төлем және дерек жинау болмасын. Сыртқы кітапханасыз бір index.html файлын дайында. Файл бере алмасаң, толық кодын және сақтау жолын көрсет.</a:t>
            </a:r>
          </a:p>
          <a:p xmlns:a="http://schemas.openxmlformats.org/drawingml/2006/main">
            <a:r>
              <a:t>Толық жол мен төрт сұрау кітапхананың «Сайтты қалай жасауға болады» бөлімінде. Компьютерде толық кодты Блокнотта index.html, Барлық файл, UTF-8 түрінде сақтап, браузерде ашыңыз. Canvas-та алдын ала қарауды қолданыңыз. Жариялау үшін ашық деректер мен қолжетімділікті бөлек тексеріңіз.</a:t>
            </a:r>
          </a:p>
          <a:p xmlns:a="http://schemas.openxmlformats.org/drawingml/2006/main">
            <a:r>
              <a:t/>
            </a:r>
          </a:p>
          <a:p xmlns:a="http://schemas.openxmlformats.org/drawingml/2006/main">
            <a:r>
              <a:t>135–155 минут: мүмкіндіктер, жазылымдар және кітапханадағы жаңа жолдар. Сайт пен балаға арналған толық практиканы шеберлік сабағынан кейін орындауға болады.</a:t>
            </a:r>
          </a:p>
          <a:p xmlns:a="http://schemas.openxmlformats.org/drawingml/2006/main">
            <a:r>
              <a:t>Source, checked 2026-09-15: https://learn.chatgpt.com/docs/use-chatgpt</a:t>
            </a:r>
          </a:p>
          <a:p xmlns:a="http://schemas.openxmlformats.org/drawingml/2006/main">
            <a:r>
              <a:t>Source, checked 2026-09-15: https://support.google.com/gemini/answer/16047321?hl=en-166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[Сынып] үшін [тақырып] бойынша тек [ережелер] аясында 30 жаңа тапсырма жаса. Әрқайсысы 10 тапсырмадан үш деңгей: негізгі, орташа, күрделірек. Сандары мен оқиғалары әртүрлі болсын, кей мысалдар [қызығушылық] туралы болсын. Алдымен жауапсыз алғашқы 10 тапсырманы ғана беріп, жалғастыру пәрменін күт. Ата-анаға шешу жолы бар жауаптарды бөлек дайында. Екіұшты шарт пен қайталау болмасын.</a:t>
            </a:r>
          </a:p>
          <a:p xmlns:a="http://schemas.openxmlformats.org/drawingml/2006/main">
            <a:r>
              <a:t>Материалды ересек дайындап тексереді; бала қағазда не ересекпен бірге орындайды. Осы жаттығулар үшін балаға жеке аккаунт қажет емес. Байқалған қатеден бастап, бір ойды түсіндіріп, ұқсас мысал мен қысқа практика беріңіз. Жауап кілтін сабаққа дейін тексеріңіз. Кітапханада сегіз сұрау және көбейтуге дайын тексерілген шағын мысал бар.</a:t>
            </a:r>
          </a:p>
          <a:p xmlns:a="http://schemas.openxmlformats.org/drawingml/2006/main">
            <a:r>
              <a:t/>
            </a:r>
          </a:p>
          <a:p xmlns:a="http://schemas.openxmlformats.org/drawingml/2006/main">
            <a:r>
              <a:t>135–155 минут: мүмкіндіктер, жазылымдар және кітапханадағы жаңа жолдар. Сайт пен балаға арналған толық практиканы шеберлік сабағынан кейін орындауға болады.</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155–120 минут. Кітапханада әр тілде 60 сценарий, жазылым салыстыруы, сайт жасау жолы және балаға көмек бар. Тіл таңдалатын бір HTML-файл. Браузерде ашылады; ЖИ сервистеріне интернет қажет.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Соңғы 5 минут. Қатысушы ертеңге бір міндет таңдайды. Материалдар файл түрінде беріледі. Кейінгі вебинардың күні, платформасы мен ұзақтығы әлі расталмаған; ойдан дерек не QR-код көрсетпеңіз.</a:t>
            </a:r>
          </a:p>
          <a:p xmlns:a="http://schemas.openxmlformats.org/drawingml/2006/main">
            <a:r>
              <a:t/>
            </a:r>
          </a:p>
          <a:p xmlns:a="http://schemas.openxmlformats.org/drawingml/2006/main">
            <a:r>
              <a:t>Материалдар: сценарийлік жоспар және сұраулар кітапханасы. Аудиторияның негізгі тілі — қазақша. Кеңейтілген практика шамамен 120 минутқа есептелген.</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Қазақ және орыс тілдеріндегі материалдар сайты. Тіркелу қажет емес. PDF және PowerPoint презентациялары, бағдарлама, сұраулар кітапханасы, Excel және Word оқу файлдары. Telegram: https://t.me/aimasterclassz. QR-код сайттың тұрақты мекенжайына апарады: https://nursultannurmukhamet.github.io/ai-masterclass-materials/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6b42b67308465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2592b45e234f96" /><Relationship Type="http://schemas.openxmlformats.org/officeDocument/2006/relationships/slideLayout" Target="/ppt/slideLayouts/slideLayout1.xml" Id="Radfc57190d3547e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fc57190d3547e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ce356170e21487f" /><Relationship Type="http://schemas.openxmlformats.org/officeDocument/2006/relationships/image" Target="/ppt/media/image.png" Id="R4794d9dcce8c458b" /><Relationship Type="http://schemas.openxmlformats.org/officeDocument/2006/relationships/notesSlide" Target="/ppt/notesSlides/notesSlide1.xml" Id="R77f932ab1b314a7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3d8fb132d75418e" /><Relationship Type="http://schemas.openxmlformats.org/officeDocument/2006/relationships/image" Target="/ppt/media/image.jpeg" Id="R8016477e58a64e28" /><Relationship Type="http://schemas.openxmlformats.org/officeDocument/2006/relationships/notesSlide" Target="/ppt/notesSlides/notesSlide2.xml" Id="R2c3b340d96fd496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b2a3be3937a45fc" /><Relationship Type="http://schemas.openxmlformats.org/officeDocument/2006/relationships/notesSlide" Target="/ppt/notesSlides/notesSlide3.xml" Id="Rd56b84e860154e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56645ac5f4745c3" /><Relationship Type="http://schemas.openxmlformats.org/officeDocument/2006/relationships/notesSlide" Target="/ppt/notesSlides/notesSlide4.xml" Id="Re7b7dd13248a467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9ad5e9d84d147bc" /><Relationship Type="http://schemas.openxmlformats.org/officeDocument/2006/relationships/image" Target="/ppt/media/image2.jpeg" Id="R63efa771bfee4fc8" /><Relationship Type="http://schemas.openxmlformats.org/officeDocument/2006/relationships/notesSlide" Target="/ppt/notesSlides/notesSlide5.xml" Id="R608b923e5e304a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05b9c2997f74994" /><Relationship Type="http://schemas.openxmlformats.org/officeDocument/2006/relationships/image" Target="/ppt/media/image3.jpeg" Id="Re7840d9e2f994609" /><Relationship Type="http://schemas.openxmlformats.org/officeDocument/2006/relationships/notesSlide" Target="/ppt/notesSlides/notesSlide6.xml" Id="R24e8b839d03c428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ab8ad6115ab493b" /><Relationship Type="http://schemas.openxmlformats.org/officeDocument/2006/relationships/image" Target="/ppt/media/image4.jpeg" Id="Rb4c693bf59e0482c" /><Relationship Type="http://schemas.openxmlformats.org/officeDocument/2006/relationships/notesSlide" Target="/ppt/notesSlides/notesSlide7.xml" Id="Rc4c3f0774b97400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51050401a42429c" /><Relationship Type="http://schemas.openxmlformats.org/officeDocument/2006/relationships/notesSlide" Target="/ppt/notesSlides/notesSlide8.xml" Id="Rd957cbd1f0bc4bf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3ce2af75bd143bd" /><Relationship Type="http://schemas.openxmlformats.org/officeDocument/2006/relationships/image" Target="/ppt/media/image5.jpeg" Id="R6edfb651f99b4e5f" /><Relationship Type="http://schemas.openxmlformats.org/officeDocument/2006/relationships/notesSlide" Target="/ppt/notesSlides/notesSlide9.xml" Id="R74df7dcf600e481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42eaa1cb3be4a5c" /><Relationship Type="http://schemas.openxmlformats.org/officeDocument/2006/relationships/notesSlide" Target="/ppt/notesSlides/notesSlide10.xml" Id="R3eb243295b6a4b1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2b895705a8a4404" /><Relationship Type="http://schemas.openxmlformats.org/officeDocument/2006/relationships/image" Target="/ppt/media/image6.jpeg" Id="R8018c01e0d17401f" /><Relationship Type="http://schemas.openxmlformats.org/officeDocument/2006/relationships/notesSlide" Target="/ppt/notesSlides/notesSlide11.xml" Id="R1c00c3b8b112478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19b358244d04775" /><Relationship Type="http://schemas.openxmlformats.org/officeDocument/2006/relationships/notesSlide" Target="/ppt/notesSlides/notesSlide12.xml" Id="R5cc466c107e043e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18cfd79ab7e4c00" /><Relationship Type="http://schemas.openxmlformats.org/officeDocument/2006/relationships/notesSlide" Target="/ppt/notesSlides/notesSlide13.xml" Id="R9ddd0277f99b435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651a35981be42f1" /><Relationship Type="http://schemas.openxmlformats.org/officeDocument/2006/relationships/notesSlide" Target="/ppt/notesSlides/notesSlide14.xml" Id="Rb3ba3b2c9b5f431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f5e39ebb3b943f2" /><Relationship Type="http://schemas.openxmlformats.org/officeDocument/2006/relationships/notesSlide" Target="/ppt/notesSlides/notesSlide15.xml" Id="R30d8e70c5a8d447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51131936d1249d0" /><Relationship Type="http://schemas.openxmlformats.org/officeDocument/2006/relationships/image" Target="/ppt/media/image2.png" Id="Rd9865a5cf4b145a7" /><Relationship Type="http://schemas.openxmlformats.org/officeDocument/2006/relationships/notesSlide" Target="/ppt/notesSlides/notesSlide16.xml" Id="R82e78a8750224ab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b207fa168c844ba" /><Relationship Type="http://schemas.openxmlformats.org/officeDocument/2006/relationships/notesSlide" Target="/ppt/notesSlides/notesSlide17.xml" Id="R75d3a530e5054f4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bec612f83544185" /><Relationship Type="http://schemas.openxmlformats.org/officeDocument/2006/relationships/notesSlide" Target="/ppt/notesSlides/notesSlide18.xml" Id="Ra6106be597f4449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5c5e5f698d249d5" /><Relationship Type="http://schemas.openxmlformats.org/officeDocument/2006/relationships/notesSlide" Target="/ppt/notesSlides/notesSlide19.xml" Id="R1df300dc2aef498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a482e822a5a4e86" /><Relationship Type="http://schemas.openxmlformats.org/officeDocument/2006/relationships/notesSlide" Target="/ppt/notesSlides/notesSlide20.xml" Id="R27f5dc34454044f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c8225782d0b4282" /><Relationship Type="http://schemas.openxmlformats.org/officeDocument/2006/relationships/notesSlide" Target="/ppt/notesSlides/notesSlide21.xml" Id="R8090806fcf9a4cb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0253b3478cf498e" /><Relationship Type="http://schemas.openxmlformats.org/officeDocument/2006/relationships/notesSlide" Target="/ppt/notesSlides/notesSlide22.xml" Id="Rd544c70182cd4ef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fae99b1ffa24810" /><Relationship Type="http://schemas.openxmlformats.org/officeDocument/2006/relationships/notesSlide" Target="/ppt/notesSlides/notesSlide23.xml" Id="Rdca9cd3140a14a4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2ed2d1e1baf4897" /><Relationship Type="http://schemas.openxmlformats.org/officeDocument/2006/relationships/image" Target="/ppt/media/image3.png" Id="R40a6feae21dd403f" /><Relationship Type="http://schemas.openxmlformats.org/officeDocument/2006/relationships/notesSlide" Target="/ppt/notesSlides/notesSlide24.xml" Id="R762d6a89a88542b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f106fdb75174028" /><Relationship Type="http://schemas.openxmlformats.org/officeDocument/2006/relationships/image" Target="/ppt/media/image4.png" Id="R5656be93014b4f01" /><Relationship Type="http://schemas.openxmlformats.org/officeDocument/2006/relationships/image" Target="/ppt/media/image5.png" Id="R5c8b1c34bab64678" /><Relationship Type="http://schemas.openxmlformats.org/officeDocument/2006/relationships/notesSlide" Target="/ppt/notesSlides/notesSlide25.xml" Id="R4ecb215aa56646d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c86db931518449f" /><Relationship Type="http://schemas.openxmlformats.org/officeDocument/2006/relationships/notesSlide" Target="/ppt/notesSlides/notesSlide26.xml" Id="R05739502b60345c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e874de5fe4f43b2" /><Relationship Type="http://schemas.openxmlformats.org/officeDocument/2006/relationships/image" Target="/ppt/media/image6.png" Id="R40e0d0cef3f74288" /><Relationship Type="http://schemas.openxmlformats.org/officeDocument/2006/relationships/notesSlide" Target="/ppt/notesSlides/notesSlide27.xml" Id="R9662bf2685d0433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5cbece8b9bf4418" /><Relationship Type="http://schemas.openxmlformats.org/officeDocument/2006/relationships/image" Target="/ppt/media/image7.png" Id="Rd14c65b1a8864105" /><Relationship Type="http://schemas.openxmlformats.org/officeDocument/2006/relationships/notesSlide" Target="/ppt/notesSlides/notesSlide28.xml" Id="R25f0685295c3498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af9c3d1b8be4348" /><Relationship Type="http://schemas.openxmlformats.org/officeDocument/2006/relationships/notesSlide" Target="/ppt/notesSlides/notesSlide29.xml" Id="R99b631c777de4d1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c2151b5d4ba747d4" /><Relationship Type="http://schemas.openxmlformats.org/officeDocument/2006/relationships/image" Target="/ppt/media/image7.jpeg" Id="R564a893ee3f3444b" /><Relationship Type="http://schemas.openxmlformats.org/officeDocument/2006/relationships/notesSlide" Target="/ppt/notesSlides/notesSlide30.xml" Id="Rbc25df042a1b40f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ecb54892fb964c0d" /><Relationship Type="http://schemas.openxmlformats.org/officeDocument/2006/relationships/notesSlide" Target="/ppt/notesSlides/notesSlide31.xml" Id="R68970d7d804c42e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28389563c7a5469b" /><Relationship Type="http://schemas.openxmlformats.org/officeDocument/2006/relationships/notesSlide" Target="/ppt/notesSlides/notesSlide32.xml" Id="Rb01b3b0cb95b479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ca89061ee36a4d64" /><Relationship Type="http://schemas.openxmlformats.org/officeDocument/2006/relationships/image" Target="/ppt/media/image8.png" Id="Rca9a3719097c45fa" /><Relationship Type="http://schemas.openxmlformats.org/officeDocument/2006/relationships/notesSlide" Target="/ppt/notesSlides/notesSlide33.xml" Id="R2fdd050bdba84aa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349b79ebb2464dd5" /><Relationship Type="http://schemas.openxmlformats.org/officeDocument/2006/relationships/notesSlide" Target="/ppt/notesSlides/notesSlide34.xml" Id="Rfbce0d4b2764490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b47107d558af4fca" /><Relationship Type="http://schemas.openxmlformats.org/officeDocument/2006/relationships/image" Target="/ppt/media/image8.jpeg" Id="R9cb06bdf33b14511" /><Relationship Type="http://schemas.openxmlformats.org/officeDocument/2006/relationships/notesSlide" Target="/ppt/notesSlides/notesSlide35.xml" Id="R83095ae70f4b49d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a1c93b6e9d024236" /><Relationship Type="http://schemas.openxmlformats.org/officeDocument/2006/relationships/notesSlide" Target="/ppt/notesSlides/notesSlide36.xml" Id="R098d4781935d485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87caa258c31f45d9" /><Relationship Type="http://schemas.openxmlformats.org/officeDocument/2006/relationships/notesSlide" Target="/ppt/notesSlides/notesSlide37.xml" Id="R4cd08082dfdc461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186bbf0a8fcf4afb" /><Relationship Type="http://schemas.openxmlformats.org/officeDocument/2006/relationships/notesSlide" Target="/ppt/notesSlides/notesSlide38.xml" Id="Rf7e07dd04998472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854bd49ff39c40b2" /><Relationship Type="http://schemas.openxmlformats.org/officeDocument/2006/relationships/notesSlide" Target="/ppt/notesSlides/notesSlide39.xml" Id="R226ddb114f9f469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6a82089bd8ad4108" /><Relationship Type="http://schemas.openxmlformats.org/officeDocument/2006/relationships/notesSlide" Target="/ppt/notesSlides/notesSlide40.xml" Id="Rb4effffeb34c40c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6ae06417286e4b26" /><Relationship Type="http://schemas.openxmlformats.org/officeDocument/2006/relationships/notesSlide" Target="/ppt/notesSlides/notesSlide41.xml" Id="R394556bef226498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7c1d180a24c34354" /><Relationship Type="http://schemas.openxmlformats.org/officeDocument/2006/relationships/notesSlide" Target="/ppt/notesSlides/notesSlide42.xml" Id="Rdbcbcd88461e4e64"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69d563ca519742d7" /><Relationship Type="http://schemas.openxmlformats.org/officeDocument/2006/relationships/notesSlide" Target="/ppt/notesSlides/notesSlide43.xml" Id="R62589ea0095c4a9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151c30c4f736454d" /><Relationship Type="http://schemas.openxmlformats.org/officeDocument/2006/relationships/notesSlide" Target="/ppt/notesSlides/notesSlide44.xml" Id="Rda3f39c5ad64431b"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cab7bf1ccad4492c" /><Relationship Type="http://schemas.openxmlformats.org/officeDocument/2006/relationships/notesSlide" Target="/ppt/notesSlides/notesSlide45.xml" Id="Rfbdb9bd4c0834d7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1b9993a6dcfd4ddc" /><Relationship Type="http://schemas.openxmlformats.org/officeDocument/2006/relationships/notesSlide" Target="/ppt/notesSlides/notesSlide46.xml" Id="Rb9b05597da194256"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865130bda7a0420b" /><Relationship Type="http://schemas.openxmlformats.org/officeDocument/2006/relationships/notesSlide" Target="/ppt/notesSlides/notesSlide47.xml" Id="Re2ca3b3767104b72"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b27f5ce3fbdf44a1" /><Relationship Type="http://schemas.openxmlformats.org/officeDocument/2006/relationships/notesSlide" Target="/ppt/notesSlides/notesSlide48.xml" Id="R1242221a9f8c4b22"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895acb1cbf6c418c" /><Relationship Type="http://schemas.openxmlformats.org/officeDocument/2006/relationships/notesSlide" Target="/ppt/notesSlides/notesSlide49.xml" Id="R7b1023c220d14546"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358b1e4b18ca41e7" /><Relationship Type="http://schemas.openxmlformats.org/officeDocument/2006/relationships/image" Target="/ppt/media/image9.png" Id="R0701673e7de64129" /><Relationship Type="http://schemas.openxmlformats.org/officeDocument/2006/relationships/notesSlide" Target="/ppt/notesSlides/notesSlide50.xml" Id="R29f4398afe6848da" /></Relationships>
</file>

<file path=ppt/slides/slide1.xml><?xml version="1.0" encoding="utf-8"?>
<p:sld xmlns:p="http://schemas.openxmlformats.org/presentationml/2006/main">
  <p:cSld>
    <p:bg>
      <p:bgPr>
        <a:solidFill xmlns:a="http://schemas.openxmlformats.org/drawingml/2006/main">
          <a:srgbClr val="101624"/>
        </a:solidFill>
      </p:bgPr>
    </p:bg>
    <p:spTree>
      <p:nvGrpSpPr>
        <p:cNvPr id="1" name=""/>
        <p:cNvGrpSpPr/>
        <p:nvPr/>
      </p:nvGrpSpPr>
      <p:grpSpPr>
        <a:xfrm xmlns:a="http://schemas.openxmlformats.org/drawingml/2006/main"/>
      </p:grpSpPr>
      <p:sp>
        <p:nvSpPr>
          <p:cNvPr id="6" name="Text Күнделікті өмірде&#10;және жұмыс">
            <a:extLst xmlns:a="http://schemas.openxmlformats.org/drawingml/2006/main">
              <a:ext uri="{FF2B5EF4-FFF2-40B4-BE49-F238E27FC236}">
                <a16:creationId xmlns:a16="http://schemas.microsoft.com/office/drawing/2014/main" id="{6A308939-E942-487D-A1A7-2832FF1DE7D4}"/>
              </a:ext>
            </a:extLst>
          </p:cNvPr>
          <p:cNvSpPr>
            <a:spLocks xmlns:a="http://schemas.openxmlformats.org/drawingml/2006/main" noGrp="1"/>
          </p:cNvSpPr>
          <p:nvPr/>
        </p:nvSpPr>
        <p:spPr>
          <a:xfrm xmlns:a="http://schemas.openxmlformats.org/drawingml/2006/main">
            <a:off x="609600" y="1304925"/>
            <a:ext cx="69532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650" b="1">
                <a:solidFill>
                  <a:srgbClr val="FFFFFF"/>
                </a:solidFill>
                <a:latin typeface="Arial"/>
                <a:ea typeface="Arial"/>
                <a:cs typeface="Arial"/>
              </a:defRPr>
            </a:pPr>
            <a:r>
              <a:rPr sz="4650" b="1">
                <a:solidFill>
                  <a:srgbClr val="FFFFFF"/>
                </a:solidFill>
                <a:latin typeface="Arial"/>
                <a:ea typeface="Arial"/>
                <a:cs typeface="Arial"/>
              </a:rPr>
              <a:t>Күнделікті өмірге</a:t>
            </a:r>
          </a:p>
          <a:p xmlns:a="http://schemas.openxmlformats.org/drawingml/2006/main">
            <a:pPr>
              <a:buNone/>
              <a:defRPr sz="4650" b="1">
                <a:solidFill>
                  <a:srgbClr val="FFFFFF"/>
                </a:solidFill>
                <a:latin typeface="Arial"/>
                <a:ea typeface="Arial"/>
                <a:cs typeface="Arial"/>
              </a:defRPr>
            </a:pPr>
            <a:r>
              <a:rPr sz="4650" b="1">
                <a:solidFill>
                  <a:srgbClr val="FFFFFF"/>
                </a:solidFill>
                <a:latin typeface="Arial"/>
                <a:ea typeface="Arial"/>
                <a:cs typeface="Arial"/>
              </a:rPr>
              <a:t>және жұмысқа</a:t>
            </a:r>
          </a:p>
          <a:p xmlns:a="http://schemas.openxmlformats.org/drawingml/2006/main">
            <a:pPr>
              <a:buNone/>
              <a:defRPr sz="4650" b="1">
                <a:solidFill>
                  <a:srgbClr val="FFFFFF"/>
                </a:solidFill>
                <a:latin typeface="Arial"/>
                <a:ea typeface="Arial"/>
                <a:cs typeface="Arial"/>
              </a:defRPr>
            </a:pPr>
            <a:r>
              <a:rPr sz="4650" b="1">
                <a:solidFill>
                  <a:srgbClr val="FFFFFF"/>
                </a:solidFill>
                <a:latin typeface="Arial"/>
                <a:ea typeface="Arial"/>
                <a:cs typeface="Arial"/>
              </a:rPr>
              <a:t>арналған ЖИ</a:t>
            </a:r>
          </a:p>
        </p:txBody>
      </p:sp>
      <p:sp>
        <p:nvSpPr>
          <p:cNvPr id="2" name="Text 01">
            <a:extLst xmlns:a="http://schemas.openxmlformats.org/drawingml/2006/main">
              <a:ext uri="{FF2B5EF4-FFF2-40B4-BE49-F238E27FC236}">
                <a16:creationId xmlns:a16="http://schemas.microsoft.com/office/drawing/2014/main" id="{B250A695-65C7-4496-A5CA-64F7E551AF7B}"/>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BDC7D4"/>
                </a:solidFill>
                <a:latin typeface="Arial"/>
                <a:ea typeface="Arial"/>
                <a:cs typeface="Arial"/>
              </a:defRPr>
            </a:pPr>
            <a:r>
              <a:rPr sz="1425" b="0">
                <a:solidFill>
                  <a:srgbClr val="BDC7D4"/>
                </a:solidFill>
                <a:latin typeface="Arial"/>
                <a:ea typeface="Arial"/>
                <a:cs typeface="Arial"/>
              </a:rPr>
              <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794d9dcce8c458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4" name="Text Көрдік. Қайталадық.&#10;Нәтижені">
            <a:extLst xmlns:a="http://schemas.openxmlformats.org/drawingml/2006/main">
              <a:ext uri="{FF2B5EF4-FFF2-40B4-BE49-F238E27FC236}">
                <a16:creationId xmlns:a16="http://schemas.microsoft.com/office/drawing/2014/main" id="{3CA1F23B-D250-4EA8-8496-4F6917F4075E}"/>
              </a:ext>
            </a:extLst>
          </p:cNvPr>
          <p:cNvSpPr>
            <a:spLocks xmlns:a="http://schemas.openxmlformats.org/drawingml/2006/main" noGrp="1"/>
          </p:cNvSpPr>
          <p:nvPr/>
        </p:nvSpPr>
        <p:spPr>
          <a:xfrm xmlns:a="http://schemas.openxmlformats.org/drawingml/2006/main">
            <a:off x="609600" y="4010025"/>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D6F879"/>
                </a:solidFill>
                <a:latin typeface="Arial"/>
                <a:ea typeface="Arial"/>
                <a:cs typeface="Arial"/>
              </a:defRPr>
            </a:pPr>
            <a:r>
              <a:rPr sz="2625" b="1">
                <a:solidFill>
                  <a:srgbClr val="D6F879"/>
                </a:solidFill>
                <a:latin typeface="Arial"/>
                <a:ea typeface="Arial"/>
                <a:cs typeface="Arial"/>
              </a:rPr>
              <a:t>Күнделікті міндеттеріңізге</a:t>
            </a:r>
          </a:p>
          <a:p xmlns:a="http://schemas.openxmlformats.org/drawingml/2006/main">
            <a:pPr>
              <a:buNone/>
              <a:defRPr sz="2625" b="1">
                <a:solidFill>
                  <a:srgbClr val="D6F879"/>
                </a:solidFill>
                <a:latin typeface="Arial"/>
                <a:ea typeface="Arial"/>
                <a:cs typeface="Arial"/>
              </a:defRPr>
            </a:pPr>
            <a:r>
              <a:rPr sz="2625" b="1">
                <a:solidFill>
                  <a:srgbClr val="D6F879"/>
                </a:solidFill>
                <a:latin typeface="Arial"/>
                <a:ea typeface="Arial"/>
                <a:cs typeface="Arial"/>
              </a:rPr>
              <a:t>арналған практика</a:t>
            </a:r>
          </a:p>
        </p:txBody>
      </p:sp>
      <p:sp>
        <p:nvSpPr>
          <p:cNvPr id="5" name="Text Практикалық шеберлік сабағы&#10;">
            <a:extLst xmlns:a="http://schemas.openxmlformats.org/drawingml/2006/main">
              <a:ext uri="{FF2B5EF4-FFF2-40B4-BE49-F238E27FC236}">
                <a16:creationId xmlns:a16="http://schemas.microsoft.com/office/drawing/2014/main" id="{457A5226-A70E-4D6A-B744-B6297E9F1984}"/>
              </a:ext>
            </a:extLst>
          </p:cNvPr>
          <p:cNvSpPr>
            <a:spLocks xmlns:a="http://schemas.openxmlformats.org/drawingml/2006/main" noGrp="1"/>
          </p:cNvSpPr>
          <p:nvPr/>
        </p:nvSpPr>
        <p:spPr>
          <a:xfrm xmlns:a="http://schemas.openxmlformats.org/drawingml/2006/main">
            <a:off x="609600" y="5524500"/>
            <a:ext cx="685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BCC8D7"/>
                </a:solidFill>
                <a:latin typeface="Arial"/>
                <a:ea typeface="Arial"/>
                <a:cs typeface="Arial"/>
              </a:defRPr>
            </a:pPr>
            <a:r>
              <a:rPr sz="1875" b="0">
                <a:solidFill>
                  <a:srgbClr val="BCC8D7"/>
                </a:solidFill>
                <a:latin typeface="Arial"/>
                <a:ea typeface="Arial"/>
                <a:cs typeface="Arial"/>
              </a:rPr>
              <a:t>Шымкент · 21 қыркүйек 2026</a:t>
            </a:r>
          </a:p>
          <a:p xmlns:a="http://schemas.openxmlformats.org/drawingml/2006/main">
            <a:pPr>
              <a:buNone/>
              <a:defRPr sz="1875" b="0">
                <a:solidFill>
                  <a:srgbClr val="BCC8D7"/>
                </a:solidFill>
                <a:latin typeface="Arial"/>
                <a:ea typeface="Arial"/>
                <a:cs typeface="Arial"/>
              </a:defRPr>
            </a:pPr>
            <a:r>
              <a:rPr sz="1875" b="0">
                <a:solidFill>
                  <a:srgbClr val="BCC8D7"/>
                </a:solidFill>
                <a:latin typeface="Arial"/>
                <a:ea typeface="Arial"/>
                <a:cs typeface="Arial"/>
              </a:rPr>
              <a:t>16:00–18:00</a:t>
            </a:r>
          </a:p>
        </p:txBody>
      </p:sp>
      <p:sp>
        <p:nvSpPr>
          <p:cNvPr id="8" name="AI masterclass brand">
            <a:extLst xmlns:a="http://schemas.openxmlformats.org/drawingml/2006/main">
              <a:ext uri="{FF2B5EF4-FFF2-40B4-BE49-F238E27FC236}">
                <a16:creationId xmlns:a16="http://schemas.microsoft.com/office/drawing/2014/main" id="{A2BF985B-49AD-438F-83C4-AC8283638203}"/>
              </a:ext>
            </a:extLst>
          </p:cNvPr>
          <p:cNvSpPr>
            <a:spLocks xmlns:a="http://schemas.openxmlformats.org/drawingml/2006/main" noGrp="1"/>
          </p:cNvSpPr>
          <p:nvPr/>
        </p:nvSpPr>
        <p:spPr>
          <a:xfrm xmlns:a="http://schemas.openxmlformats.org/drawingml/2006/main">
            <a:off x="609600" y="54292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725" b="1">
                <a:solidFill>
                  <a:srgbClr val="D6F879"/>
                </a:solidFill>
                <a:latin typeface="Arial"/>
                <a:ea typeface="Arial"/>
                <a:cs typeface="Arial"/>
              </a:defRPr>
            </a:pPr>
            <a:r>
              <a:rPr sz="1725" b="1">
                <a:solidFill>
                  <a:srgbClr val="D6F879"/>
                </a:solidFill>
                <a:latin typeface="Arial"/>
                <a:ea typeface="Arial"/>
                <a:cs typeface="Arial"/>
              </a:rPr>
              <a:t>AI  /  КҮНДЕ</a:t>
            </a:r>
          </a:p>
        </p:txBody>
      </p:sp>
    </p:spTree>
    <p:extLst>
      <p:ext uri="{BB962C8B-B14F-4D97-AF65-F5344CB8AC3E}">
        <p14:creationId xmlns:p14="http://schemas.microsoft.com/office/powerpoint/2010/main" val="1185592635"/>
      </p:ext>
    </p:extLst>
  </p:cSld>
</p:sld>
</file>

<file path=ppt/slides/slide2.xml><?xml version="1.0" encoding="utf-8"?>
<p:sld xmlns:p="http://schemas.openxmlformats.org/presentationml/2006/main">
  <p:cSld>
    <p:bg>
      <p:bgPr>
        <a:solidFill xmlns:a="http://schemas.openxmlformats.org/drawingml/2006/main">
          <a:srgbClr val="101624"/>
        </a:solidFill>
      </p:bgPr>
    </p:bg>
    <p:spTree>
      <p:nvGrpSpPr>
        <p:cNvPr id="1" name=""/>
        <p:cNvGrpSpPr/>
        <p:nvPr/>
      </p:nvGrpSpPr>
      <p:grpSpPr>
        <a:xfrm xmlns:a="http://schemas.openxmlformats.org/drawingml/2006/main"/>
      </p:grpSpPr>
      <p:sp>
        <p:nvSpPr>
          <p:cNvPr id="9" name="Intro title">
            <a:extLst xmlns:a="http://schemas.openxmlformats.org/drawingml/2006/main">
              <a:ext uri="{FF2B5EF4-FFF2-40B4-BE49-F238E27FC236}">
                <a16:creationId xmlns:a16="http://schemas.microsoft.com/office/drawing/2014/main" id="{D5CD296B-11B1-4879-9439-6A46C10234F1}"/>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F5F6F1"/>
                </a:solidFill>
                <a:latin typeface="Arial"/>
                <a:ea typeface="Arial"/>
                <a:cs typeface="Arial"/>
              </a:defRPr>
            </a:pPr>
            <a:r>
              <a:rPr sz="3225" b="1">
                <a:solidFill>
                  <a:srgbClr val="F5F6F1"/>
                </a:solidFill>
                <a:latin typeface="Arial"/>
                <a:ea typeface="Arial"/>
                <a:cs typeface="Arial"/>
              </a:rPr>
              <a:t>Тренермен танысу</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016477e58a64e28"/>
          <a:stretch xmlns:a="http://schemas.openxmlformats.org/drawingml/2006/main"/>
        </p:blipFill>
        <p:spPr>
          <a:xfrm xmlns:a="http://schemas.openxmlformats.org/drawingml/2006/main">
            <a:off x="704850" y="1543066"/>
            <a:ext cx="3333750" cy="4445000"/>
          </a:xfrm>
          <a:prstGeom xmlns:a="http://schemas.openxmlformats.org/drawingml/2006/main" prst="rect">
            <a:avLst/>
          </a:prstGeom>
        </p:spPr>
      </p:pic>
      <p:sp>
        <p:nvSpPr>
          <p:cNvPr id="3" name="Trainer name">
            <a:extLst xmlns:a="http://schemas.openxmlformats.org/drawingml/2006/main">
              <a:ext uri="{FF2B5EF4-FFF2-40B4-BE49-F238E27FC236}">
                <a16:creationId xmlns:a16="http://schemas.microsoft.com/office/drawing/2014/main" id="{84F44DD6-04ED-4AE6-B46D-25639677A346}"/>
              </a:ext>
            </a:extLst>
          </p:cNvPr>
          <p:cNvSpPr>
            <a:spLocks xmlns:a="http://schemas.openxmlformats.org/drawingml/2006/main" noGrp="1"/>
          </p:cNvSpPr>
          <p:nvPr/>
        </p:nvSpPr>
        <p:spPr>
          <a:xfrm xmlns:a="http://schemas.openxmlformats.org/drawingml/2006/main">
            <a:off x="4591050" y="1600200"/>
            <a:ext cx="685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F5F6F1"/>
                </a:solidFill>
                <a:latin typeface="Arial"/>
                <a:ea typeface="Arial"/>
                <a:cs typeface="Arial"/>
              </a:defRPr>
            </a:pPr>
            <a:r>
              <a:rPr sz="3225" b="1">
                <a:solidFill>
                  <a:srgbClr val="F5F6F1"/>
                </a:solidFill>
                <a:latin typeface="Arial"/>
                <a:ea typeface="Arial"/>
                <a:cs typeface="Arial"/>
              </a:rPr>
              <a:t>Дүйсенбекқызы Жансая</a:t>
            </a:r>
          </a:p>
        </p:txBody>
      </p:sp>
      <p:sp>
        <p:nvSpPr>
          <p:cNvPr id="4" name="Trainer degree">
            <a:extLst xmlns:a="http://schemas.openxmlformats.org/drawingml/2006/main">
              <a:ext uri="{FF2B5EF4-FFF2-40B4-BE49-F238E27FC236}">
                <a16:creationId xmlns:a16="http://schemas.microsoft.com/office/drawing/2014/main" id="{56515707-C4B2-4B8B-A640-1E0644F880F9}"/>
              </a:ext>
            </a:extLst>
          </p:cNvPr>
          <p:cNvSpPr>
            <a:spLocks xmlns:a="http://schemas.openxmlformats.org/drawingml/2006/main" noGrp="1"/>
          </p:cNvSpPr>
          <p:nvPr/>
        </p:nvSpPr>
        <p:spPr>
          <a:xfrm xmlns:a="http://schemas.openxmlformats.org/drawingml/2006/main">
            <a:off x="4591050" y="2324100"/>
            <a:ext cx="6667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D6F879"/>
                </a:solidFill>
                <a:latin typeface="Arial"/>
                <a:ea typeface="Arial"/>
                <a:cs typeface="Arial"/>
              </a:defRPr>
            </a:pPr>
            <a:r>
              <a:rPr sz="2400" b="1">
                <a:solidFill>
                  <a:srgbClr val="D6F879"/>
                </a:solidFill>
                <a:latin typeface="Arial"/>
                <a:ea typeface="Arial"/>
                <a:cs typeface="Arial"/>
              </a:rPr>
              <a:t>PhD</a:t>
            </a:r>
          </a:p>
        </p:txBody>
      </p:sp>
      <p:sp>
        <p:nvSpPr>
          <p:cNvPr id="5" name="Trainer biography">
            <a:extLst xmlns:a="http://schemas.openxmlformats.org/drawingml/2006/main">
              <a:ext uri="{FF2B5EF4-FFF2-40B4-BE49-F238E27FC236}">
                <a16:creationId xmlns:a16="http://schemas.microsoft.com/office/drawing/2014/main" id="{9FBF4595-9907-431C-AB35-F614823D6766}"/>
              </a:ext>
            </a:extLst>
          </p:cNvPr>
          <p:cNvSpPr>
            <a:spLocks xmlns:a="http://schemas.openxmlformats.org/drawingml/2006/main" noGrp="1"/>
          </p:cNvSpPr>
          <p:nvPr/>
        </p:nvSpPr>
        <p:spPr>
          <a:xfrm xmlns:a="http://schemas.openxmlformats.org/drawingml/2006/main">
            <a:off x="4591050" y="3057525"/>
            <a:ext cx="685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F5F6F1"/>
                </a:solidFill>
                <a:latin typeface="Arial"/>
                <a:ea typeface="Arial"/>
                <a:cs typeface="Arial"/>
              </a:defRPr>
            </a:pPr>
            <a:r>
              <a:rPr sz="2250" b="0">
                <a:solidFill>
                  <a:srgbClr val="F5F6F1"/>
                </a:solidFill>
                <a:latin typeface="Arial"/>
                <a:ea typeface="Arial"/>
                <a:cs typeface="Arial"/>
              </a:rPr>
              <a:t>Жасанды интеллект саласындағы</a:t>
            </a:r>
          </a:p>
          <a:p xmlns:a="http://schemas.openxmlformats.org/drawingml/2006/main">
            <a:pPr>
              <a:buNone/>
              <a:defRPr sz="2250" b="0">
                <a:solidFill>
                  <a:srgbClr val="F5F6F1"/>
                </a:solidFill>
                <a:latin typeface="Arial"/>
                <a:ea typeface="Arial"/>
                <a:cs typeface="Arial"/>
              </a:defRPr>
            </a:pPr>
            <a:r>
              <a:rPr sz="2250" b="0">
                <a:solidFill>
                  <a:srgbClr val="F5F6F1"/>
                </a:solidFill>
                <a:latin typeface="Arial"/>
                <a:ea typeface="Arial"/>
                <a:cs typeface="Arial"/>
              </a:rPr>
              <a:t>зерттеуші және оқытушы</a:t>
            </a:r>
          </a:p>
        </p:txBody>
      </p:sp>
      <p:sp>
        <p:nvSpPr>
          <p:cNvPr id="6" name="Trainer NLP">
            <a:extLst xmlns:a="http://schemas.openxmlformats.org/drawingml/2006/main">
              <a:ext uri="{FF2B5EF4-FFF2-40B4-BE49-F238E27FC236}">
                <a16:creationId xmlns:a16="http://schemas.microsoft.com/office/drawing/2014/main" id="{FC784806-D0E2-40A6-981F-4CAF9294678D}"/>
              </a:ext>
            </a:extLst>
          </p:cNvPr>
          <p:cNvSpPr>
            <a:spLocks xmlns:a="http://schemas.openxmlformats.org/drawingml/2006/main" noGrp="1"/>
          </p:cNvSpPr>
          <p:nvPr/>
        </p:nvSpPr>
        <p:spPr>
          <a:xfrm xmlns:a="http://schemas.openxmlformats.org/drawingml/2006/main">
            <a:off x="4591050" y="4438650"/>
            <a:ext cx="685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D6F879"/>
                </a:solidFill>
                <a:latin typeface="Arial"/>
                <a:ea typeface="Arial"/>
                <a:cs typeface="Arial"/>
              </a:defRPr>
            </a:pPr>
            <a:r>
              <a:rPr sz="2175" b="1">
                <a:solidFill>
                  <a:srgbClr val="D6F879"/>
                </a:solidFill>
                <a:latin typeface="Arial"/>
                <a:ea typeface="Arial"/>
                <a:cs typeface="Arial"/>
              </a:rPr>
              <a:t>NLP: табиғи тілді өңдеу</a:t>
            </a:r>
          </a:p>
        </p:txBody>
      </p:sp>
      <p:sp>
        <p:nvSpPr>
          <p:cNvPr id="7" name="Trainer ASR">
            <a:extLst xmlns:a="http://schemas.openxmlformats.org/drawingml/2006/main">
              <a:ext uri="{FF2B5EF4-FFF2-40B4-BE49-F238E27FC236}">
                <a16:creationId xmlns:a16="http://schemas.microsoft.com/office/drawing/2014/main" id="{E1C3ECE2-FD99-42BF-A4CB-41963BC03181}"/>
              </a:ext>
            </a:extLst>
          </p:cNvPr>
          <p:cNvSpPr>
            <a:spLocks xmlns:a="http://schemas.openxmlformats.org/drawingml/2006/main" noGrp="1"/>
          </p:cNvSpPr>
          <p:nvPr/>
        </p:nvSpPr>
        <p:spPr>
          <a:xfrm xmlns:a="http://schemas.openxmlformats.org/drawingml/2006/main">
            <a:off x="4591050" y="5095875"/>
            <a:ext cx="685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D6F879"/>
                </a:solidFill>
                <a:latin typeface="Arial"/>
                <a:ea typeface="Arial"/>
                <a:cs typeface="Arial"/>
              </a:defRPr>
            </a:pPr>
            <a:r>
              <a:rPr sz="2175" b="1">
                <a:solidFill>
                  <a:srgbClr val="D6F879"/>
                </a:solidFill>
                <a:latin typeface="Arial"/>
                <a:ea typeface="Arial"/>
                <a:cs typeface="Arial"/>
              </a:rPr>
              <a:t>ASR: сөйлеуді автоматты тану</a:t>
            </a:r>
          </a:p>
        </p:txBody>
      </p:sp>
      <p:sp>
        <p:nvSpPr>
          <p:cNvPr id="8" name="Intro page 2">
            <a:extLst xmlns:a="http://schemas.openxmlformats.org/drawingml/2006/main">
              <a:ext uri="{FF2B5EF4-FFF2-40B4-BE49-F238E27FC236}">
                <a16:creationId xmlns:a16="http://schemas.microsoft.com/office/drawing/2014/main" id="{98250E8F-93D4-4FEC-B401-35B4AC583402}"/>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BDC7D4"/>
                </a:solidFill>
                <a:latin typeface="Arial"/>
                <a:ea typeface="Arial"/>
                <a:cs typeface="Arial"/>
              </a:defRPr>
            </a:pPr>
            <a:r>
              <a:rPr sz="1425" b="0">
                <a:solidFill>
                  <a:srgbClr val="BDC7D4"/>
                </a:solidFill>
                <a:latin typeface="Arial"/>
                <a:ea typeface="Arial"/>
                <a:cs typeface="Arial"/>
              </a:rPr>
              <a:t>02</a:t>
            </a:r>
          </a:p>
        </p:txBody>
      </p:sp>
    </p:spTree>
    <p:extLst>
      <p:ext uri="{BB962C8B-B14F-4D97-AF65-F5344CB8AC3E}">
        <p14:creationId xmlns:p14="http://schemas.microsoft.com/office/powerpoint/2010/main" val="1473292727"/>
      </p:ext>
    </p:extLst>
  </p:cSld>
</p:sld>
</file>

<file path=ppt/slides/slide3.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8" name="Text ЖИ не істей алады">
            <a:extLst xmlns:a="http://schemas.openxmlformats.org/drawingml/2006/main">
              <a:ext uri="{FF2B5EF4-FFF2-40B4-BE49-F238E27FC236}">
                <a16:creationId xmlns:a16="http://schemas.microsoft.com/office/drawing/2014/main" id="{DE0B0138-7B16-4B98-8B84-3E8777739660}"/>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ЖИ не істей алады</a:t>
            </a:r>
          </a:p>
        </p:txBody>
      </p:sp>
      <p:sp>
        <p:nvSpPr>
          <p:cNvPr id="2" name="Text 02">
            <a:extLst xmlns:a="http://schemas.openxmlformats.org/drawingml/2006/main">
              <a:ext uri="{FF2B5EF4-FFF2-40B4-BE49-F238E27FC236}">
                <a16:creationId xmlns:a16="http://schemas.microsoft.com/office/drawing/2014/main" id="{DFA4C672-38CA-469C-AFE3-FEE62B2DA8D5}"/>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03</a:t>
            </a:r>
          </a:p>
        </p:txBody>
      </p:sp>
      <p:sp>
        <p:nvSpPr>
          <p:cNvPr id="3" name="Text Адам әрі қарай тексеріп, қол">
            <a:extLst xmlns:a="http://schemas.openxmlformats.org/drawingml/2006/main">
              <a:ext uri="{FF2B5EF4-FFF2-40B4-BE49-F238E27FC236}">
                <a16:creationId xmlns:a16="http://schemas.microsoft.com/office/drawing/2014/main" id="{7E79F485-1087-40CE-B0F6-D8B2BFBF8935}"/>
              </a:ext>
            </a:extLst>
          </p:cNvPr>
          <p:cNvSpPr>
            <a:spLocks xmlns:a="http://schemas.openxmlformats.org/drawingml/2006/main" noGrp="1"/>
          </p:cNvSpPr>
          <p:nvPr/>
        </p:nvSpPr>
        <p:spPr>
          <a:xfrm xmlns:a="http://schemas.openxmlformats.org/drawingml/2006/main">
            <a:off x="704850" y="147637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456B24"/>
                </a:solidFill>
                <a:latin typeface="Arial"/>
                <a:ea typeface="Arial"/>
                <a:cs typeface="Arial"/>
              </a:defRPr>
            </a:pPr>
            <a:r>
              <a:rPr sz="2625" b="1">
                <a:solidFill>
                  <a:srgbClr val="456B24"/>
                </a:solidFill>
                <a:latin typeface="Arial"/>
                <a:ea typeface="Arial"/>
                <a:cs typeface="Arial"/>
              </a:rPr>
              <a:t>Адам әрі қарай тексеріп, қолданатын</a:t>
            </a:r>
          </a:p>
          <a:p xmlns:a="http://schemas.openxmlformats.org/drawingml/2006/main">
            <a:pPr>
              <a:buNone/>
              <a:defRPr sz="2625" b="1">
                <a:solidFill>
                  <a:srgbClr val="456B24"/>
                </a:solidFill>
                <a:latin typeface="Arial"/>
                <a:ea typeface="Arial"/>
                <a:cs typeface="Arial"/>
              </a:defRPr>
            </a:pPr>
            <a:r>
              <a:rPr sz="2625" b="1">
                <a:solidFill>
                  <a:srgbClr val="456B24"/>
                </a:solidFill>
                <a:latin typeface="Arial"/>
                <a:ea typeface="Arial"/>
                <a:cs typeface="Arial"/>
              </a:rPr>
              <a:t>жауапты дайындауға көмектеседі.</a:t>
            </a:r>
          </a:p>
        </p:txBody>
      </p:sp>
      <p:sp>
        <p:nvSpPr>
          <p:cNvPr id="4" name="Text Мәтін: хабарлама, аударма, т">
            <a:extLst xmlns:a="http://schemas.openxmlformats.org/drawingml/2006/main">
              <a:ext uri="{FF2B5EF4-FFF2-40B4-BE49-F238E27FC236}">
                <a16:creationId xmlns:a16="http://schemas.microsoft.com/office/drawing/2014/main" id="{750A708F-D179-4C3F-8415-339909D23563}"/>
              </a:ext>
            </a:extLst>
          </p:cNvPr>
          <p:cNvSpPr>
            <a:spLocks xmlns:a="http://schemas.openxmlformats.org/drawingml/2006/main" noGrp="1"/>
          </p:cNvSpPr>
          <p:nvPr/>
        </p:nvSpPr>
        <p:spPr>
          <a:xfrm xmlns:a="http://schemas.openxmlformats.org/drawingml/2006/main">
            <a:off x="723900" y="28575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2030"/>
                </a:solidFill>
                <a:latin typeface="Arial"/>
                <a:ea typeface="Arial"/>
                <a:cs typeface="Arial"/>
              </a:defRPr>
            </a:pPr>
            <a:r>
              <a:rPr sz="2175" b="0">
                <a:solidFill>
                  <a:srgbClr val="172030"/>
                </a:solidFill>
                <a:latin typeface="Arial"/>
                <a:ea typeface="Arial"/>
                <a:cs typeface="Arial"/>
              </a:rPr>
              <a:t>Мәтін: хабарлама, аударма, түсінікті жауап</a:t>
            </a:r>
          </a:p>
        </p:txBody>
      </p:sp>
      <p:sp>
        <p:nvSpPr>
          <p:cNvPr id="5" name="Text Іздеу: мәлімет және дереккөз">
            <a:extLst xmlns:a="http://schemas.openxmlformats.org/drawingml/2006/main">
              <a:ext uri="{FF2B5EF4-FFF2-40B4-BE49-F238E27FC236}">
                <a16:creationId xmlns:a16="http://schemas.microsoft.com/office/drawing/2014/main" id="{8E86432A-AE8D-46F0-9151-B4BBA96762FF}"/>
              </a:ext>
            </a:extLst>
          </p:cNvPr>
          <p:cNvSpPr>
            <a:spLocks xmlns:a="http://schemas.openxmlformats.org/drawingml/2006/main" noGrp="1"/>
          </p:cNvSpPr>
          <p:nvPr/>
        </p:nvSpPr>
        <p:spPr>
          <a:xfrm xmlns:a="http://schemas.openxmlformats.org/drawingml/2006/main">
            <a:off x="723900" y="36195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2030"/>
                </a:solidFill>
                <a:latin typeface="Arial"/>
                <a:ea typeface="Arial"/>
                <a:cs typeface="Arial"/>
              </a:defRPr>
            </a:pPr>
            <a:r>
              <a:rPr sz="2175" b="0">
                <a:solidFill>
                  <a:srgbClr val="172030"/>
                </a:solidFill>
                <a:latin typeface="Arial"/>
                <a:ea typeface="Arial"/>
                <a:cs typeface="Arial"/>
              </a:rPr>
              <a:t>Іздеу: мәлімет және дереккөз сілтемелері</a:t>
            </a:r>
          </a:p>
        </p:txBody>
      </p:sp>
      <p:sp>
        <p:nvSpPr>
          <p:cNvPr id="6" name="Text Суреттер: фотоны түсіну, сур">
            <a:extLst xmlns:a="http://schemas.openxmlformats.org/drawingml/2006/main">
              <a:ext uri="{FF2B5EF4-FFF2-40B4-BE49-F238E27FC236}">
                <a16:creationId xmlns:a16="http://schemas.microsoft.com/office/drawing/2014/main" id="{443A9B68-FD05-42FF-822D-A4D5DDA4D6E2}"/>
              </a:ext>
            </a:extLst>
          </p:cNvPr>
          <p:cNvSpPr>
            <a:spLocks xmlns:a="http://schemas.openxmlformats.org/drawingml/2006/main" noGrp="1"/>
          </p:cNvSpPr>
          <p:nvPr/>
        </p:nvSpPr>
        <p:spPr>
          <a:xfrm xmlns:a="http://schemas.openxmlformats.org/drawingml/2006/main">
            <a:off x="723900" y="43815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2030"/>
                </a:solidFill>
                <a:latin typeface="Arial"/>
                <a:ea typeface="Arial"/>
                <a:cs typeface="Arial"/>
              </a:defRPr>
            </a:pPr>
            <a:r>
              <a:rPr sz="2175" b="0">
                <a:solidFill>
                  <a:srgbClr val="172030"/>
                </a:solidFill>
                <a:latin typeface="Arial"/>
                <a:ea typeface="Arial"/>
                <a:cs typeface="Arial"/>
              </a:rPr>
              <a:t>Суреттер: фотоны түсіну, сурет жасау не өзгерту</a:t>
            </a:r>
          </a:p>
        </p:txBody>
      </p:sp>
      <p:sp>
        <p:nvSpPr>
          <p:cNvPr id="7" name="Text Материалдар: мәтіннен құжат ">
            <a:extLst xmlns:a="http://schemas.openxmlformats.org/drawingml/2006/main">
              <a:ext uri="{FF2B5EF4-FFF2-40B4-BE49-F238E27FC236}">
                <a16:creationId xmlns:a16="http://schemas.microsoft.com/office/drawing/2014/main" id="{58F98EBC-1007-4DE3-BF86-57A0428582A7}"/>
              </a:ext>
            </a:extLst>
          </p:cNvPr>
          <p:cNvSpPr>
            <a:spLocks xmlns:a="http://schemas.openxmlformats.org/drawingml/2006/main" noGrp="1"/>
          </p:cNvSpPr>
          <p:nvPr/>
        </p:nvSpPr>
        <p:spPr>
          <a:xfrm xmlns:a="http://schemas.openxmlformats.org/drawingml/2006/main">
            <a:off x="723900" y="51435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2030"/>
                </a:solidFill>
                <a:latin typeface="Arial"/>
                <a:ea typeface="Arial"/>
                <a:cs typeface="Arial"/>
              </a:defRPr>
            </a:pPr>
            <a:r>
              <a:rPr sz="2175" b="0">
                <a:solidFill>
                  <a:srgbClr val="172030"/>
                </a:solidFill>
                <a:latin typeface="Arial"/>
                <a:ea typeface="Arial"/>
                <a:cs typeface="Arial"/>
              </a:rPr>
              <a:t>Материалдар: мәтіннен құжат немесе слайд жасау</a:t>
            </a:r>
          </a:p>
        </p:txBody>
      </p:sp>
    </p:spTree>
    <p:extLst>
      <p:ext uri="{BB962C8B-B14F-4D97-AF65-F5344CB8AC3E}">
        <p14:creationId xmlns:p14="http://schemas.microsoft.com/office/powerpoint/2010/main" val="728202750"/>
      </p:ext>
    </p:extLst>
  </p:cSld>
</p:sld>
</file>

<file path=ppt/slides/slide4.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5" name="Text Қай сервисті таңдаймыз">
            <a:extLst xmlns:a="http://schemas.openxmlformats.org/drawingml/2006/main">
              <a:ext uri="{FF2B5EF4-FFF2-40B4-BE49-F238E27FC236}">
                <a16:creationId xmlns:a16="http://schemas.microsoft.com/office/drawing/2014/main" id="{E5F019BA-21D8-440B-B92D-F4EC4D7A7D7B}"/>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Қай сервисті таңдаймыз</a:t>
            </a:r>
          </a:p>
        </p:txBody>
      </p:sp>
      <p:sp>
        <p:nvSpPr>
          <p:cNvPr id="2" name="Text 03">
            <a:extLst xmlns:a="http://schemas.openxmlformats.org/drawingml/2006/main">
              <a:ext uri="{FF2B5EF4-FFF2-40B4-BE49-F238E27FC236}">
                <a16:creationId xmlns:a16="http://schemas.microsoft.com/office/drawing/2014/main" id="{19CF05BA-9F32-4498-B977-B30735B17835}"/>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04</a:t>
            </a:r>
          </a:p>
        </p:txBody>
      </p:sp>
      <p:graphicFrame>
        <p:nvGraphicFramePr>
          <p:cNvPr id="9" name=""/>
          <p:cNvGraphicFramePr/>
          <p:nvPr/>
        </p:nvGraphicFramePr>
        <p:xfrm>
          <a:off xmlns:a="http://schemas.openxmlformats.org/drawingml/2006/main" x="704850" y="1524000"/>
          <a:ext xmlns:a="http://schemas.openxmlformats.org/drawingml/2006/main" cx="10763250" cy="3886200"/>
        </p:xfrm>
        <a:graphic xmlns:a="http://schemas.openxmlformats.org/drawingml/2006/main">
          <a:graphicData uri="http://schemas.openxmlformats.org/drawingml/2006/table">
            <a:tbl>
              <a:tblPr/>
              <a:tblGrid>
                <a:gridCol w="2476500"/>
                <a:gridCol w="8286750"/>
              </a:tblGrid>
              <a:tr h="647700">
                <a:tc>
                  <a:txBody>
                    <a:bodyPr/>
                    <a:lstStyle/>
                    <a:p>
                      <a:r>
                        <a:rPr sz="2100" b="1">
                          <a:solidFill>
                            <a:srgbClr val="172030"/>
                          </a:solidFill>
                          <a:latin typeface="Arial"/>
                          <a:ea typeface="Arial"/>
                          <a:cs typeface="Arial"/>
                        </a:rPr>
                        <a:t>Сервис</a:t>
                      </a:r>
                    </a:p>
                  </a:txBody>
                  <a:tcPr marL="133350" marR="133350" marT="95250" marB="95250">
                    <a:solidFill>
                      <a:srgbClr val="D6F879"/>
                    </a:solidFill>
                  </a:tcPr>
                </a:tc>
                <a:tc>
                  <a:txBody>
                    <a:bodyPr/>
                    <a:lstStyle/>
                    <a:p>
                      <a:r>
                        <a:rPr sz="2100" b="1">
                          <a:solidFill>
                            <a:srgbClr val="172030"/>
                          </a:solidFill>
                          <a:latin typeface="Arial"/>
                          <a:ea typeface="Arial"/>
                          <a:cs typeface="Arial"/>
                        </a:rPr>
                        <a:t>Неден бастауға болады</a:t>
                      </a:r>
                    </a:p>
                  </a:txBody>
                  <a:tcPr marL="133350" marR="133350" marT="95250" marB="95250">
                    <a:solidFill>
                      <a:srgbClr val="D6F879"/>
                    </a:solidFill>
                  </a:tcPr>
                </a:tc>
              </a:tr>
              <a:tr h="647700">
                <a:tc>
                  <a:txBody>
                    <a:bodyPr/>
                    <a:lstStyle/>
                    <a:p>
                      <a:r>
                        <a:rPr sz="2100">
                          <a:solidFill>
                            <a:srgbClr val="172030"/>
                          </a:solidFill>
                          <a:latin typeface="Arial"/>
                          <a:ea typeface="Arial"/>
                          <a:cs typeface="Arial"/>
                        </a:rPr>
                        <a:t>ChatGPT</a:t>
                      </a:r>
                    </a:p>
                  </a:txBody>
                  <a:tcPr marL="133350" marR="133350" marT="95250" marB="95250">
                    <a:solidFill>
                      <a:srgbClr val="FFFFFF"/>
                    </a:solidFill>
                  </a:tcPr>
                </a:tc>
                <a:tc>
                  <a:txBody>
                    <a:bodyPr/>
                    <a:lstStyle/>
                    <a:p>
                      <a:r>
                        <a:rPr sz="2100">
                          <a:solidFill>
                            <a:srgbClr val="172030"/>
                          </a:solidFill>
                          <a:latin typeface="Arial"/>
                          <a:ea typeface="Arial"/>
                          <a:cs typeface="Arial"/>
                        </a:rPr>
                        <a:t>Хабарлама, түсіндірме, жоспар</a:t>
                      </a:r>
                    </a:p>
                  </a:txBody>
                  <a:tcPr marL="133350" marR="133350" marT="95250" marB="95250">
                    <a:solidFill>
                      <a:srgbClr val="FFFFFF"/>
                    </a:solidFill>
                  </a:tcPr>
                </a:tc>
              </a:tr>
              <a:tr h="647700">
                <a:tc>
                  <a:txBody>
                    <a:bodyPr/>
                    <a:lstStyle/>
                    <a:p>
                      <a:r>
                        <a:rPr sz="2100">
                          <a:solidFill>
                            <a:srgbClr val="172030"/>
                          </a:solidFill>
                          <a:latin typeface="Arial"/>
                          <a:ea typeface="Arial"/>
                          <a:cs typeface="Arial"/>
                        </a:rPr>
                        <a:t>Gemini</a:t>
                      </a:r>
                    </a:p>
                  </a:txBody>
                  <a:tcPr marL="133350" marR="133350" marT="95250" marB="95250">
                    <a:solidFill>
                      <a:srgbClr val="EEF2E8"/>
                    </a:solidFill>
                  </a:tcPr>
                </a:tc>
                <a:tc>
                  <a:txBody>
                    <a:bodyPr/>
                    <a:lstStyle/>
                    <a:p>
                      <a:r>
                        <a:rPr sz="2100">
                          <a:solidFill>
                            <a:srgbClr val="172030"/>
                          </a:solidFill>
                          <a:latin typeface="Arial"/>
                          <a:ea typeface="Arial"/>
                          <a:cs typeface="Arial"/>
                        </a:rPr>
                        <a:t>Фото, мәтін, құжат бойынша сұрақ</a:t>
                      </a:r>
                    </a:p>
                  </a:txBody>
                  <a:tcPr marL="133350" marR="133350" marT="95250" marB="95250">
                    <a:solidFill>
                      <a:srgbClr val="EEF2E8"/>
                    </a:solidFill>
                  </a:tcPr>
                </a:tc>
              </a:tr>
              <a:tr h="647700">
                <a:tc>
                  <a:txBody>
                    <a:bodyPr/>
                    <a:lstStyle/>
                    <a:p>
                      <a:r>
                        <a:rPr sz="2100">
                          <a:solidFill>
                            <a:srgbClr val="172030"/>
                          </a:solidFill>
                          <a:latin typeface="Arial"/>
                          <a:ea typeface="Arial"/>
                          <a:cs typeface="Arial"/>
                        </a:rPr>
                        <a:t>Grok</a:t>
                      </a:r>
                    </a:p>
                  </a:txBody>
                  <a:tcPr marL="133350" marR="133350" marT="95250" marB="95250">
                    <a:solidFill>
                      <a:srgbClr val="FFFFFF"/>
                    </a:solidFill>
                  </a:tcPr>
                </a:tc>
                <a:tc>
                  <a:txBody>
                    <a:bodyPr/>
                    <a:lstStyle/>
                    <a:p>
                      <a:r>
                        <a:rPr sz="2100">
                          <a:solidFill>
                            <a:srgbClr val="172030"/>
                          </a:solidFill>
                          <a:latin typeface="Arial"/>
                          <a:ea typeface="Arial"/>
                          <a:cs typeface="Arial"/>
                        </a:rPr>
                        <a:t>Сұрақ және ашық жазбаларды іздеу</a:t>
                      </a:r>
                    </a:p>
                  </a:txBody>
                  <a:tcPr marL="133350" marR="133350" marT="95250" marB="95250">
                    <a:solidFill>
                      <a:srgbClr val="FFFFFF"/>
                    </a:solidFill>
                  </a:tcPr>
                </a:tc>
              </a:tr>
              <a:tr h="647700">
                <a:tc>
                  <a:txBody>
                    <a:bodyPr/>
                    <a:lstStyle/>
                    <a:p>
                      <a:r>
                        <a:rPr sz="2100">
                          <a:solidFill>
                            <a:srgbClr val="172030"/>
                          </a:solidFill>
                          <a:latin typeface="Arial"/>
                          <a:ea typeface="Arial"/>
                          <a:cs typeface="Arial"/>
                        </a:rPr>
                        <a:t>Gamma</a:t>
                      </a:r>
                    </a:p>
                  </a:txBody>
                  <a:tcPr marL="133350" marR="133350" marT="95250" marB="95250">
                    <a:solidFill>
                      <a:srgbClr val="EEF2E8"/>
                    </a:solidFill>
                  </a:tcPr>
                </a:tc>
                <a:tc>
                  <a:txBody>
                    <a:bodyPr/>
                    <a:lstStyle/>
                    <a:p>
                      <a:r>
                        <a:rPr sz="2100">
                          <a:solidFill>
                            <a:srgbClr val="172030"/>
                          </a:solidFill>
                          <a:latin typeface="Arial"/>
                          <a:ea typeface="Arial"/>
                          <a:cs typeface="Arial"/>
                        </a:rPr>
                        <a:t>Өз мәтініңнен презентация</a:t>
                      </a:r>
                    </a:p>
                  </a:txBody>
                  <a:tcPr marL="133350" marR="133350" marT="95250" marB="95250">
                    <a:solidFill>
                      <a:srgbClr val="EEF2E8"/>
                    </a:solidFill>
                  </a:tcPr>
                </a:tc>
              </a:tr>
              <a:tr h="647700">
                <a:tc>
                  <a:txBody>
                    <a:bodyPr/>
                    <a:lstStyle/>
                    <a:p>
                      <a:r>
                        <a:rPr sz="2100">
                          <a:solidFill>
                            <a:srgbClr val="172030"/>
                          </a:solidFill>
                          <a:latin typeface="Arial"/>
                          <a:ea typeface="Arial"/>
                          <a:cs typeface="Arial"/>
                        </a:rPr>
                        <a:t>Perplexity</a:t>
                      </a:r>
                    </a:p>
                  </a:txBody>
                  <a:tcPr marL="133350" marR="133350" marT="95250" marB="95250">
                    <a:solidFill>
                      <a:srgbClr val="FFFFFF"/>
                    </a:solidFill>
                  </a:tcPr>
                </a:tc>
                <a:tc>
                  <a:txBody>
                    <a:bodyPr/>
                    <a:lstStyle/>
                    <a:p>
                      <a:r>
                        <a:rPr sz="2100">
                          <a:solidFill>
                            <a:srgbClr val="172030"/>
                          </a:solidFill>
                          <a:latin typeface="Arial"/>
                          <a:ea typeface="Arial"/>
                          <a:cs typeface="Arial"/>
                        </a:rPr>
                        <a:t>Дереккөз сілтемелері бар жауап</a:t>
                      </a:r>
                    </a:p>
                  </a:txBody>
                  <a:tcPr marL="133350" marR="133350" marT="95250" marB="95250">
                    <a:solidFill>
                      <a:srgbClr val="FFFFFF"/>
                    </a:solidFill>
                  </a:tcPr>
                </a:tc>
              </a:tr>
            </a:tbl>
          </a:graphicData>
        </a:graphic>
      </p:graphicFrame>
      <p:sp>
        <p:nvSpPr>
          <p:cNvPr id="4" name="Text Практикаға бір сервис таңдаң">
            <a:extLst xmlns:a="http://schemas.openxmlformats.org/drawingml/2006/main">
              <a:ext uri="{FF2B5EF4-FFF2-40B4-BE49-F238E27FC236}">
                <a16:creationId xmlns:a16="http://schemas.microsoft.com/office/drawing/2014/main" id="{AB5C50FC-3F36-4AF0-92BF-D819BFABADFB}"/>
              </a:ext>
            </a:extLst>
          </p:cNvPr>
          <p:cNvSpPr>
            <a:spLocks xmlns:a="http://schemas.openxmlformats.org/drawingml/2006/main" noGrp="1"/>
          </p:cNvSpPr>
          <p:nvPr/>
        </p:nvSpPr>
        <p:spPr>
          <a:xfrm xmlns:a="http://schemas.openxmlformats.org/drawingml/2006/main">
            <a:off x="723900" y="5619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96273"/>
                </a:solidFill>
                <a:latin typeface="Arial"/>
                <a:ea typeface="Arial"/>
                <a:cs typeface="Arial"/>
              </a:defRPr>
            </a:pPr>
            <a:r>
              <a:rPr sz="1875" b="0">
                <a:solidFill>
                  <a:srgbClr val="596273"/>
                </a:solidFill>
                <a:latin typeface="Arial"/>
                <a:ea typeface="Arial"/>
                <a:cs typeface="Arial"/>
              </a:rPr>
              <a:t>Практикаға бір сервис таңдаңыз. Қолжетімділік пен лимит аккаунтқа байланысты.</a:t>
            </a:r>
          </a:p>
        </p:txBody>
      </p:sp>
    </p:spTree>
    <p:extLst>
      <p:ext uri="{BB962C8B-B14F-4D97-AF65-F5344CB8AC3E}">
        <p14:creationId xmlns:p14="http://schemas.microsoft.com/office/powerpoint/2010/main" val="804912516"/>
      </p:ext>
    </p:extLst>
  </p:cSld>
</p:sld>
</file>

<file path=ppt/slides/slide5.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6" name="Text Браузердегі алғашқы сұрау">
            <a:extLst xmlns:a="http://schemas.openxmlformats.org/drawingml/2006/main">
              <a:ext uri="{FF2B5EF4-FFF2-40B4-BE49-F238E27FC236}">
                <a16:creationId xmlns:a16="http://schemas.microsoft.com/office/drawing/2014/main" id="{D37D5DE9-B57C-48A1-924C-BDF6CF7BF54C}"/>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Браузердегі алғашқы сұрау</a:t>
            </a:r>
          </a:p>
        </p:txBody>
      </p:sp>
      <p:sp>
        <p:nvSpPr>
          <p:cNvPr id="2" name="Text 04">
            <a:extLst xmlns:a="http://schemas.openxmlformats.org/drawingml/2006/main">
              <a:ext uri="{FF2B5EF4-FFF2-40B4-BE49-F238E27FC236}">
                <a16:creationId xmlns:a16="http://schemas.microsoft.com/office/drawing/2014/main" id="{6771E929-3534-4F3B-B8BA-FD062140FC8F}"/>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05</a:t>
            </a:r>
          </a:p>
        </p:txBody>
      </p:sp>
      <p:sp>
        <p:nvSpPr>
          <p:cNvPr id="3" name="Text chatgpt.com">
            <a:extLst xmlns:a="http://schemas.openxmlformats.org/drawingml/2006/main">
              <a:ext uri="{FF2B5EF4-FFF2-40B4-BE49-F238E27FC236}">
                <a16:creationId xmlns:a16="http://schemas.microsoft.com/office/drawing/2014/main" id="{DC6E2325-F1EB-49B4-A8C3-0D1B829DE14F}"/>
              </a:ext>
            </a:extLst>
          </p:cNvPr>
          <p:cNvSpPr>
            <a:spLocks xmlns:a="http://schemas.openxmlformats.org/drawingml/2006/main" noGrp="1"/>
          </p:cNvSpPr>
          <p:nvPr/>
        </p:nvSpPr>
        <p:spPr>
          <a:xfrm xmlns:a="http://schemas.openxmlformats.org/drawingml/2006/main">
            <a:off x="723900" y="1495425"/>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456B24"/>
                </a:solidFill>
                <a:latin typeface="Arial"/>
                <a:ea typeface="Arial"/>
                <a:cs typeface="Arial"/>
              </a:defRPr>
            </a:pPr>
            <a:r>
              <a:rPr sz="2400" b="1">
                <a:solidFill>
                  <a:srgbClr val="456B24"/>
                </a:solidFill>
                <a:latin typeface="Arial"/>
                <a:ea typeface="Arial"/>
                <a:cs typeface="Arial"/>
              </a:rPr>
              <a:t>chatgpt.com</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3efa771bfee4fc8"/>
          <a:srcRect xmlns:a="http://schemas.openxmlformats.org/drawingml/2006/main" l="0" t="27581" r="0" b="27581"/>
          <a:stretch xmlns:a="http://schemas.openxmlformats.org/drawingml/2006/main">
            <a:fillRect l="0" t="0" r="0" b="0"/>
          </a:stretch>
        </p:blipFill>
        <p:spPr>
          <a:xfrm xmlns:a="http://schemas.openxmlformats.org/drawingml/2006/main">
            <a:off x="704850" y="2143125"/>
            <a:ext cx="10763250" cy="2714625"/>
          </a:xfrm>
          <a:prstGeom xmlns:a="http://schemas.openxmlformats.org/drawingml/2006/main" prst="rect">
            <a:avLst/>
          </a:prstGeom>
        </p:spPr>
      </p:pic>
      <p:sp>
        <p:nvSpPr>
          <p:cNvPr id="5" name="Text 1. Енгізу өрісін басыңыз.  2">
            <a:extLst xmlns:a="http://schemas.openxmlformats.org/drawingml/2006/main">
              <a:ext uri="{FF2B5EF4-FFF2-40B4-BE49-F238E27FC236}">
                <a16:creationId xmlns:a16="http://schemas.microsoft.com/office/drawing/2014/main" id="{6987DA1F-9D05-446F-BBF3-5EAC2FD7DA47}"/>
              </a:ext>
            </a:extLst>
          </p:cNvPr>
          <p:cNvSpPr>
            <a:spLocks xmlns:a="http://schemas.openxmlformats.org/drawingml/2006/main" noGrp="1"/>
          </p:cNvSpPr>
          <p:nvPr/>
        </p:nvSpPr>
        <p:spPr>
          <a:xfrm xmlns:a="http://schemas.openxmlformats.org/drawingml/2006/main">
            <a:off x="723900" y="5162550"/>
            <a:ext cx="10572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72030"/>
                </a:solidFill>
                <a:latin typeface="Arial"/>
                <a:ea typeface="Arial"/>
                <a:cs typeface="Arial"/>
              </a:defRPr>
            </a:pPr>
            <a:r>
              <a:rPr sz="2250" b="0">
                <a:solidFill>
                  <a:srgbClr val="172030"/>
                </a:solidFill>
                <a:latin typeface="Arial"/>
                <a:ea typeface="Arial"/>
                <a:cs typeface="Arial"/>
              </a:rPr>
              <a:t>1. Енгізу өрісін басыңыз.  2. Міндетті жазыңыз.</a:t>
            </a:r>
          </a:p>
          <a:p xmlns:a="http://schemas.openxmlformats.org/drawingml/2006/main">
            <a:pPr>
              <a:buNone/>
              <a:defRPr sz="2250" b="0">
                <a:solidFill>
                  <a:srgbClr val="172030"/>
                </a:solidFill>
                <a:latin typeface="Arial"/>
                <a:ea typeface="Arial"/>
                <a:cs typeface="Arial"/>
              </a:defRPr>
            </a:pPr>
            <a:r>
              <a:rPr sz="2250" b="0">
                <a:solidFill>
                  <a:srgbClr val="172030"/>
                </a:solidFill>
                <a:latin typeface="Arial"/>
                <a:ea typeface="Arial"/>
                <a:cs typeface="Arial"/>
              </a:rPr>
              <a:t>3. Сұрауды көрсеткісі бар батырмамен жіберіңіз.</a:t>
            </a:r>
          </a:p>
        </p:txBody>
      </p:sp>
    </p:spTree>
    <p:extLst>
      <p:ext uri="{BB962C8B-B14F-4D97-AF65-F5344CB8AC3E}">
        <p14:creationId xmlns:p14="http://schemas.microsoft.com/office/powerpoint/2010/main" val="1294507666"/>
      </p:ext>
    </p:extLst>
  </p:cSld>
</p:sld>
</file>

<file path=ppt/slides/slide6.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6" name="Text Кездесу уақытын ауыстыру">
            <a:extLst xmlns:a="http://schemas.openxmlformats.org/drawingml/2006/main">
              <a:ext uri="{FF2B5EF4-FFF2-40B4-BE49-F238E27FC236}">
                <a16:creationId xmlns:a16="http://schemas.microsoft.com/office/drawing/2014/main" id="{AFFA1DD8-A495-445F-BE21-1BC99E3DFB70}"/>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Кездесу уақытын ауыстыру</a:t>
            </a:r>
          </a:p>
        </p:txBody>
      </p:sp>
      <p:sp>
        <p:nvSpPr>
          <p:cNvPr id="2" name="Text 05">
            <a:extLst xmlns:a="http://schemas.openxmlformats.org/drawingml/2006/main">
              <a:ext uri="{FF2B5EF4-FFF2-40B4-BE49-F238E27FC236}">
                <a16:creationId xmlns:a16="http://schemas.microsoft.com/office/drawing/2014/main" id="{D68AAFED-3788-4A9B-B626-DCD022AA346F}"/>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06</a:t>
            </a:r>
          </a:p>
        </p:txBody>
      </p:sp>
      <p:sp>
        <p:nvSpPr>
          <p:cNvPr id="3" name="Text Кездесуді 15:00-ден 16:00-ге">
            <a:extLst xmlns:a="http://schemas.openxmlformats.org/drawingml/2006/main">
              <a:ext uri="{FF2B5EF4-FFF2-40B4-BE49-F238E27FC236}">
                <a16:creationId xmlns:a16="http://schemas.microsoft.com/office/drawing/2014/main" id="{BBB13F94-1E78-48B9-8764-CCF05ACF729C}"/>
              </a:ext>
            </a:extLst>
          </p:cNvPr>
          <p:cNvSpPr>
            <a:spLocks xmlns:a="http://schemas.openxmlformats.org/drawingml/2006/main" noGrp="1"/>
          </p:cNvSpPr>
          <p:nvPr/>
        </p:nvSpPr>
        <p:spPr>
          <a:xfrm xmlns:a="http://schemas.openxmlformats.org/drawingml/2006/main">
            <a:off x="704850" y="142875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456B24"/>
                </a:solidFill>
                <a:latin typeface="Arial"/>
                <a:ea typeface="Arial"/>
                <a:cs typeface="Arial"/>
              </a:defRPr>
            </a:pPr>
            <a:r>
              <a:rPr sz="2475" b="1">
                <a:solidFill>
                  <a:srgbClr val="456B24"/>
                </a:solidFill>
                <a:latin typeface="Arial"/>
                <a:ea typeface="Arial"/>
                <a:cs typeface="Arial"/>
              </a:rPr>
              <a:t>Кездесуді 15:00-ден 16:00-ге ауыстыру керек.</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7840d9e2f994609"/>
          <a:srcRect xmlns:a="http://schemas.openxmlformats.org/drawingml/2006/main" l="0" t="26794" r="0" b="26794"/>
          <a:stretch xmlns:a="http://schemas.openxmlformats.org/drawingml/2006/main">
            <a:fillRect l="0" t="0" r="0" b="0"/>
          </a:stretch>
        </p:blipFill>
        <p:spPr>
          <a:xfrm xmlns:a="http://schemas.openxmlformats.org/drawingml/2006/main">
            <a:off x="704850" y="2286000"/>
            <a:ext cx="10763250" cy="2809875"/>
          </a:xfrm>
          <a:prstGeom xmlns:a="http://schemas.openxmlformats.org/drawingml/2006/main" prst="rect">
            <a:avLst/>
          </a:prstGeom>
        </p:spPr>
      </p:pic>
      <p:sp>
        <p:nvSpPr>
          <p:cNvPr id="5" name="Text Міндет + уақыт + қысқа пішім">
            <a:extLst xmlns:a="http://schemas.openxmlformats.org/drawingml/2006/main">
              <a:ext uri="{FF2B5EF4-FFF2-40B4-BE49-F238E27FC236}">
                <a16:creationId xmlns:a16="http://schemas.microsoft.com/office/drawing/2014/main" id="{415B1C89-2F47-4726-A673-47B290B3BD04}"/>
              </a:ext>
            </a:extLst>
          </p:cNvPr>
          <p:cNvSpPr>
            <a:spLocks xmlns:a="http://schemas.openxmlformats.org/drawingml/2006/main" noGrp="1"/>
          </p:cNvSpPr>
          <p:nvPr/>
        </p:nvSpPr>
        <p:spPr>
          <a:xfrm xmlns:a="http://schemas.openxmlformats.org/drawingml/2006/main">
            <a:off x="723900" y="53911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72030"/>
                </a:solidFill>
                <a:latin typeface="Arial"/>
                <a:ea typeface="Arial"/>
                <a:cs typeface="Arial"/>
              </a:defRPr>
            </a:pPr>
            <a:r>
              <a:rPr sz="2325" b="0">
                <a:solidFill>
                  <a:srgbClr val="172030"/>
                </a:solidFill>
                <a:latin typeface="Arial"/>
                <a:ea typeface="Arial"/>
                <a:cs typeface="Arial"/>
              </a:rPr>
              <a:t>Міндет + уақыт + қысқа пішім + жауап тілі</a:t>
            </a:r>
          </a:p>
        </p:txBody>
      </p:sp>
    </p:spTree>
    <p:extLst>
      <p:ext uri="{BB962C8B-B14F-4D97-AF65-F5344CB8AC3E}">
        <p14:creationId xmlns:p14="http://schemas.microsoft.com/office/powerpoint/2010/main" val="582919552"/>
      </p:ext>
    </p:extLst>
  </p:cSld>
</p:sld>
</file>

<file path=ppt/slides/slide7.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8" name="Text Жауап сәйкес келмесе">
            <a:extLst xmlns:a="http://schemas.openxmlformats.org/drawingml/2006/main">
              <a:ext uri="{FF2B5EF4-FFF2-40B4-BE49-F238E27FC236}">
                <a16:creationId xmlns:a16="http://schemas.microsoft.com/office/drawing/2014/main" id="{CEEAF710-1F08-4179-81FB-671A1B2A8048}"/>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Жауап сәйкес келмесе</a:t>
            </a:r>
          </a:p>
        </p:txBody>
      </p:sp>
      <p:sp>
        <p:nvSpPr>
          <p:cNvPr id="2" name="Text 06">
            <a:extLst xmlns:a="http://schemas.openxmlformats.org/drawingml/2006/main">
              <a:ext uri="{FF2B5EF4-FFF2-40B4-BE49-F238E27FC236}">
                <a16:creationId xmlns:a16="http://schemas.microsoft.com/office/drawing/2014/main" id="{84482C9F-2343-40E0-917D-3CDA8A1E948B}"/>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07</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4c693bf59e0482c"/>
          <a:srcRect xmlns:a="http://schemas.openxmlformats.org/drawingml/2006/main" l="0" t="36234" r="0" b="36234"/>
          <a:stretch xmlns:a="http://schemas.openxmlformats.org/drawingml/2006/main">
            <a:fillRect l="0" t="0" r="0" b="0"/>
          </a:stretch>
        </p:blipFill>
        <p:spPr>
          <a:xfrm xmlns:a="http://schemas.openxmlformats.org/drawingml/2006/main">
            <a:off x="704850" y="1543050"/>
            <a:ext cx="10763250" cy="1666875"/>
          </a:xfrm>
          <a:prstGeom xmlns:a="http://schemas.openxmlformats.org/drawingml/2006/main" prst="rect">
            <a:avLst/>
          </a:prstGeom>
        </p:spPr>
      </p:pic>
      <p:sp>
        <p:nvSpPr>
          <p:cNvPr id="4" name="Text Сәтсіз жауаптың нақты мысалы">
            <a:extLst xmlns:a="http://schemas.openxmlformats.org/drawingml/2006/main">
              <a:ext uri="{FF2B5EF4-FFF2-40B4-BE49-F238E27FC236}">
                <a16:creationId xmlns:a16="http://schemas.microsoft.com/office/drawing/2014/main" id="{4B385C6B-4146-4752-9D36-A96219749A7E}"/>
              </a:ext>
            </a:extLst>
          </p:cNvPr>
          <p:cNvSpPr>
            <a:spLocks xmlns:a="http://schemas.openxmlformats.org/drawingml/2006/main" noGrp="1"/>
          </p:cNvSpPr>
          <p:nvPr/>
        </p:nvSpPr>
        <p:spPr>
          <a:xfrm xmlns:a="http://schemas.openxmlformats.org/drawingml/2006/main">
            <a:off x="723900" y="33337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96273"/>
                </a:solidFill>
                <a:latin typeface="Arial"/>
                <a:ea typeface="Arial"/>
                <a:cs typeface="Arial"/>
              </a:defRPr>
            </a:pPr>
            <a:r>
              <a:rPr sz="1800" b="0">
                <a:solidFill>
                  <a:srgbClr val="596273"/>
                </a:solidFill>
                <a:latin typeface="Arial"/>
                <a:ea typeface="Arial"/>
                <a:cs typeface="Arial"/>
              </a:rPr>
              <a:t>Сәтсіз жауаптың нақты мысалы</a:t>
            </a:r>
          </a:p>
        </p:txBody>
      </p:sp>
      <p:sp>
        <p:nvSpPr>
          <p:cNvPr id="5" name="Text Нақтылаңыз: «Маған хабарлама">
            <a:extLst xmlns:a="http://schemas.openxmlformats.org/drawingml/2006/main">
              <a:ext uri="{FF2B5EF4-FFF2-40B4-BE49-F238E27FC236}">
                <a16:creationId xmlns:a16="http://schemas.microsoft.com/office/drawing/2014/main" id="{93AAA3CE-7281-4E97-883A-DA0B339FA648}"/>
              </a:ext>
            </a:extLst>
          </p:cNvPr>
          <p:cNvSpPr>
            <a:spLocks xmlns:a="http://schemas.openxmlformats.org/drawingml/2006/main" noGrp="1"/>
          </p:cNvSpPr>
          <p:nvPr/>
        </p:nvSpPr>
        <p:spPr>
          <a:xfrm xmlns:a="http://schemas.openxmlformats.org/drawingml/2006/main">
            <a:off x="723900" y="40005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2030"/>
                </a:solidFill>
                <a:latin typeface="Arial"/>
                <a:ea typeface="Arial"/>
                <a:cs typeface="Arial"/>
              </a:defRPr>
            </a:pPr>
            <a:r>
              <a:rPr sz="2175" b="0">
                <a:solidFill>
                  <a:srgbClr val="172030"/>
                </a:solidFill>
                <a:latin typeface="Arial"/>
                <a:ea typeface="Arial"/>
                <a:cs typeface="Arial"/>
              </a:rPr>
              <a:t>Нақтылаңыз: «Маған хабарлама мәтіні ғана керек».</a:t>
            </a:r>
          </a:p>
        </p:txBody>
      </p:sp>
      <p:sp>
        <p:nvSpPr>
          <p:cNvPr id="6" name="Text Жаңа чат бастаңыз немесе бас">
            <a:extLst xmlns:a="http://schemas.openxmlformats.org/drawingml/2006/main">
              <a:ext uri="{FF2B5EF4-FFF2-40B4-BE49-F238E27FC236}">
                <a16:creationId xmlns:a16="http://schemas.microsoft.com/office/drawing/2014/main" id="{DDB6A357-B61E-46CB-86C2-A2AE35BE8EB3}"/>
              </a:ext>
            </a:extLst>
          </p:cNvPr>
          <p:cNvSpPr>
            <a:spLocks xmlns:a="http://schemas.openxmlformats.org/drawingml/2006/main" noGrp="1"/>
          </p:cNvSpPr>
          <p:nvPr/>
        </p:nvSpPr>
        <p:spPr>
          <a:xfrm xmlns:a="http://schemas.openxmlformats.org/drawingml/2006/main">
            <a:off x="723900" y="47148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2030"/>
                </a:solidFill>
                <a:latin typeface="Arial"/>
                <a:ea typeface="Arial"/>
                <a:cs typeface="Arial"/>
              </a:defRPr>
            </a:pPr>
            <a:r>
              <a:rPr sz="2175" b="0">
                <a:solidFill>
                  <a:srgbClr val="172030"/>
                </a:solidFill>
                <a:latin typeface="Arial"/>
                <a:ea typeface="Arial"/>
                <a:cs typeface="Arial"/>
              </a:rPr>
              <a:t>Жаңа чат бастаңыз немесе басқа сервисті көріңіз.</a:t>
            </a:r>
          </a:p>
        </p:txBody>
      </p:sp>
      <p:sp>
        <p:nvSpPr>
          <p:cNvPr id="7" name="Text Жауап келгенде: «Қысқа әрі қ">
            <a:extLst xmlns:a="http://schemas.openxmlformats.org/drawingml/2006/main">
              <a:ext uri="{FF2B5EF4-FFF2-40B4-BE49-F238E27FC236}">
                <a16:creationId xmlns:a16="http://schemas.microsoft.com/office/drawing/2014/main" id="{56FC5F59-3CFE-458E-A3B8-BE01CEC6E077}"/>
              </a:ext>
            </a:extLst>
          </p:cNvPr>
          <p:cNvSpPr>
            <a:spLocks xmlns:a="http://schemas.openxmlformats.org/drawingml/2006/main" noGrp="1"/>
          </p:cNvSpPr>
          <p:nvPr/>
        </p:nvSpPr>
        <p:spPr>
          <a:xfrm xmlns:a="http://schemas.openxmlformats.org/drawingml/2006/main">
            <a:off x="723900" y="542925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2030"/>
                </a:solidFill>
                <a:latin typeface="Arial"/>
                <a:ea typeface="Arial"/>
                <a:cs typeface="Arial"/>
              </a:defRPr>
            </a:pPr>
            <a:r>
              <a:rPr sz="2175" b="0">
                <a:solidFill>
                  <a:srgbClr val="172030"/>
                </a:solidFill>
                <a:latin typeface="Arial"/>
                <a:ea typeface="Arial"/>
                <a:cs typeface="Arial"/>
              </a:rPr>
              <a:t>Жауап келгенде: «Қысқа әрі қарапайым етіп жаз».</a:t>
            </a:r>
          </a:p>
        </p:txBody>
      </p:sp>
    </p:spTree>
    <p:extLst>
      <p:ext uri="{BB962C8B-B14F-4D97-AF65-F5344CB8AC3E}">
        <p14:creationId xmlns:p14="http://schemas.microsoft.com/office/powerpoint/2010/main" val="2084439846"/>
      </p:ext>
    </p:extLst>
  </p:cSld>
</p:sld>
</file>

<file path=ppt/slides/slide8.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9" name="Text Екі тілдегі хабарлама">
            <a:extLst xmlns:a="http://schemas.openxmlformats.org/drawingml/2006/main">
              <a:ext uri="{FF2B5EF4-FFF2-40B4-BE49-F238E27FC236}">
                <a16:creationId xmlns:a16="http://schemas.microsoft.com/office/drawing/2014/main" id="{32809E77-9F70-43C9-9F07-AEF1EF703B39}"/>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Екі тілдегі хабарлама</a:t>
            </a:r>
          </a:p>
        </p:txBody>
      </p:sp>
      <p:sp>
        <p:nvSpPr>
          <p:cNvPr id="2" name="Text 07">
            <a:extLst xmlns:a="http://schemas.openxmlformats.org/drawingml/2006/main">
              <a:ext uri="{FF2B5EF4-FFF2-40B4-BE49-F238E27FC236}">
                <a16:creationId xmlns:a16="http://schemas.microsoft.com/office/drawing/2014/main" id="{7E17DFDB-5060-4590-829C-52392B2AA025}"/>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08</a:t>
            </a:r>
          </a:p>
        </p:txBody>
      </p:sp>
      <p:sp>
        <p:nvSpPr>
          <p:cNvPr id="3" name="Text Оқу үлгілері">
            <a:extLst xmlns:a="http://schemas.openxmlformats.org/drawingml/2006/main">
              <a:ext uri="{FF2B5EF4-FFF2-40B4-BE49-F238E27FC236}">
                <a16:creationId xmlns:a16="http://schemas.microsoft.com/office/drawing/2014/main" id="{DF5F2477-A20B-4293-A0AF-ABA00B063E45}"/>
              </a:ext>
            </a:extLst>
          </p:cNvPr>
          <p:cNvSpPr>
            <a:spLocks xmlns:a="http://schemas.openxmlformats.org/drawingml/2006/main" noGrp="1"/>
          </p:cNvSpPr>
          <p:nvPr/>
        </p:nvSpPr>
        <p:spPr>
          <a:xfrm xmlns:a="http://schemas.openxmlformats.org/drawingml/2006/main">
            <a:off x="704850" y="1476375"/>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96273"/>
                </a:solidFill>
                <a:latin typeface="Arial"/>
                <a:ea typeface="Arial"/>
                <a:cs typeface="Arial"/>
              </a:defRPr>
            </a:pPr>
            <a:r>
              <a:rPr sz="1875" b="0">
                <a:solidFill>
                  <a:srgbClr val="596273"/>
                </a:solidFill>
                <a:latin typeface="Arial"/>
                <a:ea typeface="Arial"/>
                <a:cs typeface="Arial"/>
              </a:rPr>
              <a:t>Оқу үлгілері</a:t>
            </a:r>
          </a:p>
        </p:txBody>
      </p:sp>
      <p:sp>
        <p:nvSpPr>
          <p:cNvPr id="4" name="Text Русский">
            <a:extLst xmlns:a="http://schemas.openxmlformats.org/drawingml/2006/main">
              <a:ext uri="{FF2B5EF4-FFF2-40B4-BE49-F238E27FC236}">
                <a16:creationId xmlns:a16="http://schemas.microsoft.com/office/drawing/2014/main" id="{C007AB1F-6BF5-475D-ACF2-0A2884C9E19D}"/>
              </a:ext>
            </a:extLst>
          </p:cNvPr>
          <p:cNvSpPr>
            <a:spLocks xmlns:a="http://schemas.openxmlformats.org/drawingml/2006/main" noGrp="1"/>
          </p:cNvSpPr>
          <p:nvPr/>
        </p:nvSpPr>
        <p:spPr>
          <a:xfrm xmlns:a="http://schemas.openxmlformats.org/drawingml/2006/main">
            <a:off x="704850" y="21431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456B24"/>
                </a:solidFill>
                <a:latin typeface="Arial"/>
                <a:ea typeface="Arial"/>
                <a:cs typeface="Arial"/>
              </a:defRPr>
            </a:pPr>
            <a:r>
              <a:rPr sz="2100" b="1">
                <a:solidFill>
                  <a:srgbClr val="456B24"/>
                </a:solidFill>
                <a:latin typeface="Arial"/>
                <a:ea typeface="Arial"/>
                <a:cs typeface="Arial"/>
              </a:rPr>
              <a:t>Русский</a:t>
            </a:r>
          </a:p>
        </p:txBody>
      </p:sp>
      <p:sp>
        <p:nvSpPr>
          <p:cNvPr id="5" name="Text Қазақша">
            <a:extLst xmlns:a="http://schemas.openxmlformats.org/drawingml/2006/main">
              <a:ext uri="{FF2B5EF4-FFF2-40B4-BE49-F238E27FC236}">
                <a16:creationId xmlns:a16="http://schemas.microsoft.com/office/drawing/2014/main" id="{6171D0A1-C2F2-4DFA-BD38-786311070D6E}"/>
              </a:ext>
            </a:extLst>
          </p:cNvPr>
          <p:cNvSpPr>
            <a:spLocks xmlns:a="http://schemas.openxmlformats.org/drawingml/2006/main" noGrp="1"/>
          </p:cNvSpPr>
          <p:nvPr/>
        </p:nvSpPr>
        <p:spPr>
          <a:xfrm xmlns:a="http://schemas.openxmlformats.org/drawingml/2006/main">
            <a:off x="6572250" y="21431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456B24"/>
                </a:solidFill>
                <a:latin typeface="Arial"/>
                <a:ea typeface="Arial"/>
                <a:cs typeface="Arial"/>
              </a:defRPr>
            </a:pPr>
            <a:r>
              <a:rPr sz="2100" b="1">
                <a:solidFill>
                  <a:srgbClr val="456B24"/>
                </a:solidFill>
                <a:latin typeface="Arial"/>
                <a:ea typeface="Arial"/>
                <a:cs typeface="Arial"/>
              </a:rPr>
              <a:t>Қазақша</a:t>
            </a:r>
          </a:p>
        </p:txBody>
      </p:sp>
      <p:sp>
        <p:nvSpPr>
          <p:cNvPr id="6" name="Text Здравствуйте! Можно перенест">
            <a:extLst xmlns:a="http://schemas.openxmlformats.org/drawingml/2006/main">
              <a:ext uri="{FF2B5EF4-FFF2-40B4-BE49-F238E27FC236}">
                <a16:creationId xmlns:a16="http://schemas.microsoft.com/office/drawing/2014/main" id="{9D0A0964-5F73-40CE-B298-4821D689BF93}"/>
              </a:ext>
            </a:extLst>
          </p:cNvPr>
          <p:cNvSpPr>
            <a:spLocks xmlns:a="http://schemas.openxmlformats.org/drawingml/2006/main" noGrp="1"/>
          </p:cNvSpPr>
          <p:nvPr/>
        </p:nvSpPr>
        <p:spPr>
          <a:xfrm xmlns:a="http://schemas.openxmlformats.org/drawingml/2006/main">
            <a:off x="704850" y="2790825"/>
            <a:ext cx="471487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0">
                <a:solidFill>
                  <a:srgbClr val="172030"/>
                </a:solidFill>
                <a:latin typeface="Arial"/>
                <a:ea typeface="Arial"/>
                <a:cs typeface="Arial"/>
              </a:defRPr>
            </a:pPr>
            <a:r>
              <a:rPr sz="2625" b="0">
                <a:solidFill>
                  <a:srgbClr val="172030"/>
                </a:solidFill>
                <a:latin typeface="Arial"/>
                <a:ea typeface="Arial"/>
                <a:cs typeface="Arial"/>
              </a:rPr>
              <a:t>Здравствуйте! Можно перенести нашу встречу с 15:00 на 16:00? Спасибо!</a:t>
            </a:r>
          </a:p>
        </p:txBody>
      </p:sp>
      <p:sp>
        <p:nvSpPr>
          <p:cNvPr id="7" name="Text Сәлеметсіз бе! Кездесуімізді">
            <a:extLst xmlns:a="http://schemas.openxmlformats.org/drawingml/2006/main">
              <a:ext uri="{FF2B5EF4-FFF2-40B4-BE49-F238E27FC236}">
                <a16:creationId xmlns:a16="http://schemas.microsoft.com/office/drawing/2014/main" id="{C5925711-A1AD-4FE2-ABF7-FF1BB1C21C1A}"/>
              </a:ext>
            </a:extLst>
          </p:cNvPr>
          <p:cNvSpPr>
            <a:spLocks xmlns:a="http://schemas.openxmlformats.org/drawingml/2006/main" noGrp="1"/>
          </p:cNvSpPr>
          <p:nvPr/>
        </p:nvSpPr>
        <p:spPr>
          <a:xfrm xmlns:a="http://schemas.openxmlformats.org/drawingml/2006/main">
            <a:off x="6572250" y="2790825"/>
            <a:ext cx="47148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0">
                <a:solidFill>
                  <a:srgbClr val="172030"/>
                </a:solidFill>
                <a:latin typeface="Arial"/>
                <a:ea typeface="Arial"/>
                <a:cs typeface="Arial"/>
              </a:defRPr>
            </a:pPr>
            <a:r>
              <a:rPr sz="2625" b="0">
                <a:solidFill>
                  <a:srgbClr val="172030"/>
                </a:solidFill>
                <a:latin typeface="Arial"/>
                <a:ea typeface="Arial"/>
                <a:cs typeface="Arial"/>
              </a:rPr>
              <a:t>Сәлеметсіз бе! Кездесуімізді 15:00-ден 16:00-ге ауыстыруға бола ма? Рақмет!</a:t>
            </a:r>
          </a:p>
        </p:txBody>
      </p:sp>
      <p:sp>
        <p:nvSpPr>
          <p:cNvPr id="8" name="Text Тексеру: уақыт, өтініш және ">
            <a:extLst xmlns:a="http://schemas.openxmlformats.org/drawingml/2006/main">
              <a:ext uri="{FF2B5EF4-FFF2-40B4-BE49-F238E27FC236}">
                <a16:creationId xmlns:a16="http://schemas.microsoft.com/office/drawing/2014/main" id="{CC75D355-4019-4D89-BA44-6C9BCDE4D870}"/>
              </a:ext>
            </a:extLst>
          </p:cNvPr>
          <p:cNvSpPr>
            <a:spLocks xmlns:a="http://schemas.openxmlformats.org/drawingml/2006/main" noGrp="1"/>
          </p:cNvSpPr>
          <p:nvPr/>
        </p:nvSpPr>
        <p:spPr>
          <a:xfrm xmlns:a="http://schemas.openxmlformats.org/drawingml/2006/main">
            <a:off x="704850" y="5429250"/>
            <a:ext cx="1071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456B24"/>
                </a:solidFill>
                <a:latin typeface="Arial"/>
                <a:ea typeface="Arial"/>
                <a:cs typeface="Arial"/>
              </a:defRPr>
            </a:pPr>
            <a:r>
              <a:rPr sz="2250" b="1">
                <a:solidFill>
                  <a:srgbClr val="456B24"/>
                </a:solidFill>
                <a:latin typeface="Arial"/>
                <a:ea typeface="Arial"/>
                <a:cs typeface="Arial"/>
              </a:rPr>
              <a:t>Тексеру: уақыт, өтініш және мағына бірдей.</a:t>
            </a:r>
          </a:p>
        </p:txBody>
      </p:sp>
    </p:spTree>
    <p:extLst>
      <p:ext uri="{BB962C8B-B14F-4D97-AF65-F5344CB8AC3E}">
        <p14:creationId xmlns:p14="http://schemas.microsoft.com/office/powerpoint/2010/main" val="1174343478"/>
      </p:ext>
    </p:extLst>
  </p:cSld>
</p:sld>
</file>

<file path=ppt/slides/slide9.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6" name="Text Фото не файл: неден бастау к">
            <a:extLst xmlns:a="http://schemas.openxmlformats.org/drawingml/2006/main">
              <a:ext uri="{FF2B5EF4-FFF2-40B4-BE49-F238E27FC236}">
                <a16:creationId xmlns:a16="http://schemas.microsoft.com/office/drawing/2014/main" id="{AB4A80F1-97B8-4FF7-A206-6FC329637ADF}"/>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Фото не файл: неден бастау керек</a:t>
            </a:r>
          </a:p>
        </p:txBody>
      </p:sp>
      <p:sp>
        <p:nvSpPr>
          <p:cNvPr id="2" name="Text 08">
            <a:extLst xmlns:a="http://schemas.openxmlformats.org/drawingml/2006/main">
              <a:ext uri="{FF2B5EF4-FFF2-40B4-BE49-F238E27FC236}">
                <a16:creationId xmlns:a16="http://schemas.microsoft.com/office/drawing/2014/main" id="{170C1AE1-2E28-4D80-B23A-5F9F007FF9D8}"/>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09</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edfb651f99b4e5f"/>
          <a:stretch xmlns:a="http://schemas.openxmlformats.org/drawingml/2006/main"/>
        </p:blipFill>
        <p:spPr>
          <a:xfrm xmlns:a="http://schemas.openxmlformats.org/drawingml/2006/main">
            <a:off x="704850" y="1462775"/>
            <a:ext cx="6477000" cy="4313450"/>
          </a:xfrm>
          <a:prstGeom xmlns:a="http://schemas.openxmlformats.org/drawingml/2006/main" prst="rect">
            <a:avLst/>
          </a:prstGeom>
        </p:spPr>
      </p:pic>
      <p:sp>
        <p:nvSpPr>
          <p:cNvPr id="4" name="Text 1. «+» батырмасын ашыңыз.&#10;&#10;2">
            <a:extLst xmlns:a="http://schemas.openxmlformats.org/drawingml/2006/main">
              <a:ext uri="{FF2B5EF4-FFF2-40B4-BE49-F238E27FC236}">
                <a16:creationId xmlns:a16="http://schemas.microsoft.com/office/drawing/2014/main" id="{AA47707F-9C52-4A37-A4CA-5F68134B40E4}"/>
              </a:ext>
            </a:extLst>
          </p:cNvPr>
          <p:cNvSpPr>
            <a:spLocks xmlns:a="http://schemas.openxmlformats.org/drawingml/2006/main" noGrp="1"/>
          </p:cNvSpPr>
          <p:nvPr/>
        </p:nvSpPr>
        <p:spPr>
          <a:xfrm xmlns:a="http://schemas.openxmlformats.org/drawingml/2006/main">
            <a:off x="7524750" y="1524000"/>
            <a:ext cx="40005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2030"/>
                </a:solidFill>
                <a:latin typeface="Arial"/>
                <a:ea typeface="Arial"/>
                <a:cs typeface="Arial"/>
              </a:defRPr>
            </a:pPr>
            <a:r>
              <a:rPr sz="2175" b="0">
                <a:solidFill>
                  <a:srgbClr val="172030"/>
                </a:solidFill>
                <a:latin typeface="Arial"/>
                <a:ea typeface="Arial"/>
                <a:cs typeface="Arial"/>
              </a:rPr>
              <a:t>1. «+» батырмасын ашыңыз.</a:t>
            </a:r>
          </a:p>
          <a:p xmlns:a="http://schemas.openxmlformats.org/drawingml/2006/main">
            <a:r>
              <a:t/>
            </a:r>
          </a:p>
          <a:p xmlns:a="http://schemas.openxmlformats.org/drawingml/2006/main">
            <a:pPr>
              <a:buNone/>
              <a:defRPr sz="2175" b="0">
                <a:solidFill>
                  <a:srgbClr val="172030"/>
                </a:solidFill>
                <a:latin typeface="Arial"/>
                <a:ea typeface="Arial"/>
                <a:cs typeface="Arial"/>
              </a:defRPr>
            </a:pPr>
            <a:r>
              <a:rPr sz="2175" b="0">
                <a:solidFill>
                  <a:srgbClr val="172030"/>
                </a:solidFill>
                <a:latin typeface="Arial"/>
                <a:ea typeface="Arial"/>
                <a:cs typeface="Arial"/>
              </a:rPr>
              <a:t>2. Сервис сұраса, аккаунтқа кіріңіз.</a:t>
            </a:r>
          </a:p>
          <a:p xmlns:a="http://schemas.openxmlformats.org/drawingml/2006/main">
            <a:r>
              <a:t/>
            </a:r>
          </a:p>
          <a:p xmlns:a="http://schemas.openxmlformats.org/drawingml/2006/main">
            <a:pPr>
              <a:buNone/>
              <a:defRPr sz="2175" b="0">
                <a:solidFill>
                  <a:srgbClr val="172030"/>
                </a:solidFill>
                <a:latin typeface="Arial"/>
                <a:ea typeface="Arial"/>
                <a:cs typeface="Arial"/>
              </a:defRPr>
            </a:pPr>
            <a:r>
              <a:rPr sz="2175" b="0">
                <a:solidFill>
                  <a:srgbClr val="172030"/>
                </a:solidFill>
                <a:latin typeface="Arial"/>
                <a:ea typeface="Arial"/>
                <a:cs typeface="Arial"/>
              </a:rPr>
              <a:t>3. Оқу фотоңызды немесе файлыңызды таңдаңыз.</a:t>
            </a:r>
          </a:p>
        </p:txBody>
      </p:sp>
      <p:sp>
        <p:nvSpPr>
          <p:cNvPr id="5" name="Text Функция қолжетімсіз бе? Мәті">
            <a:extLst xmlns:a="http://schemas.openxmlformats.org/drawingml/2006/main">
              <a:ext uri="{FF2B5EF4-FFF2-40B4-BE49-F238E27FC236}">
                <a16:creationId xmlns:a16="http://schemas.microsoft.com/office/drawing/2014/main" id="{B7913B13-CF26-4549-A762-A503C32254C8}"/>
              </a:ext>
            </a:extLst>
          </p:cNvPr>
          <p:cNvSpPr>
            <a:spLocks xmlns:a="http://schemas.openxmlformats.org/drawingml/2006/main" noGrp="1"/>
          </p:cNvSpPr>
          <p:nvPr/>
        </p:nvSpPr>
        <p:spPr>
          <a:xfrm xmlns:a="http://schemas.openxmlformats.org/drawingml/2006/main">
            <a:off x="704850" y="59055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96273"/>
                </a:solidFill>
                <a:latin typeface="Arial"/>
                <a:ea typeface="Arial"/>
                <a:cs typeface="Arial"/>
              </a:defRPr>
            </a:pPr>
            <a:r>
              <a:rPr sz="1875" b="0">
                <a:solidFill>
                  <a:srgbClr val="596273"/>
                </a:solidFill>
                <a:latin typeface="Arial"/>
                <a:ea typeface="Arial"/>
                <a:cs typeface="Arial"/>
              </a:rPr>
              <a:t>Функция қолжетімсіз бе? Мәтінді қолмен енгізіңіз.</a:t>
            </a:r>
          </a:p>
        </p:txBody>
      </p:sp>
    </p:spTree>
    <p:extLst>
      <p:ext uri="{BB962C8B-B14F-4D97-AF65-F5344CB8AC3E}">
        <p14:creationId xmlns:p14="http://schemas.microsoft.com/office/powerpoint/2010/main" val="762201129"/>
      </p:ext>
    </p:extLst>
  </p:cSld>
</p:sld>
</file>

<file path=ppt/slides/slide10.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7" name="Text Хабарландырудың түсінікті жа">
            <a:extLst xmlns:a="http://schemas.openxmlformats.org/drawingml/2006/main">
              <a:ext uri="{FF2B5EF4-FFF2-40B4-BE49-F238E27FC236}">
                <a16:creationId xmlns:a16="http://schemas.microsoft.com/office/drawing/2014/main" id="{F1A668F6-46F7-4CEC-B30D-FADC5ABC3F21}"/>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Хабарландырудың түсінікті жауабы</a:t>
            </a:r>
          </a:p>
        </p:txBody>
      </p:sp>
      <p:sp>
        <p:nvSpPr>
          <p:cNvPr id="2" name="Text 09">
            <a:extLst xmlns:a="http://schemas.openxmlformats.org/drawingml/2006/main">
              <a:ext uri="{FF2B5EF4-FFF2-40B4-BE49-F238E27FC236}">
                <a16:creationId xmlns:a16="http://schemas.microsoft.com/office/drawing/2014/main" id="{9E062AC3-8EBD-480E-938F-ACA666337D6B}"/>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10</a:t>
            </a:r>
          </a:p>
        </p:txBody>
      </p:sp>
      <p:sp>
        <p:nvSpPr>
          <p:cNvPr id="3" name="Text Оқу хабарландыруы">
            <a:extLst xmlns:a="http://schemas.openxmlformats.org/drawingml/2006/main">
              <a:ext uri="{FF2B5EF4-FFF2-40B4-BE49-F238E27FC236}">
                <a16:creationId xmlns:a16="http://schemas.microsoft.com/office/drawing/2014/main" id="{5926038D-89C5-4634-B143-C2AEF26E49A1}"/>
              </a:ext>
            </a:extLst>
          </p:cNvPr>
          <p:cNvSpPr>
            <a:spLocks xmlns:a="http://schemas.openxmlformats.org/drawingml/2006/main" noGrp="1"/>
          </p:cNvSpPr>
          <p:nvPr/>
        </p:nvSpPr>
        <p:spPr>
          <a:xfrm xmlns:a="http://schemas.openxmlformats.org/drawingml/2006/main">
            <a:off x="704850" y="14763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96273"/>
                </a:solidFill>
                <a:latin typeface="Arial"/>
                <a:ea typeface="Arial"/>
                <a:cs typeface="Arial"/>
              </a:defRPr>
            </a:pPr>
            <a:r>
              <a:rPr sz="1875" b="0">
                <a:solidFill>
                  <a:srgbClr val="596273"/>
                </a:solidFill>
                <a:latin typeface="Arial"/>
                <a:ea typeface="Arial"/>
                <a:cs typeface="Arial"/>
              </a:rPr>
              <a:t>Оқу хабарландыруы</a:t>
            </a:r>
          </a:p>
        </p:txBody>
      </p:sp>
      <p:sp>
        <p:nvSpPr>
          <p:cNvPr id="4" name="Text Кітап клубы&#10;25 қыркүйек, 18:">
            <a:extLst xmlns:a="http://schemas.openxmlformats.org/drawingml/2006/main">
              <a:ext uri="{FF2B5EF4-FFF2-40B4-BE49-F238E27FC236}">
                <a16:creationId xmlns:a16="http://schemas.microsoft.com/office/drawing/2014/main" id="{9B8142AD-6FE9-4872-B5D4-6E5FC9CD158C}"/>
              </a:ext>
            </a:extLst>
          </p:cNvPr>
          <p:cNvSpPr>
            <a:spLocks xmlns:a="http://schemas.openxmlformats.org/drawingml/2006/main" noGrp="1"/>
          </p:cNvSpPr>
          <p:nvPr/>
        </p:nvSpPr>
        <p:spPr>
          <a:xfrm xmlns:a="http://schemas.openxmlformats.org/drawingml/2006/main">
            <a:off x="704850" y="2124075"/>
            <a:ext cx="5143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456B24"/>
                </a:solidFill>
                <a:latin typeface="Arial"/>
                <a:ea typeface="Arial"/>
                <a:cs typeface="Arial"/>
              </a:defRPr>
            </a:pPr>
            <a:r>
              <a:rPr sz="2550" b="1">
                <a:solidFill>
                  <a:srgbClr val="456B24"/>
                </a:solidFill>
                <a:latin typeface="Arial"/>
                <a:ea typeface="Arial"/>
                <a:cs typeface="Arial"/>
              </a:rPr>
              <a:t>Кітап клубы</a:t>
            </a:r>
          </a:p>
          <a:p xmlns:a="http://schemas.openxmlformats.org/drawingml/2006/main">
            <a:pPr>
              <a:buNone/>
              <a:defRPr sz="2550" b="1">
                <a:solidFill>
                  <a:srgbClr val="456B24"/>
                </a:solidFill>
                <a:latin typeface="Arial"/>
                <a:ea typeface="Arial"/>
                <a:cs typeface="Arial"/>
              </a:defRPr>
            </a:pPr>
            <a:r>
              <a:rPr sz="2550" b="1">
                <a:solidFill>
                  <a:srgbClr val="456B24"/>
                </a:solidFill>
                <a:latin typeface="Arial"/>
                <a:ea typeface="Arial"/>
                <a:cs typeface="Arial"/>
              </a:rPr>
              <a:t>25 қыркүйек, 18:00</a:t>
            </a:r>
          </a:p>
          <a:p xmlns:a="http://schemas.openxmlformats.org/drawingml/2006/main">
            <a:pPr>
              <a:buNone/>
              <a:defRPr sz="2550" b="1">
                <a:solidFill>
                  <a:srgbClr val="456B24"/>
                </a:solidFill>
                <a:latin typeface="Arial"/>
                <a:ea typeface="Arial"/>
                <a:cs typeface="Arial"/>
              </a:defRPr>
            </a:pPr>
            <a:r>
              <a:rPr sz="2550" b="1">
                <a:solidFill>
                  <a:srgbClr val="456B24"/>
                </a:solidFill>
                <a:latin typeface="Arial"/>
                <a:ea typeface="Arial"/>
                <a:cs typeface="Arial"/>
              </a:rPr>
              <a:t>№ 2 зал</a:t>
            </a:r>
          </a:p>
          <a:p xmlns:a="http://schemas.openxmlformats.org/drawingml/2006/main">
            <a:pPr>
              <a:buNone/>
              <a:defRPr sz="2550" b="1">
                <a:solidFill>
                  <a:srgbClr val="456B24"/>
                </a:solidFill>
                <a:latin typeface="Arial"/>
                <a:ea typeface="Arial"/>
                <a:cs typeface="Arial"/>
              </a:defRPr>
            </a:pPr>
            <a:r>
              <a:rPr sz="2550" b="1">
                <a:solidFill>
                  <a:srgbClr val="456B24"/>
                </a:solidFill>
                <a:latin typeface="Arial"/>
                <a:ea typeface="Arial"/>
                <a:cs typeface="Arial"/>
              </a:rPr>
              <a:t>Өзіңізбен сүйікті кітабыңызды алыңыз</a:t>
            </a:r>
          </a:p>
        </p:txBody>
      </p:sp>
      <p:sp>
        <p:nvSpPr>
          <p:cNvPr id="5" name="Text Сұрау:&#10;«Қарапайым сөзбен түс">
            <a:extLst xmlns:a="http://schemas.openxmlformats.org/drawingml/2006/main">
              <a:ext uri="{FF2B5EF4-FFF2-40B4-BE49-F238E27FC236}">
                <a16:creationId xmlns:a16="http://schemas.microsoft.com/office/drawing/2014/main" id="{09152164-A7B0-4604-952B-F0942341EC02}"/>
              </a:ext>
            </a:extLst>
          </p:cNvPr>
          <p:cNvSpPr>
            <a:spLocks xmlns:a="http://schemas.openxmlformats.org/drawingml/2006/main" noGrp="1"/>
          </p:cNvSpPr>
          <p:nvPr/>
        </p:nvSpPr>
        <p:spPr>
          <a:xfrm xmlns:a="http://schemas.openxmlformats.org/drawingml/2006/main">
            <a:off x="6667500" y="2124075"/>
            <a:ext cx="4714875"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72030"/>
                </a:solidFill>
                <a:latin typeface="Arial"/>
                <a:ea typeface="Arial"/>
                <a:cs typeface="Arial"/>
              </a:defRPr>
            </a:pPr>
            <a:r>
              <a:rPr sz="2325" b="0">
                <a:solidFill>
                  <a:srgbClr val="172030"/>
                </a:solidFill>
                <a:latin typeface="Arial"/>
                <a:ea typeface="Arial"/>
                <a:cs typeface="Arial"/>
              </a:rPr>
              <a:t>Сұрау:</a:t>
            </a:r>
          </a:p>
          <a:p xmlns:a="http://schemas.openxmlformats.org/drawingml/2006/main">
            <a:pPr>
              <a:buNone/>
              <a:defRPr sz="2325" b="0">
                <a:solidFill>
                  <a:srgbClr val="172030"/>
                </a:solidFill>
                <a:latin typeface="Arial"/>
                <a:ea typeface="Arial"/>
                <a:cs typeface="Arial"/>
              </a:defRPr>
            </a:pPr>
            <a:r>
              <a:rPr sz="2325" b="0">
                <a:solidFill>
                  <a:srgbClr val="172030"/>
                </a:solidFill>
                <a:latin typeface="Arial"/>
                <a:ea typeface="Arial"/>
                <a:cs typeface="Arial"/>
              </a:rPr>
              <a:t>«Қарапайым сөзбен түсіндір. Күнін, уақытын, орнын және не істеу керегін бөлек жаз». </a:t>
            </a:r>
          </a:p>
        </p:txBody>
      </p:sp>
      <p:sp>
        <p:nvSpPr>
          <p:cNvPr id="6" name="Text Төрт мәліметті бастапқы хаба">
            <a:extLst xmlns:a="http://schemas.openxmlformats.org/drawingml/2006/main">
              <a:ext uri="{FF2B5EF4-FFF2-40B4-BE49-F238E27FC236}">
                <a16:creationId xmlns:a16="http://schemas.microsoft.com/office/drawing/2014/main" id="{74C6AE7C-985E-41FD-92B7-12988737ABDC}"/>
              </a:ext>
            </a:extLst>
          </p:cNvPr>
          <p:cNvSpPr>
            <a:spLocks xmlns:a="http://schemas.openxmlformats.org/drawingml/2006/main" noGrp="1"/>
          </p:cNvSpPr>
          <p:nvPr/>
        </p:nvSpPr>
        <p:spPr>
          <a:xfrm xmlns:a="http://schemas.openxmlformats.org/drawingml/2006/main">
            <a:off x="704850" y="5400675"/>
            <a:ext cx="10715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72030"/>
                </a:solidFill>
                <a:latin typeface="Arial"/>
                <a:ea typeface="Arial"/>
                <a:cs typeface="Arial"/>
              </a:defRPr>
            </a:pPr>
            <a:r>
              <a:rPr sz="2325" b="0">
                <a:solidFill>
                  <a:srgbClr val="172030"/>
                </a:solidFill>
                <a:latin typeface="Arial"/>
                <a:ea typeface="Arial"/>
                <a:cs typeface="Arial"/>
              </a:rPr>
              <a:t>Төрт мәліметті бастапқы хабарландырумен салыстырамыз.</a:t>
            </a:r>
          </a:p>
        </p:txBody>
      </p:sp>
    </p:spTree>
    <p:extLst>
      <p:ext uri="{BB962C8B-B14F-4D97-AF65-F5344CB8AC3E}">
        <p14:creationId xmlns:p14="http://schemas.microsoft.com/office/powerpoint/2010/main" val="252441295"/>
      </p:ext>
    </p:extLst>
  </p:cSld>
</p:sld>
</file>

<file path=ppt/slides/slide11.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6" name="Text Gemini: құжат бойынша сұрақ">
            <a:extLst xmlns:a="http://schemas.openxmlformats.org/drawingml/2006/main">
              <a:ext uri="{FF2B5EF4-FFF2-40B4-BE49-F238E27FC236}">
                <a16:creationId xmlns:a16="http://schemas.microsoft.com/office/drawing/2014/main" id="{E2E23894-9D99-487B-8ADE-1605C9462A81}"/>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Gemini: құжат бойынша сұрақ</a:t>
            </a:r>
          </a:p>
        </p:txBody>
      </p:sp>
      <p:sp>
        <p:nvSpPr>
          <p:cNvPr id="2" name="Text 10">
            <a:extLst xmlns:a="http://schemas.openxmlformats.org/drawingml/2006/main">
              <a:ext uri="{FF2B5EF4-FFF2-40B4-BE49-F238E27FC236}">
                <a16:creationId xmlns:a16="http://schemas.microsoft.com/office/drawing/2014/main" id="{59151444-B7AC-4CA4-8863-83E8E52BCACD}"/>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11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018c01e0d17401f"/>
          <a:srcRect xmlns:a="http://schemas.openxmlformats.org/drawingml/2006/main" l="0" t="30492" r="0" b="30492"/>
          <a:stretch xmlns:a="http://schemas.openxmlformats.org/drawingml/2006/main">
            <a:fillRect l="0" t="0" r="0" b="0"/>
          </a:stretch>
        </p:blipFill>
        <p:spPr>
          <a:xfrm xmlns:a="http://schemas.openxmlformats.org/drawingml/2006/main">
            <a:off x="704850" y="1524000"/>
            <a:ext cx="10763250" cy="2362200"/>
          </a:xfrm>
          <a:prstGeom xmlns:a="http://schemas.openxmlformats.org/drawingml/2006/main" prst="rect">
            <a:avLst/>
          </a:prstGeom>
        </p:spPr>
      </p:pic>
      <p:sp>
        <p:nvSpPr>
          <p:cNvPr id="4" name="Text «Негізгі ойды айт. Жауап қай">
            <a:extLst xmlns:a="http://schemas.openxmlformats.org/drawingml/2006/main">
              <a:ext uri="{FF2B5EF4-FFF2-40B4-BE49-F238E27FC236}">
                <a16:creationId xmlns:a16="http://schemas.microsoft.com/office/drawing/2014/main" id="{9AB837B6-E1A9-46DA-B244-AE81DFAD02EB}"/>
              </a:ext>
            </a:extLst>
          </p:cNvPr>
          <p:cNvSpPr>
            <a:spLocks xmlns:a="http://schemas.openxmlformats.org/drawingml/2006/main" noGrp="1"/>
          </p:cNvSpPr>
          <p:nvPr/>
        </p:nvSpPr>
        <p:spPr>
          <a:xfrm xmlns:a="http://schemas.openxmlformats.org/drawingml/2006/main">
            <a:off x="704850" y="419100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456B24"/>
                </a:solidFill>
                <a:latin typeface="Arial"/>
                <a:ea typeface="Arial"/>
                <a:cs typeface="Arial"/>
              </a:defRPr>
            </a:pPr>
            <a:r>
              <a:rPr sz="2550" b="1">
                <a:solidFill>
                  <a:srgbClr val="456B24"/>
                </a:solidFill>
                <a:latin typeface="Arial"/>
                <a:ea typeface="Arial"/>
                <a:cs typeface="Arial"/>
              </a:rPr>
              <a:t>«Негізгі ойды айт. Жауап қай бетте</a:t>
            </a:r>
          </a:p>
          <a:p xmlns:a="http://schemas.openxmlformats.org/drawingml/2006/main">
            <a:pPr>
              <a:buNone/>
              <a:defRPr sz="2550" b="1">
                <a:solidFill>
                  <a:srgbClr val="456B24"/>
                </a:solidFill>
                <a:latin typeface="Arial"/>
                <a:ea typeface="Arial"/>
                <a:cs typeface="Arial"/>
              </a:defRPr>
            </a:pPr>
            <a:r>
              <a:rPr sz="2550" b="1">
                <a:solidFill>
                  <a:srgbClr val="456B24"/>
                </a:solidFill>
                <a:latin typeface="Arial"/>
                <a:ea typeface="Arial"/>
                <a:cs typeface="Arial"/>
              </a:rPr>
              <a:t>немесе бөлімде екенін көрсет». </a:t>
            </a:r>
          </a:p>
        </p:txBody>
      </p:sp>
      <p:sp>
        <p:nvSpPr>
          <p:cNvPr id="5" name="Text Тексеру: құжаттағы көрсетілг">
            <a:extLst xmlns:a="http://schemas.openxmlformats.org/drawingml/2006/main">
              <a:ext uri="{FF2B5EF4-FFF2-40B4-BE49-F238E27FC236}">
                <a16:creationId xmlns:a16="http://schemas.microsoft.com/office/drawing/2014/main" id="{99F207A2-FC92-4729-83CA-2100E96F31FE}"/>
              </a:ext>
            </a:extLst>
          </p:cNvPr>
          <p:cNvSpPr>
            <a:spLocks xmlns:a="http://schemas.openxmlformats.org/drawingml/2006/main" noGrp="1"/>
          </p:cNvSpPr>
          <p:nvPr/>
        </p:nvSpPr>
        <p:spPr>
          <a:xfrm xmlns:a="http://schemas.openxmlformats.org/drawingml/2006/main">
            <a:off x="704850" y="55245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2030"/>
                </a:solidFill>
                <a:latin typeface="Arial"/>
                <a:ea typeface="Arial"/>
                <a:cs typeface="Arial"/>
              </a:defRPr>
            </a:pPr>
            <a:r>
              <a:rPr sz="2175" b="0">
                <a:solidFill>
                  <a:srgbClr val="172030"/>
                </a:solidFill>
                <a:latin typeface="Arial"/>
                <a:ea typeface="Arial"/>
                <a:cs typeface="Arial"/>
              </a:rPr>
              <a:t>Тексеру: құжаттағы көрсетілген жерді ашыңыз.</a:t>
            </a:r>
          </a:p>
        </p:txBody>
      </p:sp>
    </p:spTree>
    <p:extLst>
      <p:ext uri="{BB962C8B-B14F-4D97-AF65-F5344CB8AC3E}">
        <p14:creationId xmlns:p14="http://schemas.microsoft.com/office/powerpoint/2010/main" val="658788617"/>
      </p:ext>
    </p:extLst>
  </p:cSld>
</p:sld>
</file>

<file path=ppt/slides/slide12.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7" name="Text Сапар талаптары">
            <a:extLst xmlns:a="http://schemas.openxmlformats.org/drawingml/2006/main">
              <a:ext uri="{FF2B5EF4-FFF2-40B4-BE49-F238E27FC236}">
                <a16:creationId xmlns:a16="http://schemas.microsoft.com/office/drawing/2014/main" id="{64910CD6-1E34-4E84-A86B-0B46D928F598}"/>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Сапар талаптары</a:t>
            </a:r>
          </a:p>
        </p:txBody>
      </p:sp>
      <p:sp>
        <p:nvSpPr>
          <p:cNvPr id="2" name="Text 11">
            <a:extLst xmlns:a="http://schemas.openxmlformats.org/drawingml/2006/main">
              <a:ext uri="{FF2B5EF4-FFF2-40B4-BE49-F238E27FC236}">
                <a16:creationId xmlns:a16="http://schemas.microsoft.com/office/drawing/2014/main" id="{B8E2D661-53A7-4DA8-B5F0-13632EA6ADD2}"/>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12</a:t>
            </a:r>
          </a:p>
        </p:txBody>
      </p:sp>
      <p:sp>
        <p:nvSpPr>
          <p:cNvPr id="3" name="Text Қайда және қашан: бағыт, күн">
            <a:extLst xmlns:a="http://schemas.openxmlformats.org/drawingml/2006/main">
              <a:ext uri="{FF2B5EF4-FFF2-40B4-BE49-F238E27FC236}">
                <a16:creationId xmlns:a16="http://schemas.microsoft.com/office/drawing/2014/main" id="{5EC36CE4-4046-46A3-A993-038C86A19E5F}"/>
              </a:ext>
            </a:extLst>
          </p:cNvPr>
          <p:cNvSpPr>
            <a:spLocks xmlns:a="http://schemas.openxmlformats.org/drawingml/2006/main" noGrp="1"/>
          </p:cNvSpPr>
          <p:nvPr/>
        </p:nvSpPr>
        <p:spPr>
          <a:xfrm xmlns:a="http://schemas.openxmlformats.org/drawingml/2006/main">
            <a:off x="723900" y="1666875"/>
            <a:ext cx="10572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72030"/>
                </a:solidFill>
                <a:latin typeface="Arial"/>
                <a:ea typeface="Arial"/>
                <a:cs typeface="Arial"/>
              </a:defRPr>
            </a:pPr>
            <a:r>
              <a:rPr sz="2325" b="0">
                <a:solidFill>
                  <a:srgbClr val="172030"/>
                </a:solidFill>
                <a:latin typeface="Arial"/>
                <a:ea typeface="Arial"/>
                <a:cs typeface="Arial"/>
              </a:rPr>
              <a:t>Қайда және қашан: бағыт, күндер, жолаушылар саны</a:t>
            </a:r>
          </a:p>
        </p:txBody>
      </p:sp>
      <p:sp>
        <p:nvSpPr>
          <p:cNvPr id="4" name="Text Не қажет: багаж, қолайлы уақ">
            <a:extLst xmlns:a="http://schemas.openxmlformats.org/drawingml/2006/main">
              <a:ext uri="{FF2B5EF4-FFF2-40B4-BE49-F238E27FC236}">
                <a16:creationId xmlns:a16="http://schemas.microsoft.com/office/drawing/2014/main" id="{CC493729-CD1C-40A1-AEC1-242A25933183}"/>
              </a:ext>
            </a:extLst>
          </p:cNvPr>
          <p:cNvSpPr>
            <a:spLocks xmlns:a="http://schemas.openxmlformats.org/drawingml/2006/main" noGrp="1"/>
          </p:cNvSpPr>
          <p:nvPr/>
        </p:nvSpPr>
        <p:spPr>
          <a:xfrm xmlns:a="http://schemas.openxmlformats.org/drawingml/2006/main">
            <a:off x="723900" y="2733675"/>
            <a:ext cx="10572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72030"/>
                </a:solidFill>
                <a:latin typeface="Arial"/>
                <a:ea typeface="Arial"/>
                <a:cs typeface="Arial"/>
              </a:defRPr>
            </a:pPr>
            <a:r>
              <a:rPr sz="2325" b="0">
                <a:solidFill>
                  <a:srgbClr val="172030"/>
                </a:solidFill>
                <a:latin typeface="Arial"/>
                <a:ea typeface="Arial"/>
                <a:cs typeface="Arial"/>
              </a:rPr>
              <a:t>Не қажет: багаж, қолайлы уақыт, ауысулар</a:t>
            </a:r>
          </a:p>
        </p:txBody>
      </p:sp>
      <p:sp>
        <p:nvSpPr>
          <p:cNvPr id="5" name="Text Шектеу: бюджет және келу уақ">
            <a:extLst xmlns:a="http://schemas.openxmlformats.org/drawingml/2006/main">
              <a:ext uri="{FF2B5EF4-FFF2-40B4-BE49-F238E27FC236}">
                <a16:creationId xmlns:a16="http://schemas.microsoft.com/office/drawing/2014/main" id="{35FEEB59-E73E-4D77-A272-A99C991C9325}"/>
              </a:ext>
            </a:extLst>
          </p:cNvPr>
          <p:cNvSpPr>
            <a:spLocks xmlns:a="http://schemas.openxmlformats.org/drawingml/2006/main" noGrp="1"/>
          </p:cNvSpPr>
          <p:nvPr/>
        </p:nvSpPr>
        <p:spPr>
          <a:xfrm xmlns:a="http://schemas.openxmlformats.org/drawingml/2006/main">
            <a:off x="723900" y="3800475"/>
            <a:ext cx="10572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72030"/>
                </a:solidFill>
                <a:latin typeface="Arial"/>
                <a:ea typeface="Arial"/>
                <a:cs typeface="Arial"/>
              </a:defRPr>
            </a:pPr>
            <a:r>
              <a:rPr sz="2325" b="0">
                <a:solidFill>
                  <a:srgbClr val="172030"/>
                </a:solidFill>
                <a:latin typeface="Arial"/>
                <a:ea typeface="Arial"/>
                <a:cs typeface="Arial"/>
              </a:rPr>
              <a:t>Шектеу: бюджет және келу уақыты</a:t>
            </a:r>
          </a:p>
        </p:txBody>
      </p:sp>
      <p:sp>
        <p:nvSpPr>
          <p:cNvPr id="6" name="Text Нәтиже: нұсқалар кестесі жән">
            <a:extLst xmlns:a="http://schemas.openxmlformats.org/drawingml/2006/main">
              <a:ext uri="{FF2B5EF4-FFF2-40B4-BE49-F238E27FC236}">
                <a16:creationId xmlns:a16="http://schemas.microsoft.com/office/drawing/2014/main" id="{8A1EB3F0-9EEB-402E-8673-06B05DBB1510}"/>
              </a:ext>
            </a:extLst>
          </p:cNvPr>
          <p:cNvSpPr>
            <a:spLocks xmlns:a="http://schemas.openxmlformats.org/drawingml/2006/main" noGrp="1"/>
          </p:cNvSpPr>
          <p:nvPr/>
        </p:nvSpPr>
        <p:spPr>
          <a:xfrm xmlns:a="http://schemas.openxmlformats.org/drawingml/2006/main">
            <a:off x="723900" y="4867275"/>
            <a:ext cx="10572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72030"/>
                </a:solidFill>
                <a:latin typeface="Arial"/>
                <a:ea typeface="Arial"/>
                <a:cs typeface="Arial"/>
              </a:defRPr>
            </a:pPr>
            <a:r>
              <a:rPr sz="2325" b="0">
                <a:solidFill>
                  <a:srgbClr val="172030"/>
                </a:solidFill>
                <a:latin typeface="Arial"/>
                <a:ea typeface="Arial"/>
                <a:cs typeface="Arial"/>
              </a:rPr>
              <a:t>Нәтиже: нұсқалар кестесі және тексеру сұрақтары</a:t>
            </a:r>
          </a:p>
        </p:txBody>
      </p:sp>
    </p:spTree>
    <p:extLst>
      <p:ext uri="{BB962C8B-B14F-4D97-AF65-F5344CB8AC3E}">
        <p14:creationId xmlns:p14="http://schemas.microsoft.com/office/powerpoint/2010/main" val="99851355"/>
      </p:ext>
    </p:extLst>
  </p:cSld>
</p:sld>
</file>

<file path=ppt/slides/slide13.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6" name="Text Билет: толық құны">
            <a:extLst xmlns:a="http://schemas.openxmlformats.org/drawingml/2006/main">
              <a:ext uri="{FF2B5EF4-FFF2-40B4-BE49-F238E27FC236}">
                <a16:creationId xmlns:a16="http://schemas.microsoft.com/office/drawing/2014/main" id="{23088D4D-A0AE-4178-8C5D-C8185F6C7F4D}"/>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Билет: толық құны</a:t>
            </a:r>
          </a:p>
        </p:txBody>
      </p:sp>
      <p:sp>
        <p:nvSpPr>
          <p:cNvPr id="2" name="Text 12">
            <a:extLst xmlns:a="http://schemas.openxmlformats.org/drawingml/2006/main">
              <a:ext uri="{FF2B5EF4-FFF2-40B4-BE49-F238E27FC236}">
                <a16:creationId xmlns:a16="http://schemas.microsoft.com/office/drawing/2014/main" id="{C777BD29-9981-4C7D-9F21-3A702B20EC27}"/>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13</a:t>
            </a:r>
          </a:p>
        </p:txBody>
      </p:sp>
      <p:sp>
        <p:nvSpPr>
          <p:cNvPr id="3" name="Text Оқу бағалары. Багаж керек, 2">
            <a:extLst xmlns:a="http://schemas.openxmlformats.org/drawingml/2006/main">
              <a:ext uri="{FF2B5EF4-FFF2-40B4-BE49-F238E27FC236}">
                <a16:creationId xmlns:a16="http://schemas.microsoft.com/office/drawing/2014/main" id="{2B6FFE4F-DA8F-4BD4-A39F-09CE45E2DA38}"/>
              </a:ext>
            </a:extLst>
          </p:cNvPr>
          <p:cNvSpPr>
            <a:spLocks xmlns:a="http://schemas.openxmlformats.org/drawingml/2006/main" noGrp="1"/>
          </p:cNvSpPr>
          <p:nvPr/>
        </p:nvSpPr>
        <p:spPr>
          <a:xfrm xmlns:a="http://schemas.openxmlformats.org/drawingml/2006/main">
            <a:off x="704850" y="1476375"/>
            <a:ext cx="1076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596273"/>
                </a:solidFill>
                <a:latin typeface="Arial"/>
                <a:ea typeface="Arial"/>
                <a:cs typeface="Arial"/>
              </a:defRPr>
            </a:pPr>
            <a:r>
              <a:rPr sz="2100" b="0">
                <a:solidFill>
                  <a:srgbClr val="596273"/>
                </a:solidFill>
                <a:latin typeface="Arial"/>
                <a:ea typeface="Arial"/>
                <a:cs typeface="Arial"/>
              </a:rPr>
              <a:t>Оқу бағалары. Багаж керек, 20:00-ге дейін келу қажет.</a:t>
            </a:r>
          </a:p>
        </p:txBody>
      </p:sp>
      <p:graphicFrame>
        <p:nvGraphicFramePr>
          <p:cNvPr id="11" name=""/>
          <p:cNvGraphicFramePr/>
          <p:nvPr/>
        </p:nvGraphicFramePr>
        <p:xfrm>
          <a:off xmlns:a="http://schemas.openxmlformats.org/drawingml/2006/main" x="704850" y="2524125"/>
          <a:ext xmlns:a="http://schemas.openxmlformats.org/drawingml/2006/main" cx="10763250" cy="2276475"/>
        </p:xfrm>
        <a:graphic xmlns:a="http://schemas.openxmlformats.org/drawingml/2006/main">
          <a:graphicData uri="http://schemas.openxmlformats.org/drawingml/2006/table">
            <a:tbl>
              <a:tblPr/>
              <a:tblGrid>
                <a:gridCol w="1809750"/>
                <a:gridCol w="2381250"/>
                <a:gridCol w="2381250"/>
                <a:gridCol w="4191000"/>
              </a:tblGrid>
              <a:tr h="758825">
                <a:tc>
                  <a:txBody>
                    <a:bodyPr/>
                    <a:lstStyle/>
                    <a:p>
                      <a:r>
                        <a:rPr sz="2175" b="1">
                          <a:solidFill>
                            <a:srgbClr val="172030"/>
                          </a:solidFill>
                          <a:latin typeface="Arial"/>
                          <a:ea typeface="Arial"/>
                          <a:cs typeface="Arial"/>
                        </a:rPr>
                        <a:t>Нұсқа</a:t>
                      </a:r>
                    </a:p>
                  </a:txBody>
                  <a:tcPr marL="133350" marR="133350" marT="95250" marB="95250">
                    <a:solidFill>
                      <a:srgbClr val="D6F879"/>
                    </a:solidFill>
                  </a:tcPr>
                </a:tc>
                <a:tc>
                  <a:txBody>
                    <a:bodyPr/>
                    <a:lstStyle/>
                    <a:p>
                      <a:r>
                        <a:rPr sz="2175" b="1">
                          <a:solidFill>
                            <a:srgbClr val="172030"/>
                          </a:solidFill>
                          <a:latin typeface="Arial"/>
                          <a:ea typeface="Arial"/>
                          <a:cs typeface="Arial"/>
                        </a:rPr>
                        <a:t>Билет</a:t>
                      </a:r>
                    </a:p>
                  </a:txBody>
                  <a:tcPr marL="133350" marR="133350" marT="95250" marB="95250">
                    <a:solidFill>
                      <a:srgbClr val="D6F879"/>
                    </a:solidFill>
                  </a:tcPr>
                </a:tc>
                <a:tc>
                  <a:txBody>
                    <a:bodyPr/>
                    <a:lstStyle/>
                    <a:p>
                      <a:r>
                        <a:rPr sz="2175" b="1">
                          <a:solidFill>
                            <a:srgbClr val="172030"/>
                          </a:solidFill>
                          <a:latin typeface="Arial"/>
                          <a:ea typeface="Arial"/>
                          <a:cs typeface="Arial"/>
                        </a:rPr>
                        <a:t>Багаж</a:t>
                      </a:r>
                    </a:p>
                  </a:txBody>
                  <a:tcPr marL="133350" marR="133350" marT="95250" marB="95250">
                    <a:solidFill>
                      <a:srgbClr val="D6F879"/>
                    </a:solidFill>
                  </a:tcPr>
                </a:tc>
                <a:tc>
                  <a:txBody>
                    <a:bodyPr/>
                    <a:lstStyle/>
                    <a:p>
                      <a:r>
                        <a:rPr sz="2175" b="1">
                          <a:solidFill>
                            <a:srgbClr val="172030"/>
                          </a:solidFill>
                          <a:latin typeface="Arial"/>
                          <a:ea typeface="Arial"/>
                          <a:cs typeface="Arial"/>
                        </a:rPr>
                        <a:t>Барлығы / келу</a:t>
                      </a:r>
                    </a:p>
                  </a:txBody>
                  <a:tcPr marL="133350" marR="133350" marT="95250" marB="95250">
                    <a:solidFill>
                      <a:srgbClr val="D6F879"/>
                    </a:solidFill>
                  </a:tcPr>
                </a:tc>
              </a:tr>
              <a:tr h="758825">
                <a:tc>
                  <a:txBody>
                    <a:bodyPr/>
                    <a:lstStyle/>
                    <a:p>
                      <a:r>
                        <a:rPr sz="2175">
                          <a:solidFill>
                            <a:srgbClr val="172030"/>
                          </a:solidFill>
                          <a:latin typeface="Arial"/>
                          <a:ea typeface="Arial"/>
                          <a:cs typeface="Arial"/>
                        </a:rPr>
                        <a:t>A</a:t>
                      </a:r>
                    </a:p>
                  </a:txBody>
                  <a:tcPr marL="133350" marR="133350" marT="95250" marB="95250">
                    <a:solidFill>
                      <a:srgbClr val="FFFFFF"/>
                    </a:solidFill>
                  </a:tcPr>
                </a:tc>
                <a:tc>
                  <a:txBody>
                    <a:bodyPr/>
                    <a:lstStyle/>
                    <a:p>
                      <a:r>
                        <a:rPr sz="2175">
                          <a:solidFill>
                            <a:srgbClr val="172030"/>
                          </a:solidFill>
                          <a:latin typeface="Arial"/>
                          <a:ea typeface="Arial"/>
                          <a:cs typeface="Arial"/>
                        </a:rPr>
                        <a:t>25 000 ₸</a:t>
                      </a:r>
                    </a:p>
                  </a:txBody>
                  <a:tcPr marL="133350" marR="133350" marT="95250" marB="95250">
                    <a:solidFill>
                      <a:srgbClr val="FFFFFF"/>
                    </a:solidFill>
                  </a:tcPr>
                </a:tc>
                <a:tc>
                  <a:txBody>
                    <a:bodyPr/>
                    <a:lstStyle/>
                    <a:p>
                      <a:r>
                        <a:rPr sz="2175">
                          <a:solidFill>
                            <a:srgbClr val="172030"/>
                          </a:solidFill>
                          <a:latin typeface="Arial"/>
                          <a:ea typeface="Arial"/>
                          <a:cs typeface="Arial"/>
                        </a:rPr>
                        <a:t>7 000 ₸</a:t>
                      </a:r>
                    </a:p>
                  </a:txBody>
                  <a:tcPr marL="133350" marR="133350" marT="95250" marB="95250">
                    <a:solidFill>
                      <a:srgbClr val="FFFFFF"/>
                    </a:solidFill>
                  </a:tcPr>
                </a:tc>
                <a:tc>
                  <a:txBody>
                    <a:bodyPr/>
                    <a:lstStyle/>
                    <a:p>
                      <a:r>
                        <a:rPr sz="2175">
                          <a:solidFill>
                            <a:srgbClr val="172030"/>
                          </a:solidFill>
                          <a:latin typeface="Arial"/>
                          <a:ea typeface="Arial"/>
                          <a:cs typeface="Arial"/>
                        </a:rPr>
                        <a:t>32 000 ₸ / 23:30</a:t>
                      </a:r>
                    </a:p>
                  </a:txBody>
                  <a:tcPr marL="133350" marR="133350" marT="95250" marB="95250">
                    <a:solidFill>
                      <a:srgbClr val="FFFFFF"/>
                    </a:solidFill>
                  </a:tcPr>
                </a:tc>
              </a:tr>
              <a:tr h="758825">
                <a:tc>
                  <a:txBody>
                    <a:bodyPr/>
                    <a:lstStyle/>
                    <a:p>
                      <a:r>
                        <a:rPr sz="2175">
                          <a:solidFill>
                            <a:srgbClr val="172030"/>
                          </a:solidFill>
                          <a:latin typeface="Arial"/>
                          <a:ea typeface="Arial"/>
                          <a:cs typeface="Arial"/>
                        </a:rPr>
                        <a:t>Б</a:t>
                      </a:r>
                    </a:p>
                  </a:txBody>
                  <a:tcPr marL="133350" marR="133350" marT="95250" marB="95250">
                    <a:solidFill>
                      <a:srgbClr val="EEF2E8"/>
                    </a:solidFill>
                  </a:tcPr>
                </a:tc>
                <a:tc>
                  <a:txBody>
                    <a:bodyPr/>
                    <a:lstStyle/>
                    <a:p>
                      <a:r>
                        <a:rPr sz="2175">
                          <a:solidFill>
                            <a:srgbClr val="172030"/>
                          </a:solidFill>
                          <a:latin typeface="Arial"/>
                          <a:ea typeface="Arial"/>
                          <a:cs typeface="Arial"/>
                        </a:rPr>
                        <a:t>30 000 ₸</a:t>
                      </a:r>
                    </a:p>
                  </a:txBody>
                  <a:tcPr marL="133350" marR="133350" marT="95250" marB="95250">
                    <a:solidFill>
                      <a:srgbClr val="EEF2E8"/>
                    </a:solidFill>
                  </a:tcPr>
                </a:tc>
                <a:tc>
                  <a:txBody>
                    <a:bodyPr/>
                    <a:lstStyle/>
                    <a:p>
                      <a:r>
                        <a:rPr sz="2175">
                          <a:solidFill>
                            <a:srgbClr val="172030"/>
                          </a:solidFill>
                          <a:latin typeface="Arial"/>
                          <a:ea typeface="Arial"/>
                          <a:cs typeface="Arial"/>
                        </a:rPr>
                        <a:t>Кіреді</a:t>
                      </a:r>
                    </a:p>
                  </a:txBody>
                  <a:tcPr marL="133350" marR="133350" marT="95250" marB="95250">
                    <a:solidFill>
                      <a:srgbClr val="EEF2E8"/>
                    </a:solidFill>
                  </a:tcPr>
                </a:tc>
                <a:tc>
                  <a:txBody>
                    <a:bodyPr/>
                    <a:lstStyle/>
                    <a:p>
                      <a:r>
                        <a:rPr sz="2175">
                          <a:solidFill>
                            <a:srgbClr val="172030"/>
                          </a:solidFill>
                          <a:latin typeface="Arial"/>
                          <a:ea typeface="Arial"/>
                          <a:cs typeface="Arial"/>
                        </a:rPr>
                        <a:t>30 000 ₸ / 18:00</a:t>
                      </a:r>
                    </a:p>
                  </a:txBody>
                  <a:tcPr marL="133350" marR="133350" marT="95250" marB="95250">
                    <a:solidFill>
                      <a:srgbClr val="EEF2E8"/>
                    </a:solidFill>
                  </a:tcPr>
                </a:tc>
              </a:tr>
            </a:tbl>
          </a:graphicData>
        </a:graphic>
      </p:graphicFrame>
      <p:sp>
        <p:nvSpPr>
          <p:cNvPr id="5" name="Text Б сәйкес келеді: багажбен ар">
            <a:extLst xmlns:a="http://schemas.openxmlformats.org/drawingml/2006/main">
              <a:ext uri="{FF2B5EF4-FFF2-40B4-BE49-F238E27FC236}">
                <a16:creationId xmlns:a16="http://schemas.microsoft.com/office/drawing/2014/main" id="{4AEE957C-CAA1-4231-9151-2E23465130EF}"/>
              </a:ext>
            </a:extLst>
          </p:cNvPr>
          <p:cNvSpPr>
            <a:spLocks xmlns:a="http://schemas.openxmlformats.org/drawingml/2006/main" noGrp="1"/>
          </p:cNvSpPr>
          <p:nvPr/>
        </p:nvSpPr>
        <p:spPr>
          <a:xfrm xmlns:a="http://schemas.openxmlformats.org/drawingml/2006/main">
            <a:off x="704850" y="523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456B24"/>
                </a:solidFill>
                <a:latin typeface="Arial"/>
                <a:ea typeface="Arial"/>
                <a:cs typeface="Arial"/>
              </a:defRPr>
            </a:pPr>
            <a:r>
              <a:rPr sz="2475" b="1">
                <a:solidFill>
                  <a:srgbClr val="456B24"/>
                </a:solidFill>
                <a:latin typeface="Arial"/>
                <a:ea typeface="Arial"/>
                <a:cs typeface="Arial"/>
              </a:rPr>
              <a:t>Б сәйкес келеді: багажбен арзанырақ әрі уақытында.</a:t>
            </a:r>
          </a:p>
        </p:txBody>
      </p:sp>
    </p:spTree>
    <p:extLst>
      <p:ext uri="{BB962C8B-B14F-4D97-AF65-F5344CB8AC3E}">
        <p14:creationId xmlns:p14="http://schemas.microsoft.com/office/powerpoint/2010/main" val="560033799"/>
      </p:ext>
    </p:extLst>
  </p:cSld>
</p:sld>
</file>

<file path=ppt/slides/slide14.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9" name="Text Іздеу және дереккөзді тексер">
            <a:extLst xmlns:a="http://schemas.openxmlformats.org/drawingml/2006/main">
              <a:ext uri="{FF2B5EF4-FFF2-40B4-BE49-F238E27FC236}">
                <a16:creationId xmlns:a16="http://schemas.microsoft.com/office/drawing/2014/main" id="{05BE2834-8BD2-4369-A154-3A640ECD9D90}"/>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Іздеу және дереккөзді тексеру</a:t>
            </a:r>
          </a:p>
        </p:txBody>
      </p:sp>
      <p:sp>
        <p:nvSpPr>
          <p:cNvPr id="2" name="Text 13">
            <a:extLst xmlns:a="http://schemas.openxmlformats.org/drawingml/2006/main">
              <a:ext uri="{FF2B5EF4-FFF2-40B4-BE49-F238E27FC236}">
                <a16:creationId xmlns:a16="http://schemas.microsoft.com/office/drawing/2014/main" id="{BEB8D946-0B41-4FB3-A522-EC182FE68DCD}"/>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14</a:t>
            </a:r>
          </a:p>
        </p:txBody>
      </p:sp>
      <p:sp>
        <p:nvSpPr>
          <p:cNvPr id="3" name="Text Perplexity">
            <a:extLst xmlns:a="http://schemas.openxmlformats.org/drawingml/2006/main">
              <a:ext uri="{FF2B5EF4-FFF2-40B4-BE49-F238E27FC236}">
                <a16:creationId xmlns:a16="http://schemas.microsoft.com/office/drawing/2014/main" id="{495F473E-2BD8-498E-8C0D-D878F0E3C4AC}"/>
              </a:ext>
            </a:extLst>
          </p:cNvPr>
          <p:cNvSpPr>
            <a:spLocks xmlns:a="http://schemas.openxmlformats.org/drawingml/2006/main" noGrp="1"/>
          </p:cNvSpPr>
          <p:nvPr/>
        </p:nvSpPr>
        <p:spPr>
          <a:xfrm xmlns:a="http://schemas.openxmlformats.org/drawingml/2006/main">
            <a:off x="704850" y="157162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456B24"/>
                </a:solidFill>
                <a:latin typeface="Arial"/>
                <a:ea typeface="Arial"/>
                <a:cs typeface="Arial"/>
              </a:defRPr>
            </a:pPr>
            <a:r>
              <a:rPr sz="2700" b="1">
                <a:solidFill>
                  <a:srgbClr val="456B24"/>
                </a:solidFill>
                <a:latin typeface="Arial"/>
                <a:ea typeface="Arial"/>
                <a:cs typeface="Arial"/>
              </a:rPr>
              <a:t>Perplexity</a:t>
            </a:r>
          </a:p>
        </p:txBody>
      </p:sp>
      <p:sp>
        <p:nvSpPr>
          <p:cNvPr id="4" name="Text Бастапқы материалдарға&#10;сілте">
            <a:extLst xmlns:a="http://schemas.openxmlformats.org/drawingml/2006/main">
              <a:ext uri="{FF2B5EF4-FFF2-40B4-BE49-F238E27FC236}">
                <a16:creationId xmlns:a16="http://schemas.microsoft.com/office/drawing/2014/main" id="{E2F993C3-D2DA-4E3F-BA6F-ECDA43B875FF}"/>
              </a:ext>
            </a:extLst>
          </p:cNvPr>
          <p:cNvSpPr>
            <a:spLocks xmlns:a="http://schemas.openxmlformats.org/drawingml/2006/main" noGrp="1"/>
          </p:cNvSpPr>
          <p:nvPr/>
        </p:nvSpPr>
        <p:spPr>
          <a:xfrm xmlns:a="http://schemas.openxmlformats.org/drawingml/2006/main">
            <a:off x="704850" y="2333625"/>
            <a:ext cx="4953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0">
                <a:solidFill>
                  <a:srgbClr val="172030"/>
                </a:solidFill>
                <a:latin typeface="Arial"/>
                <a:ea typeface="Arial"/>
                <a:cs typeface="Arial"/>
              </a:defRPr>
            </a:pPr>
            <a:r>
              <a:rPr sz="2475" b="0">
                <a:solidFill>
                  <a:srgbClr val="172030"/>
                </a:solidFill>
                <a:latin typeface="Arial"/>
                <a:ea typeface="Arial"/>
                <a:cs typeface="Arial"/>
              </a:rPr>
              <a:t>Бастапқы материалдарға</a:t>
            </a:r>
          </a:p>
          <a:p xmlns:a="http://schemas.openxmlformats.org/drawingml/2006/main">
            <a:pPr>
              <a:buNone/>
              <a:defRPr sz="2475" b="0">
                <a:solidFill>
                  <a:srgbClr val="172030"/>
                </a:solidFill>
                <a:latin typeface="Arial"/>
                <a:ea typeface="Arial"/>
                <a:cs typeface="Arial"/>
              </a:defRPr>
            </a:pPr>
            <a:r>
              <a:rPr sz="2475" b="0">
                <a:solidFill>
                  <a:srgbClr val="172030"/>
                </a:solidFill>
                <a:latin typeface="Arial"/>
                <a:ea typeface="Arial"/>
                <a:cs typeface="Arial"/>
              </a:rPr>
              <a:t>сілтемесі бар жауап</a:t>
            </a:r>
          </a:p>
        </p:txBody>
      </p:sp>
      <p:sp>
        <p:nvSpPr>
          <p:cNvPr id="5" name="Text Grok">
            <a:extLst xmlns:a="http://schemas.openxmlformats.org/drawingml/2006/main">
              <a:ext uri="{FF2B5EF4-FFF2-40B4-BE49-F238E27FC236}">
                <a16:creationId xmlns:a16="http://schemas.microsoft.com/office/drawing/2014/main" id="{F3B0250F-AB75-4011-AE5B-0254199E9BE7}"/>
              </a:ext>
            </a:extLst>
          </p:cNvPr>
          <p:cNvSpPr>
            <a:spLocks xmlns:a="http://schemas.openxmlformats.org/drawingml/2006/main" noGrp="1"/>
          </p:cNvSpPr>
          <p:nvPr/>
        </p:nvSpPr>
        <p:spPr>
          <a:xfrm xmlns:a="http://schemas.openxmlformats.org/drawingml/2006/main">
            <a:off x="6762750" y="1571625"/>
            <a:ext cx="466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456B24"/>
                </a:solidFill>
                <a:latin typeface="Arial"/>
                <a:ea typeface="Arial"/>
                <a:cs typeface="Arial"/>
              </a:defRPr>
            </a:pPr>
            <a:r>
              <a:rPr sz="2700" b="1">
                <a:solidFill>
                  <a:srgbClr val="456B24"/>
                </a:solidFill>
                <a:latin typeface="Arial"/>
                <a:ea typeface="Arial"/>
                <a:cs typeface="Arial"/>
              </a:rPr>
              <a:t>Grok</a:t>
            </a:r>
          </a:p>
        </p:txBody>
      </p:sp>
      <p:sp>
        <p:nvSpPr>
          <p:cNvPr id="6" name="Text Вебтен және X желісінің&#10;ашық">
            <a:extLst xmlns:a="http://schemas.openxmlformats.org/drawingml/2006/main">
              <a:ext uri="{FF2B5EF4-FFF2-40B4-BE49-F238E27FC236}">
                <a16:creationId xmlns:a16="http://schemas.microsoft.com/office/drawing/2014/main" id="{3EF0DE72-69A2-4A8E-B4C8-381C8262CF80}"/>
              </a:ext>
            </a:extLst>
          </p:cNvPr>
          <p:cNvSpPr>
            <a:spLocks xmlns:a="http://schemas.openxmlformats.org/drawingml/2006/main" noGrp="1"/>
          </p:cNvSpPr>
          <p:nvPr/>
        </p:nvSpPr>
        <p:spPr>
          <a:xfrm xmlns:a="http://schemas.openxmlformats.org/drawingml/2006/main">
            <a:off x="6762750" y="2333625"/>
            <a:ext cx="4667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0">
                <a:solidFill>
                  <a:srgbClr val="172030"/>
                </a:solidFill>
                <a:latin typeface="Arial"/>
                <a:ea typeface="Arial"/>
                <a:cs typeface="Arial"/>
              </a:defRPr>
            </a:pPr>
            <a:r>
              <a:rPr sz="2475" b="0">
                <a:solidFill>
                  <a:srgbClr val="172030"/>
                </a:solidFill>
                <a:latin typeface="Arial"/>
                <a:ea typeface="Arial"/>
                <a:cs typeface="Arial"/>
              </a:rPr>
              <a:t>Вебтен және X желісінің</a:t>
            </a:r>
          </a:p>
          <a:p xmlns:a="http://schemas.openxmlformats.org/drawingml/2006/main">
            <a:pPr>
              <a:buNone/>
              <a:defRPr sz="2475" b="0">
                <a:solidFill>
                  <a:srgbClr val="172030"/>
                </a:solidFill>
                <a:latin typeface="Arial"/>
                <a:ea typeface="Arial"/>
                <a:cs typeface="Arial"/>
              </a:defRPr>
            </a:pPr>
            <a:r>
              <a:rPr sz="2475" b="0">
                <a:solidFill>
                  <a:srgbClr val="172030"/>
                </a:solidFill>
                <a:latin typeface="Arial"/>
                <a:ea typeface="Arial"/>
                <a:cs typeface="Arial"/>
              </a:rPr>
              <a:t>ашық жазбаларынан іздеу</a:t>
            </a:r>
          </a:p>
        </p:txBody>
      </p:sp>
      <p:sp>
        <p:nvSpPr>
          <p:cNvPr id="7" name="Text «Дереккөз бен күнін көрсет. ">
            <a:extLst xmlns:a="http://schemas.openxmlformats.org/drawingml/2006/main">
              <a:ext uri="{FF2B5EF4-FFF2-40B4-BE49-F238E27FC236}">
                <a16:creationId xmlns:a16="http://schemas.microsoft.com/office/drawing/2014/main" id="{DEC3A54A-2BEF-4E62-B33C-9991A752D818}"/>
              </a:ext>
            </a:extLst>
          </p:cNvPr>
          <p:cNvSpPr>
            <a:spLocks xmlns:a="http://schemas.openxmlformats.org/drawingml/2006/main" noGrp="1"/>
          </p:cNvSpPr>
          <p:nvPr/>
        </p:nvSpPr>
        <p:spPr>
          <a:xfrm xmlns:a="http://schemas.openxmlformats.org/drawingml/2006/main">
            <a:off x="704850" y="4191000"/>
            <a:ext cx="10763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456B24"/>
                </a:solidFill>
                <a:latin typeface="Arial"/>
                <a:ea typeface="Arial"/>
                <a:cs typeface="Arial"/>
              </a:defRPr>
            </a:pPr>
            <a:r>
              <a:rPr sz="2400" b="1">
                <a:solidFill>
                  <a:srgbClr val="456B24"/>
                </a:solidFill>
                <a:latin typeface="Arial"/>
                <a:ea typeface="Arial"/>
                <a:cs typeface="Arial"/>
              </a:rPr>
              <a:t>«Дереккөз бен күнін көрсет. Расталмағанын белгіле». </a:t>
            </a:r>
          </a:p>
        </p:txBody>
      </p:sp>
      <p:sp>
        <p:nvSpPr>
          <p:cNvPr id="8" name="Text Маңызды деректі ресми сайтта">
            <a:extLst xmlns:a="http://schemas.openxmlformats.org/drawingml/2006/main">
              <a:ext uri="{FF2B5EF4-FFF2-40B4-BE49-F238E27FC236}">
                <a16:creationId xmlns:a16="http://schemas.microsoft.com/office/drawing/2014/main" id="{7D53695A-F279-4294-8BAE-FA63C1C4FA46}"/>
              </a:ext>
            </a:extLst>
          </p:cNvPr>
          <p:cNvSpPr>
            <a:spLocks xmlns:a="http://schemas.openxmlformats.org/drawingml/2006/main" noGrp="1"/>
          </p:cNvSpPr>
          <p:nvPr/>
        </p:nvSpPr>
        <p:spPr>
          <a:xfrm xmlns:a="http://schemas.openxmlformats.org/drawingml/2006/main">
            <a:off x="704850" y="55054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72030"/>
                </a:solidFill>
                <a:latin typeface="Arial"/>
                <a:ea typeface="Arial"/>
                <a:cs typeface="Arial"/>
              </a:defRPr>
            </a:pPr>
            <a:r>
              <a:rPr sz="2250" b="0">
                <a:solidFill>
                  <a:srgbClr val="172030"/>
                </a:solidFill>
                <a:latin typeface="Arial"/>
                <a:ea typeface="Arial"/>
                <a:cs typeface="Arial"/>
              </a:rPr>
              <a:t>Маңызды деректі ресми сайттан тексереміз.</a:t>
            </a:r>
          </a:p>
        </p:txBody>
      </p:sp>
    </p:spTree>
    <p:extLst>
      <p:ext uri="{BB962C8B-B14F-4D97-AF65-F5344CB8AC3E}">
        <p14:creationId xmlns:p14="http://schemas.microsoft.com/office/powerpoint/2010/main" val="1247449308"/>
      </p:ext>
    </p:extLst>
  </p:cSld>
</p:sld>
</file>

<file path=ppt/slides/slide15.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6" name="Text Perplexity: қол жүгі">
            <a:extLst xmlns:a="http://schemas.openxmlformats.org/drawingml/2006/main">
              <a:ext uri="{FF2B5EF4-FFF2-40B4-BE49-F238E27FC236}">
                <a16:creationId xmlns:a16="http://schemas.microsoft.com/office/drawing/2014/main" id="{A81DA74A-0537-4976-BAA0-DE0E656F5073}"/>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Perplexity: қол жүгі</a:t>
            </a:r>
          </a:p>
        </p:txBody>
      </p:sp>
      <p:sp>
        <p:nvSpPr>
          <p:cNvPr id="2" name="Extra page 14">
            <a:extLst xmlns:a="http://schemas.openxmlformats.org/drawingml/2006/main">
              <a:ext uri="{FF2B5EF4-FFF2-40B4-BE49-F238E27FC236}">
                <a16:creationId xmlns:a16="http://schemas.microsoft.com/office/drawing/2014/main" id="{BA5C5371-AE39-4DB1-94A9-D260A9E16E19}"/>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15</a:t>
            </a:r>
          </a:p>
        </p:txBody>
      </p:sp>
      <p:sp>
        <p:nvSpPr>
          <p:cNvPr id="3" name="Text Сапарға қандай сөмке алуға б">
            <a:extLst xmlns:a="http://schemas.openxmlformats.org/drawingml/2006/main">
              <a:ext uri="{FF2B5EF4-FFF2-40B4-BE49-F238E27FC236}">
                <a16:creationId xmlns:a16="http://schemas.microsoft.com/office/drawing/2014/main" id="{50E77FBB-A896-4809-8219-A1516644177D}"/>
              </a:ext>
            </a:extLst>
          </p:cNvPr>
          <p:cNvSpPr>
            <a:spLocks xmlns:a="http://schemas.openxmlformats.org/drawingml/2006/main" noGrp="1"/>
          </p:cNvSpPr>
          <p:nvPr/>
        </p:nvSpPr>
        <p:spPr>
          <a:xfrm xmlns:a="http://schemas.openxmlformats.org/drawingml/2006/main">
            <a:off x="704850" y="14382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456B24"/>
                </a:solidFill>
                <a:latin typeface="Arial"/>
                <a:ea typeface="Arial"/>
                <a:cs typeface="Arial"/>
              </a:defRPr>
            </a:pPr>
            <a:r>
              <a:rPr sz="2400" b="1">
                <a:solidFill>
                  <a:srgbClr val="456B24"/>
                </a:solidFill>
                <a:latin typeface="Arial"/>
                <a:ea typeface="Arial"/>
                <a:cs typeface="Arial"/>
              </a:rPr>
              <a:t>Сапарға қандай сөмке алуға болатынын білу керек.</a:t>
            </a:r>
          </a:p>
        </p:txBody>
      </p:sp>
      <p:sp>
        <p:nvSpPr>
          <p:cNvPr id="4" name="Text «15.09.2026 күнгі Air Astana">
            <a:extLst xmlns:a="http://schemas.openxmlformats.org/drawingml/2006/main">
              <a:ext uri="{FF2B5EF4-FFF2-40B4-BE49-F238E27FC236}">
                <a16:creationId xmlns:a16="http://schemas.microsoft.com/office/drawing/2014/main" id="{38EA9D3F-F7F8-4141-B4C5-0D442D1F87E4}"/>
              </a:ext>
            </a:extLst>
          </p:cNvPr>
          <p:cNvSpPr>
            <a:spLocks xmlns:a="http://schemas.openxmlformats.org/drawingml/2006/main" noGrp="1"/>
          </p:cNvSpPr>
          <p:nvPr/>
        </p:nvSpPr>
        <p:spPr>
          <a:xfrm xmlns:a="http://schemas.openxmlformats.org/drawingml/2006/main">
            <a:off x="704850" y="2476500"/>
            <a:ext cx="10668000" cy="2628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0">
                <a:solidFill>
                  <a:srgbClr val="172030"/>
                </a:solidFill>
                <a:latin typeface="Arial"/>
                <a:ea typeface="Arial"/>
                <a:cs typeface="Arial"/>
              </a:defRPr>
            </a:pPr>
            <a:r>
              <a:rPr sz="2475" b="0">
                <a:solidFill>
                  <a:srgbClr val="172030"/>
                </a:solidFill>
                <a:latin typeface="Arial"/>
                <a:ea typeface="Arial"/>
                <a:cs typeface="Arial"/>
              </a:rPr>
              <a:t>«15.09.2026 күнгі Air Astana (эконом) және FlyArystan тегін қол жүгі ережесін салыстыр. Кесте: салмақ, өлшем, орын саны. Тек ресми сайттарды пайдалан. Сілтеме мен ереже өзгерген күнді көрсет». </a:t>
            </a:r>
          </a:p>
        </p:txBody>
      </p:sp>
      <p:sp>
        <p:nvSpPr>
          <p:cNvPr id="5" name="Text perplexity.ai  ·  жаңа сұрау">
            <a:extLst xmlns:a="http://schemas.openxmlformats.org/drawingml/2006/main">
              <a:ext uri="{FF2B5EF4-FFF2-40B4-BE49-F238E27FC236}">
                <a16:creationId xmlns:a16="http://schemas.microsoft.com/office/drawing/2014/main" id="{5C1C8FCD-5A52-4AC2-9C2A-E46DA22244BA}"/>
              </a:ext>
            </a:extLst>
          </p:cNvPr>
          <p:cNvSpPr>
            <a:spLocks xmlns:a="http://schemas.openxmlformats.org/drawingml/2006/main" noGrp="1"/>
          </p:cNvSpPr>
          <p:nvPr/>
        </p:nvSpPr>
        <p:spPr>
          <a:xfrm xmlns:a="http://schemas.openxmlformats.org/drawingml/2006/main">
            <a:off x="704850" y="571500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96273"/>
                </a:solidFill>
                <a:latin typeface="Arial"/>
                <a:ea typeface="Arial"/>
                <a:cs typeface="Arial"/>
              </a:defRPr>
            </a:pPr>
            <a:r>
              <a:rPr sz="1950" b="0">
                <a:solidFill>
                  <a:srgbClr val="596273"/>
                </a:solidFill>
                <a:latin typeface="Arial"/>
                <a:ea typeface="Arial"/>
                <a:cs typeface="Arial"/>
              </a:rPr>
              <a:t>perplexity.ai  ·  жаңа сұрау  ·  сілтемесі бар жауап</a:t>
            </a:r>
          </a:p>
        </p:txBody>
      </p:sp>
    </p:spTree>
    <p:extLst>
      <p:ext uri="{BB962C8B-B14F-4D97-AF65-F5344CB8AC3E}">
        <p14:creationId xmlns:p14="http://schemas.microsoft.com/office/powerpoint/2010/main" val="653606598"/>
      </p:ext>
    </p:extLst>
  </p:cSld>
</p:sld>
</file>

<file path=ppt/slides/slide16.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6" name="Text Perplexity: нақты жауап">
            <a:extLst xmlns:a="http://schemas.openxmlformats.org/drawingml/2006/main">
              <a:ext uri="{FF2B5EF4-FFF2-40B4-BE49-F238E27FC236}">
                <a16:creationId xmlns:a16="http://schemas.microsoft.com/office/drawing/2014/main" id="{F1EFD9AD-F54B-4197-9E83-40BD94203891}"/>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Perplexity: нақты жауап</a:t>
            </a:r>
          </a:p>
        </p:txBody>
      </p:sp>
      <p:sp>
        <p:nvSpPr>
          <p:cNvPr id="2" name="Extra page 15">
            <a:extLst xmlns:a="http://schemas.openxmlformats.org/drawingml/2006/main">
              <a:ext uri="{FF2B5EF4-FFF2-40B4-BE49-F238E27FC236}">
                <a16:creationId xmlns:a16="http://schemas.microsoft.com/office/drawing/2014/main" id="{AA7AA023-A787-4A3C-9B6F-30B14E0DBDBC}"/>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16</a:t>
            </a:r>
          </a:p>
        </p:txBody>
      </p:sp>
      <p:sp>
        <p:nvSpPr>
          <p:cNvPr id="3" name="Text Жоғарыдан төмен: салмақ, өлш">
            <a:extLst xmlns:a="http://schemas.openxmlformats.org/drawingml/2006/main">
              <a:ext uri="{FF2B5EF4-FFF2-40B4-BE49-F238E27FC236}">
                <a16:creationId xmlns:a16="http://schemas.microsoft.com/office/drawing/2014/main" id="{3EBC35B1-502B-4BA6-B350-8A499A72F0F7}"/>
              </a:ext>
            </a:extLst>
          </p:cNvPr>
          <p:cNvSpPr>
            <a:spLocks xmlns:a="http://schemas.openxmlformats.org/drawingml/2006/main" noGrp="1"/>
          </p:cNvSpPr>
          <p:nvPr/>
        </p:nvSpPr>
        <p:spPr>
          <a:xfrm xmlns:a="http://schemas.openxmlformats.org/drawingml/2006/main">
            <a:off x="704850" y="1524000"/>
            <a:ext cx="1066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456B24"/>
                </a:solidFill>
                <a:latin typeface="Arial"/>
                <a:ea typeface="Arial"/>
                <a:cs typeface="Arial"/>
              </a:defRPr>
            </a:pPr>
            <a:r>
              <a:rPr sz="2175" b="1">
                <a:solidFill>
                  <a:srgbClr val="456B24"/>
                </a:solidFill>
                <a:latin typeface="Arial"/>
                <a:ea typeface="Arial"/>
                <a:cs typeface="Arial"/>
              </a:rPr>
              <a:t>Жоғарыдан төмен: салмақ, өлшем, орын саны</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9865a5cf4b145a7"/>
          <a:stretch xmlns:a="http://schemas.openxmlformats.org/drawingml/2006/main"/>
        </p:blipFill>
        <p:spPr>
          <a:xfrm xmlns:a="http://schemas.openxmlformats.org/drawingml/2006/main">
            <a:off x="1948462" y="2333625"/>
            <a:ext cx="8276026" cy="3048000"/>
          </a:xfrm>
          <a:prstGeom xmlns:a="http://schemas.openxmlformats.org/drawingml/2006/main" prst="rect">
            <a:avLst/>
          </a:prstGeom>
        </p:spPr>
      </p:pic>
      <p:sp>
        <p:nvSpPr>
          <p:cNvPr id="5" name="Text Орысша жауаптың үзіндісі. Ке">
            <a:extLst xmlns:a="http://schemas.openxmlformats.org/drawingml/2006/main">
              <a:ext uri="{FF2B5EF4-FFF2-40B4-BE49-F238E27FC236}">
                <a16:creationId xmlns:a16="http://schemas.microsoft.com/office/drawing/2014/main" id="{AEFAAE34-D085-4A22-9F9E-A8C42B6033CF}"/>
              </a:ext>
            </a:extLst>
          </p:cNvPr>
          <p:cNvSpPr>
            <a:spLocks xmlns:a="http://schemas.openxmlformats.org/drawingml/2006/main" noGrp="1"/>
          </p:cNvSpPr>
          <p:nvPr/>
        </p:nvSpPr>
        <p:spPr>
          <a:xfrm xmlns:a="http://schemas.openxmlformats.org/drawingml/2006/main">
            <a:off x="704850" y="57816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96273"/>
                </a:solidFill>
                <a:latin typeface="Arial"/>
                <a:ea typeface="Arial"/>
                <a:cs typeface="Arial"/>
              </a:defRPr>
            </a:pPr>
            <a:r>
              <a:rPr sz="1950" b="0">
                <a:solidFill>
                  <a:srgbClr val="596273"/>
                </a:solidFill>
                <a:latin typeface="Arial"/>
                <a:ea typeface="Arial"/>
                <a:cs typeface="Arial"/>
              </a:rPr>
              <a:t>Орысша жауаптың үзіндісі. Келесі қадам: дереккөзді ашу.</a:t>
            </a:r>
          </a:p>
        </p:txBody>
      </p:sp>
    </p:spTree>
    <p:extLst>
      <p:ext uri="{BB962C8B-B14F-4D97-AF65-F5344CB8AC3E}">
        <p14:creationId xmlns:p14="http://schemas.microsoft.com/office/powerpoint/2010/main" val="1783064526"/>
      </p:ext>
    </p:extLst>
  </p:cSld>
</p:sld>
</file>

<file path=ppt/slides/slide17.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6" name="Text Күнін тексеру кемшілікті көр">
            <a:extLst xmlns:a="http://schemas.openxmlformats.org/drawingml/2006/main">
              <a:ext uri="{FF2B5EF4-FFF2-40B4-BE49-F238E27FC236}">
                <a16:creationId xmlns:a16="http://schemas.microsoft.com/office/drawing/2014/main" id="{8BBF3928-683E-4FCE-B78B-A2F2F385004B}"/>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Күнін тексеру кемшілікті көрсетті</a:t>
            </a:r>
          </a:p>
        </p:txBody>
      </p:sp>
      <p:sp>
        <p:nvSpPr>
          <p:cNvPr id="2" name="Extra page 16">
            <a:extLst xmlns:a="http://schemas.openxmlformats.org/drawingml/2006/main">
              <a:ext uri="{FF2B5EF4-FFF2-40B4-BE49-F238E27FC236}">
                <a16:creationId xmlns:a16="http://schemas.microsoft.com/office/drawing/2014/main" id="{85C70E09-8040-44B5-8B8B-D4A21BDCA14C}"/>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17</a:t>
            </a:r>
          </a:p>
        </p:txBody>
      </p:sp>
      <p:graphicFrame>
        <p:nvGraphicFramePr>
          <p:cNvPr id="10" name=""/>
          <p:cNvGraphicFramePr/>
          <p:nvPr/>
        </p:nvGraphicFramePr>
        <p:xfrm>
          <a:off xmlns:a="http://schemas.openxmlformats.org/drawingml/2006/main" x="704850" y="1619250"/>
          <a:ext xmlns:a="http://schemas.openxmlformats.org/drawingml/2006/main" cx="10763250" cy="2428875"/>
        </p:xfrm>
        <a:graphic xmlns:a="http://schemas.openxmlformats.org/drawingml/2006/main">
          <a:graphicData uri="http://schemas.openxmlformats.org/drawingml/2006/table">
            <a:tbl>
              <a:tblPr/>
              <a:tblGrid>
                <a:gridCol w="5095875"/>
                <a:gridCol w="5667375"/>
              </a:tblGrid>
              <a:tr h="809625">
                <a:tc>
                  <a:txBody>
                    <a:bodyPr/>
                    <a:lstStyle/>
                    <a:p>
                      <a:r>
                        <a:rPr sz="2025" b="1">
                          <a:solidFill>
                            <a:srgbClr val="172030"/>
                          </a:solidFill>
                          <a:latin typeface="Arial"/>
                          <a:ea typeface="Arial"/>
                          <a:cs typeface="Arial"/>
                        </a:rPr>
                        <a:t>Нені тексердік</a:t>
                      </a:r>
                    </a:p>
                  </a:txBody>
                  <a:tcPr marL="133350" marR="133350" marT="95250" marB="95250">
                    <a:solidFill>
                      <a:srgbClr val="D6F879"/>
                    </a:solidFill>
                  </a:tcPr>
                </a:tc>
                <a:tc>
                  <a:txBody>
                    <a:bodyPr/>
                    <a:lstStyle/>
                    <a:p>
                      <a:r>
                        <a:rPr sz="2025" b="1">
                          <a:solidFill>
                            <a:srgbClr val="172030"/>
                          </a:solidFill>
                          <a:latin typeface="Arial"/>
                          <a:ea typeface="Arial"/>
                          <a:cs typeface="Arial"/>
                        </a:rPr>
                        <a:t>Ресми растау</a:t>
                      </a:r>
                    </a:p>
                  </a:txBody>
                  <a:tcPr marL="133350" marR="133350" marT="95250" marB="95250">
                    <a:solidFill>
                      <a:srgbClr val="D6F879"/>
                    </a:solidFill>
                  </a:tcPr>
                </a:tc>
              </a:tr>
              <a:tr h="809625">
                <a:tc>
                  <a:txBody>
                    <a:bodyPr/>
                    <a:lstStyle/>
                    <a:p>
                      <a:r>
                        <a:rPr sz="2025">
                          <a:solidFill>
                            <a:srgbClr val="172030"/>
                          </a:solidFill>
                          <a:latin typeface="Arial"/>
                          <a:ea typeface="Arial"/>
                          <a:cs typeface="Arial"/>
                        </a:rPr>
                        <a:t>FlyArystan тегін қол жүгі</a:t>
                      </a:r>
                    </a:p>
                  </a:txBody>
                  <a:tcPr marL="133350" marR="133350" marT="95250" marB="95250">
                    <a:solidFill>
                      <a:srgbClr val="FFFFFF"/>
                    </a:solidFill>
                  </a:tcPr>
                </a:tc>
                <a:tc>
                  <a:txBody>
                    <a:bodyPr/>
                    <a:lstStyle/>
                    <a:p>
                      <a:r>
                        <a:rPr sz="2025">
                          <a:solidFill>
                            <a:srgbClr val="172030"/>
                          </a:solidFill>
                          <a:latin typeface="Arial"/>
                          <a:ea typeface="Arial"/>
                          <a:cs typeface="Arial"/>
                        </a:rPr>
                        <a:t>7 кг, 1 орын</a:t>
                      </a:r>
                    </a:p>
                  </a:txBody>
                  <a:tcPr marL="133350" marR="133350" marT="95250" marB="95250">
                    <a:solidFill>
                      <a:srgbClr val="FFFFFF"/>
                    </a:solidFill>
                  </a:tcPr>
                </a:tc>
              </a:tr>
              <a:tr h="809625">
                <a:tc>
                  <a:txBody>
                    <a:bodyPr/>
                    <a:lstStyle/>
                    <a:p>
                      <a:r>
                        <a:rPr sz="2025">
                          <a:solidFill>
                            <a:srgbClr val="172030"/>
                          </a:solidFill>
                          <a:latin typeface="Arial"/>
                          <a:ea typeface="Arial"/>
                          <a:cs typeface="Arial"/>
                        </a:rPr>
                        <a:t>Қашан өзгерді</a:t>
                      </a:r>
                    </a:p>
                  </a:txBody>
                  <a:tcPr marL="133350" marR="133350" marT="95250" marB="95250">
                    <a:solidFill>
                      <a:srgbClr val="EEF2E8"/>
                    </a:solidFill>
                  </a:tcPr>
                </a:tc>
                <a:tc>
                  <a:txBody>
                    <a:bodyPr/>
                    <a:lstStyle/>
                    <a:p>
                      <a:r>
                        <a:rPr sz="2025">
                          <a:solidFill>
                            <a:srgbClr val="172030"/>
                          </a:solidFill>
                          <a:latin typeface="Arial"/>
                          <a:ea typeface="Arial"/>
                          <a:cs typeface="Arial"/>
                        </a:rPr>
                        <a:t>01.03.2026 бастап: 5 кг орнына 7 кг</a:t>
                      </a:r>
                    </a:p>
                  </a:txBody>
                  <a:tcPr marL="133350" marR="133350" marT="95250" marB="95250">
                    <a:solidFill>
                      <a:srgbClr val="EEF2E8"/>
                    </a:solidFill>
                  </a:tcPr>
                </a:tc>
              </a:tr>
            </a:tbl>
          </a:graphicData>
        </a:graphic>
      </p:graphicFrame>
      <p:sp>
        <p:nvSpPr>
          <p:cNvPr id="4" name="Text Сандар дұрыс. Ереже өзгерген">
            <a:extLst xmlns:a="http://schemas.openxmlformats.org/drawingml/2006/main">
              <a:ext uri="{FF2B5EF4-FFF2-40B4-BE49-F238E27FC236}">
                <a16:creationId xmlns:a16="http://schemas.microsoft.com/office/drawing/2014/main" id="{3EF65A0A-300C-4688-8B4B-B8AF11B21A47}"/>
              </a:ext>
            </a:extLst>
          </p:cNvPr>
          <p:cNvSpPr>
            <a:spLocks xmlns:a="http://schemas.openxmlformats.org/drawingml/2006/main" noGrp="1"/>
          </p:cNvSpPr>
          <p:nvPr/>
        </p:nvSpPr>
        <p:spPr>
          <a:xfrm xmlns:a="http://schemas.openxmlformats.org/drawingml/2006/main">
            <a:off x="704850" y="43719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456B24"/>
                </a:solidFill>
                <a:latin typeface="Arial"/>
                <a:ea typeface="Arial"/>
                <a:cs typeface="Arial"/>
              </a:defRPr>
            </a:pPr>
            <a:r>
              <a:rPr sz="2400" b="1">
                <a:solidFill>
                  <a:srgbClr val="456B24"/>
                </a:solidFill>
                <a:latin typeface="Arial"/>
                <a:ea typeface="Arial"/>
                <a:cs typeface="Arial"/>
              </a:rPr>
              <a:t>Сандар дұрыс. Ереже өзгергені жауапта көрсетілмеген.</a:t>
            </a:r>
          </a:p>
        </p:txBody>
      </p:sp>
      <p:sp>
        <p:nvSpPr>
          <p:cNvPr id="5" name="Text Нақтылау: «Осы ресми жаңалық">
            <a:extLst xmlns:a="http://schemas.openxmlformats.org/drawingml/2006/main">
              <a:ext uri="{FF2B5EF4-FFF2-40B4-BE49-F238E27FC236}">
                <a16:creationId xmlns:a16="http://schemas.microsoft.com/office/drawing/2014/main" id="{1D9E9E6B-F37A-49E0-A46B-61861ECF98EA}"/>
              </a:ext>
            </a:extLst>
          </p:cNvPr>
          <p:cNvSpPr>
            <a:spLocks xmlns:a="http://schemas.openxmlformats.org/drawingml/2006/main" noGrp="1"/>
          </p:cNvSpPr>
          <p:nvPr/>
        </p:nvSpPr>
        <p:spPr>
          <a:xfrm xmlns:a="http://schemas.openxmlformats.org/drawingml/2006/main">
            <a:off x="704850" y="553402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2030"/>
                </a:solidFill>
                <a:latin typeface="Arial"/>
                <a:ea typeface="Arial"/>
                <a:cs typeface="Arial"/>
              </a:defRPr>
            </a:pPr>
            <a:r>
              <a:rPr sz="2175" b="0">
                <a:solidFill>
                  <a:srgbClr val="172030"/>
                </a:solidFill>
                <a:latin typeface="Arial"/>
                <a:ea typeface="Arial"/>
                <a:cs typeface="Arial"/>
              </a:rPr>
              <a:t>Нақтылау: «Осы ресми жаңалықты ескеріп, жауапты түзет». </a:t>
            </a:r>
          </a:p>
        </p:txBody>
      </p:sp>
    </p:spTree>
    <p:extLst>
      <p:ext uri="{BB962C8B-B14F-4D97-AF65-F5344CB8AC3E}">
        <p14:creationId xmlns:p14="http://schemas.microsoft.com/office/powerpoint/2010/main" val="1702293842"/>
      </p:ext>
    </p:extLst>
  </p:cSld>
</p:sld>
</file>

<file path=ppt/slides/slide18.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6" name="Text Perplexity: сатып алудан бұр">
            <a:extLst xmlns:a="http://schemas.openxmlformats.org/drawingml/2006/main">
              <a:ext uri="{FF2B5EF4-FFF2-40B4-BE49-F238E27FC236}">
                <a16:creationId xmlns:a16="http://schemas.microsoft.com/office/drawing/2014/main" id="{E3E28B92-2E2B-439A-BA6F-9DDBF980AB89}"/>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Perplexity: сатып алудан бұрын салыстыру</a:t>
            </a:r>
          </a:p>
        </p:txBody>
      </p:sp>
      <p:sp>
        <p:nvSpPr>
          <p:cNvPr id="2" name="Extra page 17">
            <a:extLst xmlns:a="http://schemas.openxmlformats.org/drawingml/2006/main">
              <a:ext uri="{FF2B5EF4-FFF2-40B4-BE49-F238E27FC236}">
                <a16:creationId xmlns:a16="http://schemas.microsoft.com/office/drawing/2014/main" id="{E79769FB-1A20-43C3-A2F5-7E7D1B24FAB4}"/>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18</a:t>
            </a:r>
          </a:p>
        </p:txBody>
      </p:sp>
      <p:sp>
        <p:nvSpPr>
          <p:cNvPr id="3" name="Text Екі үлгі таңдаңыз: шәйнек, ш">
            <a:extLst xmlns:a="http://schemas.openxmlformats.org/drawingml/2006/main">
              <a:ext uri="{FF2B5EF4-FFF2-40B4-BE49-F238E27FC236}">
                <a16:creationId xmlns:a16="http://schemas.microsoft.com/office/drawing/2014/main" id="{CE3C1731-6E0D-4FCF-98CF-7DC859D371DF}"/>
              </a:ext>
            </a:extLst>
          </p:cNvPr>
          <p:cNvSpPr>
            <a:spLocks xmlns:a="http://schemas.openxmlformats.org/drawingml/2006/main" noGrp="1"/>
          </p:cNvSpPr>
          <p:nvPr/>
        </p:nvSpPr>
        <p:spPr>
          <a:xfrm xmlns:a="http://schemas.openxmlformats.org/drawingml/2006/main">
            <a:off x="704850" y="14287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456B24"/>
                </a:solidFill>
                <a:latin typeface="Arial"/>
                <a:ea typeface="Arial"/>
                <a:cs typeface="Arial"/>
              </a:defRPr>
            </a:pPr>
            <a:r>
              <a:rPr sz="2400" b="1">
                <a:solidFill>
                  <a:srgbClr val="456B24"/>
                </a:solidFill>
                <a:latin typeface="Arial"/>
                <a:ea typeface="Arial"/>
                <a:cs typeface="Arial"/>
              </a:rPr>
              <a:t>Екі үлгі таңдаңыз: шәйнек, шаңсорғыш немесе принтер.</a:t>
            </a:r>
          </a:p>
        </p:txBody>
      </p:sp>
      <p:sp>
        <p:nvSpPr>
          <p:cNvPr id="4" name="Text «Мына екі үлгіні салыстыр: [">
            <a:extLst xmlns:a="http://schemas.openxmlformats.org/drawingml/2006/main">
              <a:ext uri="{FF2B5EF4-FFF2-40B4-BE49-F238E27FC236}">
                <a16:creationId xmlns:a16="http://schemas.microsoft.com/office/drawing/2014/main" id="{16EE6D7A-91F4-49B4-86C5-C9161C07DC0F}"/>
              </a:ext>
            </a:extLst>
          </p:cNvPr>
          <p:cNvSpPr>
            <a:spLocks xmlns:a="http://schemas.openxmlformats.org/drawingml/2006/main" noGrp="1"/>
          </p:cNvSpPr>
          <p:nvPr/>
        </p:nvSpPr>
        <p:spPr>
          <a:xfrm xmlns:a="http://schemas.openxmlformats.org/drawingml/2006/main">
            <a:off x="704850" y="2428875"/>
            <a:ext cx="10668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2030"/>
                </a:solidFill>
                <a:latin typeface="Arial"/>
                <a:ea typeface="Arial"/>
                <a:cs typeface="Arial"/>
              </a:defRPr>
            </a:pPr>
            <a:r>
              <a:rPr sz="2400" b="0">
                <a:solidFill>
                  <a:srgbClr val="172030"/>
                </a:solidFill>
                <a:latin typeface="Arial"/>
                <a:ea typeface="Arial"/>
                <a:cs typeface="Arial"/>
              </a:rPr>
              <a:t>«Мына екі үлгіні салыстыр: [сілтемелер]. Сипаттамаларын өндірушілердің сайттарынан тексер. Менің талабым [талаптар] үшін айырмашылықтарын, шығын материалдарын және шектеулерін көрсет. Бағасы бар болса, күні мен сатушысын жаз». </a:t>
            </a:r>
          </a:p>
        </p:txBody>
      </p:sp>
      <p:sp>
        <p:nvSpPr>
          <p:cNvPr id="5" name="Text Тексеру: нақты үлгі, жинақ қ">
            <a:extLst xmlns:a="http://schemas.openxmlformats.org/drawingml/2006/main">
              <a:ext uri="{FF2B5EF4-FFF2-40B4-BE49-F238E27FC236}">
                <a16:creationId xmlns:a16="http://schemas.microsoft.com/office/drawing/2014/main" id="{32E8AF46-9178-4901-955A-2BAD96AB2B41}"/>
              </a:ext>
            </a:extLst>
          </p:cNvPr>
          <p:cNvSpPr>
            <a:spLocks xmlns:a="http://schemas.openxmlformats.org/drawingml/2006/main" noGrp="1"/>
          </p:cNvSpPr>
          <p:nvPr/>
        </p:nvSpPr>
        <p:spPr>
          <a:xfrm xmlns:a="http://schemas.openxmlformats.org/drawingml/2006/main">
            <a:off x="704850" y="570547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456B24"/>
                </a:solidFill>
                <a:latin typeface="Arial"/>
                <a:ea typeface="Arial"/>
                <a:cs typeface="Arial"/>
              </a:defRPr>
            </a:pPr>
            <a:r>
              <a:rPr sz="2025" b="1">
                <a:solidFill>
                  <a:srgbClr val="456B24"/>
                </a:solidFill>
                <a:latin typeface="Arial"/>
                <a:ea typeface="Arial"/>
                <a:cs typeface="Arial"/>
              </a:rPr>
              <a:t>Тексеру: нақты үлгі, жинақ құрамы, күн және сілтеме.</a:t>
            </a:r>
          </a:p>
        </p:txBody>
      </p:sp>
    </p:spTree>
    <p:extLst>
      <p:ext uri="{BB962C8B-B14F-4D97-AF65-F5344CB8AC3E}">
        <p14:creationId xmlns:p14="http://schemas.microsoft.com/office/powerpoint/2010/main" val="1486476974"/>
      </p:ext>
    </p:extLst>
  </p:cSld>
</p:sld>
</file>

<file path=ppt/slides/slide19.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6" name="Text Grok: басымдықтар туралы әңг">
            <a:extLst xmlns:a="http://schemas.openxmlformats.org/drawingml/2006/main">
              <a:ext uri="{FF2B5EF4-FFF2-40B4-BE49-F238E27FC236}">
                <a16:creationId xmlns:a16="http://schemas.microsoft.com/office/drawing/2014/main" id="{9B767851-3009-431A-92E8-8A132837383A}"/>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Grok: басымдықтар туралы әңгіме</a:t>
            </a:r>
          </a:p>
        </p:txBody>
      </p:sp>
      <p:sp>
        <p:nvSpPr>
          <p:cNvPr id="2" name="Extra page 18">
            <a:extLst xmlns:a="http://schemas.openxmlformats.org/drawingml/2006/main">
              <a:ext uri="{FF2B5EF4-FFF2-40B4-BE49-F238E27FC236}">
                <a16:creationId xmlns:a16="http://schemas.microsoft.com/office/drawing/2014/main" id="{6CC18C16-5D74-4234-B4DC-B3479FB788DB}"/>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19</a:t>
            </a:r>
          </a:p>
        </p:txBody>
      </p:sp>
      <p:sp>
        <p:nvSpPr>
          <p:cNvPr id="3" name="Text Жұмысқа 12 сағат керек. Жұмы">
            <a:extLst xmlns:a="http://schemas.openxmlformats.org/drawingml/2006/main">
              <a:ext uri="{FF2B5EF4-FFF2-40B4-BE49-F238E27FC236}">
                <a16:creationId xmlns:a16="http://schemas.microsoft.com/office/drawing/2014/main" id="{20AA2213-9EFF-4982-85D2-6B353954DE49}"/>
              </a:ext>
            </a:extLst>
          </p:cNvPr>
          <p:cNvSpPr>
            <a:spLocks xmlns:a="http://schemas.openxmlformats.org/drawingml/2006/main" noGrp="1"/>
          </p:cNvSpPr>
          <p:nvPr/>
        </p:nvSpPr>
        <p:spPr>
          <a:xfrm xmlns:a="http://schemas.openxmlformats.org/drawingml/2006/main">
            <a:off x="704850" y="14382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456B24"/>
                </a:solidFill>
                <a:latin typeface="Arial"/>
                <a:ea typeface="Arial"/>
                <a:cs typeface="Arial"/>
              </a:defRPr>
            </a:pPr>
            <a:r>
              <a:rPr sz="2550" b="1">
                <a:solidFill>
                  <a:srgbClr val="456B24"/>
                </a:solidFill>
                <a:latin typeface="Arial"/>
                <a:ea typeface="Arial"/>
                <a:cs typeface="Arial"/>
              </a:rPr>
              <a:t>Жұмысқа 12 сағат керек. Жұмыс күні 8 сағат.</a:t>
            </a:r>
          </a:p>
        </p:txBody>
      </p:sp>
      <p:sp>
        <p:nvSpPr>
          <p:cNvPr id="4" name="Text «Сен басшысың, мен қызметкер">
            <a:extLst xmlns:a="http://schemas.openxmlformats.org/drawingml/2006/main">
              <a:ext uri="{FF2B5EF4-FFF2-40B4-BE49-F238E27FC236}">
                <a16:creationId xmlns:a16="http://schemas.microsoft.com/office/drawing/2014/main" id="{ADC968F3-7E05-44F0-A6A8-FBF00A63B23B}"/>
              </a:ext>
            </a:extLst>
          </p:cNvPr>
          <p:cNvSpPr>
            <a:spLocks xmlns:a="http://schemas.openxmlformats.org/drawingml/2006/main" noGrp="1"/>
          </p:cNvSpPr>
          <p:nvPr/>
        </p:nvSpPr>
        <p:spPr>
          <a:xfrm xmlns:a="http://schemas.openxmlformats.org/drawingml/2006/main">
            <a:off x="704850" y="2428875"/>
            <a:ext cx="10668000" cy="2686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0">
                <a:solidFill>
                  <a:srgbClr val="172030"/>
                </a:solidFill>
                <a:latin typeface="Arial"/>
                <a:ea typeface="Arial"/>
                <a:cs typeface="Arial"/>
              </a:defRPr>
            </a:pPr>
            <a:r>
              <a:rPr sz="2475" b="0">
                <a:solidFill>
                  <a:srgbClr val="172030"/>
                </a:solidFill>
                <a:latin typeface="Arial"/>
                <a:ea typeface="Arial"/>
                <a:cs typeface="Arial"/>
              </a:rPr>
              <a:t>«Сен басшысың, мен қызметкермін. Есепке 5 сағат, өтінімдерді салыстыруға 4, хаттарға 3 сағат керек. Бәрі бүгін қажет. Басымдықтарды сабырмен талқылауға көмектес. Бір-бірден сұрақ қойып, жауабымды күт». </a:t>
            </a:r>
          </a:p>
        </p:txBody>
      </p:sp>
      <p:sp>
        <p:nvSpPr>
          <p:cNvPr id="5" name="Text grok.com  ·  жаңа чат  ·  ке">
            <a:extLst xmlns:a="http://schemas.openxmlformats.org/drawingml/2006/main">
              <a:ext uri="{FF2B5EF4-FFF2-40B4-BE49-F238E27FC236}">
                <a16:creationId xmlns:a16="http://schemas.microsoft.com/office/drawing/2014/main" id="{95D607B1-C24B-4696-A32A-750657B579BC}"/>
              </a:ext>
            </a:extLst>
          </p:cNvPr>
          <p:cNvSpPr>
            <a:spLocks xmlns:a="http://schemas.openxmlformats.org/drawingml/2006/main" noGrp="1"/>
          </p:cNvSpPr>
          <p:nvPr/>
        </p:nvSpPr>
        <p:spPr>
          <a:xfrm xmlns:a="http://schemas.openxmlformats.org/drawingml/2006/main">
            <a:off x="704850" y="577215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596273"/>
                </a:solidFill>
                <a:latin typeface="Arial"/>
                <a:ea typeface="Arial"/>
                <a:cs typeface="Arial"/>
              </a:defRPr>
            </a:pPr>
            <a:r>
              <a:rPr sz="2025" b="0">
                <a:solidFill>
                  <a:srgbClr val="596273"/>
                </a:solidFill>
                <a:latin typeface="Arial"/>
                <a:ea typeface="Arial"/>
                <a:cs typeface="Arial"/>
              </a:rPr>
              <a:t>grok.com  ·  жаңа чат  ·  кезекпен жауап береміз</a:t>
            </a:r>
          </a:p>
        </p:txBody>
      </p:sp>
    </p:spTree>
    <p:extLst>
      <p:ext uri="{BB962C8B-B14F-4D97-AF65-F5344CB8AC3E}">
        <p14:creationId xmlns:p14="http://schemas.microsoft.com/office/powerpoint/2010/main" val="540183867"/>
      </p:ext>
    </p:extLst>
  </p:cSld>
</p:sld>
</file>

<file path=ppt/slides/slide20.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7" name="Text Қысқа әңгімені жаттықтыру">
            <a:extLst xmlns:a="http://schemas.openxmlformats.org/drawingml/2006/main">
              <a:ext uri="{FF2B5EF4-FFF2-40B4-BE49-F238E27FC236}">
                <a16:creationId xmlns:a16="http://schemas.microsoft.com/office/drawing/2014/main" id="{11B2B3C5-2107-4A3B-AA4A-E4CFFF0893B9}"/>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Қысқа әңгімені жаттықтыру</a:t>
            </a:r>
          </a:p>
        </p:txBody>
      </p:sp>
      <p:sp>
        <p:nvSpPr>
          <p:cNvPr id="2" name="Extra page 19">
            <a:extLst xmlns:a="http://schemas.openxmlformats.org/drawingml/2006/main">
              <a:ext uri="{FF2B5EF4-FFF2-40B4-BE49-F238E27FC236}">
                <a16:creationId xmlns:a16="http://schemas.microsoft.com/office/drawing/2014/main" id="{B0022DE9-CC4B-4705-B8E5-C2D2E9D65C1C}"/>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20</a:t>
            </a:r>
          </a:p>
        </p:txBody>
      </p:sp>
      <p:sp>
        <p:nvSpPr>
          <p:cNvPr id="3" name="Text Оқу диалогы">
            <a:extLst xmlns:a="http://schemas.openxmlformats.org/drawingml/2006/main">
              <a:ext uri="{FF2B5EF4-FFF2-40B4-BE49-F238E27FC236}">
                <a16:creationId xmlns:a16="http://schemas.microsoft.com/office/drawing/2014/main" id="{82C08494-85AA-490D-9354-01984C63FE44}"/>
              </a:ext>
            </a:extLst>
          </p:cNvPr>
          <p:cNvSpPr>
            <a:spLocks xmlns:a="http://schemas.openxmlformats.org/drawingml/2006/main" noGrp="1"/>
          </p:cNvSpPr>
          <p:nvPr/>
        </p:nvSpPr>
        <p:spPr>
          <a:xfrm xmlns:a="http://schemas.openxmlformats.org/drawingml/2006/main">
            <a:off x="704850" y="13620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96273"/>
                </a:solidFill>
                <a:latin typeface="Arial"/>
                <a:ea typeface="Arial"/>
                <a:cs typeface="Arial"/>
              </a:defRPr>
            </a:pPr>
            <a:r>
              <a:rPr sz="1875" b="0">
                <a:solidFill>
                  <a:srgbClr val="596273"/>
                </a:solidFill>
                <a:latin typeface="Arial"/>
                <a:ea typeface="Arial"/>
                <a:cs typeface="Arial"/>
              </a:rPr>
              <a:t>Оқу диалогы</a:t>
            </a:r>
          </a:p>
        </p:txBody>
      </p:sp>
      <p:sp>
        <p:nvSpPr>
          <p:cNvPr id="4" name="Text Басшы: «Неге бүгін бәріне үл">
            <a:extLst xmlns:a="http://schemas.openxmlformats.org/drawingml/2006/main">
              <a:ext uri="{FF2B5EF4-FFF2-40B4-BE49-F238E27FC236}">
                <a16:creationId xmlns:a16="http://schemas.microsoft.com/office/drawing/2014/main" id="{DCF8FA06-A196-4825-8E93-945FDF3CC256}"/>
              </a:ext>
            </a:extLst>
          </p:cNvPr>
          <p:cNvSpPr>
            <a:spLocks xmlns:a="http://schemas.openxmlformats.org/drawingml/2006/main" noGrp="1"/>
          </p:cNvSpPr>
          <p:nvPr/>
        </p:nvSpPr>
        <p:spPr>
          <a:xfrm xmlns:a="http://schemas.openxmlformats.org/drawingml/2006/main">
            <a:off x="704850" y="21431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456B24"/>
                </a:solidFill>
                <a:latin typeface="Arial"/>
                <a:ea typeface="Arial"/>
                <a:cs typeface="Arial"/>
              </a:defRPr>
            </a:pPr>
            <a:r>
              <a:rPr sz="2400" b="1">
                <a:solidFill>
                  <a:srgbClr val="456B24"/>
                </a:solidFill>
                <a:latin typeface="Arial"/>
                <a:ea typeface="Arial"/>
                <a:cs typeface="Arial"/>
              </a:rPr>
              <a:t>Басшы: «Неге бүгін бәріне үлгермейміз?»</a:t>
            </a:r>
          </a:p>
        </p:txBody>
      </p:sp>
      <p:sp>
        <p:nvSpPr>
          <p:cNvPr id="5" name="Text Қызметкер: «Тапсырмаларға 12">
            <a:extLst xmlns:a="http://schemas.openxmlformats.org/drawingml/2006/main">
              <a:ext uri="{FF2B5EF4-FFF2-40B4-BE49-F238E27FC236}">
                <a16:creationId xmlns:a16="http://schemas.microsoft.com/office/drawing/2014/main" id="{E2895EB9-DEC5-408F-8A94-A4CBA2217530}"/>
              </a:ext>
            </a:extLst>
          </p:cNvPr>
          <p:cNvSpPr>
            <a:spLocks xmlns:a="http://schemas.openxmlformats.org/drawingml/2006/main" noGrp="1"/>
          </p:cNvSpPr>
          <p:nvPr/>
        </p:nvSpPr>
        <p:spPr>
          <a:xfrm xmlns:a="http://schemas.openxmlformats.org/drawingml/2006/main">
            <a:off x="704850" y="3267075"/>
            <a:ext cx="10668000"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172030"/>
                </a:solidFill>
                <a:latin typeface="Arial"/>
                <a:ea typeface="Arial"/>
                <a:cs typeface="Arial"/>
              </a:defRPr>
            </a:pPr>
            <a:r>
              <a:rPr sz="2550" b="0">
                <a:solidFill>
                  <a:srgbClr val="172030"/>
                </a:solidFill>
                <a:latin typeface="Arial"/>
                <a:ea typeface="Arial"/>
                <a:cs typeface="Arial"/>
              </a:rPr>
              <a:t>Қызметкер: «Тапсырмаларға 12 сағат керек, қолда бар уақыт 8 сағат. Бүгін қайсысын аяқтау маңызды? Қалғанын ауыстыруды немесе басқа адамға беруді ұсынамын». </a:t>
            </a:r>
          </a:p>
        </p:txBody>
      </p:sp>
      <p:sp>
        <p:nvSpPr>
          <p:cNvPr id="6" name="Text Grok-ке нақтылау: «Жауабымды">
            <a:extLst xmlns:a="http://schemas.openxmlformats.org/drawingml/2006/main">
              <a:ext uri="{FF2B5EF4-FFF2-40B4-BE49-F238E27FC236}">
                <a16:creationId xmlns:a16="http://schemas.microsoft.com/office/drawing/2014/main" id="{673BA050-B91B-4C6A-B6A4-07AA70288C74}"/>
              </a:ext>
            </a:extLst>
          </p:cNvPr>
          <p:cNvSpPr>
            <a:spLocks xmlns:a="http://schemas.openxmlformats.org/drawingml/2006/main" noGrp="1"/>
          </p:cNvSpPr>
          <p:nvPr/>
        </p:nvSpPr>
        <p:spPr>
          <a:xfrm xmlns:a="http://schemas.openxmlformats.org/drawingml/2006/main">
            <a:off x="70485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72030"/>
                </a:solidFill>
                <a:latin typeface="Arial"/>
                <a:ea typeface="Arial"/>
                <a:cs typeface="Arial"/>
              </a:defRPr>
            </a:pPr>
            <a:r>
              <a:rPr sz="2025" b="0">
                <a:solidFill>
                  <a:srgbClr val="172030"/>
                </a:solidFill>
                <a:latin typeface="Arial"/>
                <a:ea typeface="Arial"/>
                <a:cs typeface="Arial"/>
              </a:rPr>
              <a:t>Grok-ке нақтылау: «Жауабымды бағалап, қысқа нұсқасын ұсын». </a:t>
            </a:r>
          </a:p>
        </p:txBody>
      </p:sp>
    </p:spTree>
    <p:extLst>
      <p:ext uri="{BB962C8B-B14F-4D97-AF65-F5344CB8AC3E}">
        <p14:creationId xmlns:p14="http://schemas.microsoft.com/office/powerpoint/2010/main" val="798914478"/>
      </p:ext>
    </p:extLst>
  </p:cSld>
</p:sld>
</file>

<file path=ppt/slides/slide21.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7" name="Text Өз жауабыңызды қалай тексере">
            <a:extLst xmlns:a="http://schemas.openxmlformats.org/drawingml/2006/main">
              <a:ext uri="{FF2B5EF4-FFF2-40B4-BE49-F238E27FC236}">
                <a16:creationId xmlns:a16="http://schemas.microsoft.com/office/drawing/2014/main" id="{2B437956-650C-4BFA-9561-438524AB6C55}"/>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Өз жауабыңызды қалай тексересіз</a:t>
            </a:r>
          </a:p>
        </p:txBody>
      </p:sp>
      <p:sp>
        <p:nvSpPr>
          <p:cNvPr id="2" name="Extra page 20">
            <a:extLst xmlns:a="http://schemas.openxmlformats.org/drawingml/2006/main">
              <a:ext uri="{FF2B5EF4-FFF2-40B4-BE49-F238E27FC236}">
                <a16:creationId xmlns:a16="http://schemas.microsoft.com/office/drawing/2014/main" id="{4B70B1E1-2175-4549-AF2E-8C986C4613A6}"/>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21</a:t>
            </a:r>
          </a:p>
        </p:txBody>
      </p:sp>
      <p:sp>
        <p:nvSpPr>
          <p:cNvPr id="3" name="Text 5 + 4 + 3 = 12 сағат. 4 саға">
            <a:extLst xmlns:a="http://schemas.openxmlformats.org/drawingml/2006/main">
              <a:ext uri="{FF2B5EF4-FFF2-40B4-BE49-F238E27FC236}">
                <a16:creationId xmlns:a16="http://schemas.microsoft.com/office/drawing/2014/main" id="{70158268-1F04-4598-A7A3-DADF283F7EAD}"/>
              </a:ext>
            </a:extLst>
          </p:cNvPr>
          <p:cNvSpPr>
            <a:spLocks xmlns:a="http://schemas.openxmlformats.org/drawingml/2006/main" noGrp="1"/>
          </p:cNvSpPr>
          <p:nvPr/>
        </p:nvSpPr>
        <p:spPr>
          <a:xfrm xmlns:a="http://schemas.openxmlformats.org/drawingml/2006/main">
            <a:off x="704850" y="15811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456B24"/>
                </a:solidFill>
                <a:latin typeface="Arial"/>
                <a:ea typeface="Arial"/>
                <a:cs typeface="Arial"/>
              </a:defRPr>
            </a:pPr>
            <a:r>
              <a:rPr sz="2625" b="1">
                <a:solidFill>
                  <a:srgbClr val="456B24"/>
                </a:solidFill>
                <a:latin typeface="Arial"/>
                <a:ea typeface="Arial"/>
                <a:cs typeface="Arial"/>
              </a:rPr>
              <a:t>5 + 4 + 3 = 12 сағат. 4 сағат жетіспейді.</a:t>
            </a:r>
          </a:p>
        </p:txBody>
      </p:sp>
      <p:sp>
        <p:nvSpPr>
          <p:cNvPr id="4" name="Text Деректер мен нақты уақыт бағ">
            <a:extLst xmlns:a="http://schemas.openxmlformats.org/drawingml/2006/main">
              <a:ext uri="{FF2B5EF4-FFF2-40B4-BE49-F238E27FC236}">
                <a16:creationId xmlns:a16="http://schemas.microsoft.com/office/drawing/2014/main" id="{EA342C7F-7EAC-4960-8969-2EAD4BD45DC9}"/>
              </a:ext>
            </a:extLst>
          </p:cNvPr>
          <p:cNvSpPr>
            <a:spLocks xmlns:a="http://schemas.openxmlformats.org/drawingml/2006/main" noGrp="1"/>
          </p:cNvSpPr>
          <p:nvPr/>
        </p:nvSpPr>
        <p:spPr>
          <a:xfrm xmlns:a="http://schemas.openxmlformats.org/drawingml/2006/main">
            <a:off x="704850" y="28670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2030"/>
                </a:solidFill>
                <a:latin typeface="Arial"/>
                <a:ea typeface="Arial"/>
                <a:cs typeface="Arial"/>
              </a:defRPr>
            </a:pPr>
            <a:r>
              <a:rPr sz="2400" b="0">
                <a:solidFill>
                  <a:srgbClr val="172030"/>
                </a:solidFill>
                <a:latin typeface="Arial"/>
                <a:ea typeface="Arial"/>
                <a:cs typeface="Arial"/>
              </a:rPr>
              <a:t>Деректер мен нақты уақыт бағасы бар.</a:t>
            </a:r>
          </a:p>
        </p:txBody>
      </p:sp>
      <p:sp>
        <p:nvSpPr>
          <p:cNvPr id="5" name="Text Басымдық туралы сұрақ пен ор">
            <a:extLst xmlns:a="http://schemas.openxmlformats.org/drawingml/2006/main">
              <a:ext uri="{FF2B5EF4-FFF2-40B4-BE49-F238E27FC236}">
                <a16:creationId xmlns:a16="http://schemas.microsoft.com/office/drawing/2014/main" id="{3E629E38-5199-4949-B5A5-D2D6601FE83D}"/>
              </a:ext>
            </a:extLst>
          </p:cNvPr>
          <p:cNvSpPr>
            <a:spLocks xmlns:a="http://schemas.openxmlformats.org/drawingml/2006/main" noGrp="1"/>
          </p:cNvSpPr>
          <p:nvPr/>
        </p:nvSpPr>
        <p:spPr>
          <a:xfrm xmlns:a="http://schemas.openxmlformats.org/drawingml/2006/main">
            <a:off x="704850" y="38671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2030"/>
                </a:solidFill>
                <a:latin typeface="Arial"/>
                <a:ea typeface="Arial"/>
                <a:cs typeface="Arial"/>
              </a:defRPr>
            </a:pPr>
            <a:r>
              <a:rPr sz="2400" b="0">
                <a:solidFill>
                  <a:srgbClr val="172030"/>
                </a:solidFill>
                <a:latin typeface="Arial"/>
                <a:ea typeface="Arial"/>
                <a:cs typeface="Arial"/>
              </a:rPr>
              <a:t>Басымдық туралы сұрақ пен орындалатын нұсқа бар.</a:t>
            </a:r>
          </a:p>
        </p:txBody>
      </p:sp>
      <p:sp>
        <p:nvSpPr>
          <p:cNvPr id="6" name="Text Кінәлау және мүмкін емес уәд">
            <a:extLst xmlns:a="http://schemas.openxmlformats.org/drawingml/2006/main">
              <a:ext uri="{FF2B5EF4-FFF2-40B4-BE49-F238E27FC236}">
                <a16:creationId xmlns:a16="http://schemas.microsoft.com/office/drawing/2014/main" id="{356F576D-1562-498C-80BF-EA63E25A259E}"/>
              </a:ext>
            </a:extLst>
          </p:cNvPr>
          <p:cNvSpPr>
            <a:spLocks xmlns:a="http://schemas.openxmlformats.org/drawingml/2006/main" noGrp="1"/>
          </p:cNvSpPr>
          <p:nvPr/>
        </p:nvSpPr>
        <p:spPr>
          <a:xfrm xmlns:a="http://schemas.openxmlformats.org/drawingml/2006/main">
            <a:off x="704850" y="48672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2030"/>
                </a:solidFill>
                <a:latin typeface="Arial"/>
                <a:ea typeface="Arial"/>
                <a:cs typeface="Arial"/>
              </a:defRPr>
            </a:pPr>
            <a:r>
              <a:rPr sz="2400" b="0">
                <a:solidFill>
                  <a:srgbClr val="172030"/>
                </a:solidFill>
                <a:latin typeface="Arial"/>
                <a:ea typeface="Arial"/>
                <a:cs typeface="Arial"/>
              </a:rPr>
              <a:t>Кінәлау және мүмкін емес уәде жоқ.</a:t>
            </a:r>
          </a:p>
        </p:txBody>
      </p:sp>
    </p:spTree>
    <p:extLst>
      <p:ext uri="{BB962C8B-B14F-4D97-AF65-F5344CB8AC3E}">
        <p14:creationId xmlns:p14="http://schemas.microsoft.com/office/powerpoint/2010/main" val="2022901229"/>
      </p:ext>
    </p:extLst>
  </p:cSld>
</p:sld>
</file>

<file path=ppt/slides/slide22.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6" name="Text Grok: күнді шамадан тыс жүкт">
            <a:extLst xmlns:a="http://schemas.openxmlformats.org/drawingml/2006/main">
              <a:ext uri="{FF2B5EF4-FFF2-40B4-BE49-F238E27FC236}">
                <a16:creationId xmlns:a16="http://schemas.microsoft.com/office/drawing/2014/main" id="{06515CD7-37A9-4B5D-9133-FB5D60CCB8F2}"/>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Grok: күнді шамадан тыс жүктемеу</a:t>
            </a:r>
          </a:p>
        </p:txBody>
      </p:sp>
      <p:sp>
        <p:nvSpPr>
          <p:cNvPr id="2" name="Extra page 21">
            <a:extLst xmlns:a="http://schemas.openxmlformats.org/drawingml/2006/main">
              <a:ext uri="{FF2B5EF4-FFF2-40B4-BE49-F238E27FC236}">
                <a16:creationId xmlns:a16="http://schemas.microsoft.com/office/drawing/2014/main" id="{3948ED60-BB01-488D-A855-9E87DC5F5F39}"/>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22</a:t>
            </a:r>
          </a:p>
        </p:txBody>
      </p:sp>
      <p:sp>
        <p:nvSpPr>
          <p:cNvPr id="3" name="Text «10:00-ден 16:00-ге дейін аз">
            <a:extLst xmlns:a="http://schemas.openxmlformats.org/drawingml/2006/main">
              <a:ext uri="{FF2B5EF4-FFF2-40B4-BE49-F238E27FC236}">
                <a16:creationId xmlns:a16="http://schemas.microsoft.com/office/drawing/2014/main" id="{5EF51454-19CC-4C1F-8A68-3F8AE8B4CCF0}"/>
              </a:ext>
            </a:extLst>
          </p:cNvPr>
          <p:cNvSpPr>
            <a:spLocks xmlns:a="http://schemas.openxmlformats.org/drawingml/2006/main" noGrp="1"/>
          </p:cNvSpPr>
          <p:nvPr/>
        </p:nvSpPr>
        <p:spPr>
          <a:xfrm xmlns:a="http://schemas.openxmlformats.org/drawingml/2006/main">
            <a:off x="704850" y="1581150"/>
            <a:ext cx="10668000" cy="2924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172030"/>
                </a:solidFill>
                <a:latin typeface="Arial"/>
                <a:ea typeface="Arial"/>
                <a:cs typeface="Arial"/>
              </a:defRPr>
            </a:pPr>
            <a:r>
              <a:rPr sz="2550" b="0">
                <a:solidFill>
                  <a:srgbClr val="172030"/>
                </a:solidFill>
                <a:latin typeface="Arial"/>
                <a:ea typeface="Arial"/>
                <a:cs typeface="Arial"/>
              </a:rPr>
              <a:t>«10:00-ден 16:00-ге дейін азық-түлік алу, сервис орталығына бару және ата-анама соғу керек. Түскі асқа уақыт және 30 минут қор қалдыр. Алдымен жол мен істердің ұзақтығын сұра. Кейін орындалатын жоспар жаса». </a:t>
            </a:r>
          </a:p>
        </p:txBody>
      </p:sp>
      <p:sp>
        <p:nvSpPr>
          <p:cNvPr id="4" name="Text Екінші қадам: «40 минутқа ке">
            <a:extLst xmlns:a="http://schemas.openxmlformats.org/drawingml/2006/main">
              <a:ext uri="{FF2B5EF4-FFF2-40B4-BE49-F238E27FC236}">
                <a16:creationId xmlns:a16="http://schemas.microsoft.com/office/drawing/2014/main" id="{C3BCFDCA-0ABB-4782-87B2-CD05A4093A28}"/>
              </a:ext>
            </a:extLst>
          </p:cNvPr>
          <p:cNvSpPr>
            <a:spLocks xmlns:a="http://schemas.openxmlformats.org/drawingml/2006/main" noGrp="1"/>
          </p:cNvSpPr>
          <p:nvPr/>
        </p:nvSpPr>
        <p:spPr>
          <a:xfrm xmlns:a="http://schemas.openxmlformats.org/drawingml/2006/main">
            <a:off x="704850" y="482917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456B24"/>
                </a:solidFill>
                <a:latin typeface="Arial"/>
                <a:ea typeface="Arial"/>
                <a:cs typeface="Arial"/>
              </a:defRPr>
            </a:pPr>
            <a:r>
              <a:rPr sz="2250" b="1">
                <a:solidFill>
                  <a:srgbClr val="456B24"/>
                </a:solidFill>
                <a:latin typeface="Arial"/>
                <a:ea typeface="Arial"/>
                <a:cs typeface="Arial"/>
              </a:rPr>
              <a:t>Екінші қадам: «40 минутқа кешіктім. Қай істі ауыстырамыз?»</a:t>
            </a:r>
          </a:p>
        </p:txBody>
      </p:sp>
      <p:sp>
        <p:nvSpPr>
          <p:cNvPr id="5" name="Text Тексеру: уақыттар қабаттаспа">
            <a:extLst xmlns:a="http://schemas.openxmlformats.org/drawingml/2006/main">
              <a:ext uri="{FF2B5EF4-FFF2-40B4-BE49-F238E27FC236}">
                <a16:creationId xmlns:a16="http://schemas.microsoft.com/office/drawing/2014/main" id="{631F55E8-C3C5-4555-BDB7-8F822D21D353}"/>
              </a:ext>
            </a:extLst>
          </p:cNvPr>
          <p:cNvSpPr>
            <a:spLocks xmlns:a="http://schemas.openxmlformats.org/drawingml/2006/main" noGrp="1"/>
          </p:cNvSpPr>
          <p:nvPr/>
        </p:nvSpPr>
        <p:spPr>
          <a:xfrm xmlns:a="http://schemas.openxmlformats.org/drawingml/2006/main">
            <a:off x="704850" y="59150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96273"/>
                </a:solidFill>
                <a:latin typeface="Arial"/>
                <a:ea typeface="Arial"/>
                <a:cs typeface="Arial"/>
              </a:defRPr>
            </a:pPr>
            <a:r>
              <a:rPr sz="1875" b="0">
                <a:solidFill>
                  <a:srgbClr val="596273"/>
                </a:solidFill>
                <a:latin typeface="Arial"/>
                <a:ea typeface="Arial"/>
                <a:cs typeface="Arial"/>
              </a:rPr>
              <a:t>Тексеру: уақыттар қабаттаспайды, жол мен қор ескерілген.</a:t>
            </a:r>
          </a:p>
        </p:txBody>
      </p:sp>
    </p:spTree>
    <p:extLst>
      <p:ext uri="{BB962C8B-B14F-4D97-AF65-F5344CB8AC3E}">
        <p14:creationId xmlns:p14="http://schemas.microsoft.com/office/powerpoint/2010/main" val="379537282"/>
      </p:ext>
    </p:extLst>
  </p:cSld>
</p:sld>
</file>

<file path=ppt/slides/slide23.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8" name="Text Балаға ЖОО таңдау">
            <a:extLst xmlns:a="http://schemas.openxmlformats.org/drawingml/2006/main">
              <a:ext uri="{FF2B5EF4-FFF2-40B4-BE49-F238E27FC236}">
                <a16:creationId xmlns:a16="http://schemas.microsoft.com/office/drawing/2014/main" id="{2FDCB41C-98A8-4FBC-B833-98D6C9F73914}"/>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Балаға ЖОО таңдау</a:t>
            </a:r>
          </a:p>
        </p:txBody>
      </p:sp>
      <p:sp>
        <p:nvSpPr>
          <p:cNvPr id="2" name="Text 14">
            <a:extLst xmlns:a="http://schemas.openxmlformats.org/drawingml/2006/main">
              <a:ext uri="{FF2B5EF4-FFF2-40B4-BE49-F238E27FC236}">
                <a16:creationId xmlns:a16="http://schemas.microsoft.com/office/drawing/2014/main" id="{3CEF53CE-2CFF-481C-9AC6-3F16723EC269}"/>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23</a:t>
            </a:r>
          </a:p>
        </p:txBody>
      </p:sp>
      <p:sp>
        <p:nvSpPr>
          <p:cNvPr id="3" name="Text Өз талаптарымыз бойынша салы">
            <a:extLst xmlns:a="http://schemas.openxmlformats.org/drawingml/2006/main">
              <a:ext uri="{FF2B5EF4-FFF2-40B4-BE49-F238E27FC236}">
                <a16:creationId xmlns:a16="http://schemas.microsoft.com/office/drawing/2014/main" id="{A94464B3-4ECF-4B69-9BF4-AEAC21007D43}"/>
              </a:ext>
            </a:extLst>
          </p:cNvPr>
          <p:cNvSpPr>
            <a:spLocks xmlns:a="http://schemas.openxmlformats.org/drawingml/2006/main" noGrp="1"/>
          </p:cNvSpPr>
          <p:nvPr/>
        </p:nvSpPr>
        <p:spPr>
          <a:xfrm xmlns:a="http://schemas.openxmlformats.org/drawingml/2006/main">
            <a:off x="704850" y="15716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456B24"/>
                </a:solidFill>
                <a:latin typeface="Arial"/>
                <a:ea typeface="Arial"/>
                <a:cs typeface="Arial"/>
              </a:defRPr>
            </a:pPr>
            <a:r>
              <a:rPr sz="2625" b="1">
                <a:solidFill>
                  <a:srgbClr val="456B24"/>
                </a:solidFill>
                <a:latin typeface="Arial"/>
                <a:ea typeface="Arial"/>
                <a:cs typeface="Arial"/>
              </a:rPr>
              <a:t>Өз талаптарымыз бойынша салыстырамыз</a:t>
            </a:r>
          </a:p>
        </p:txBody>
      </p:sp>
      <p:sp>
        <p:nvSpPr>
          <p:cNvPr id="4" name="Text Бағыт, қала және оқу тілі">
            <a:extLst xmlns:a="http://schemas.openxmlformats.org/drawingml/2006/main">
              <a:ext uri="{FF2B5EF4-FFF2-40B4-BE49-F238E27FC236}">
                <a16:creationId xmlns:a16="http://schemas.microsoft.com/office/drawing/2014/main" id="{0660B20B-B031-4D5F-9655-2690EB3693DD}"/>
              </a:ext>
            </a:extLst>
          </p:cNvPr>
          <p:cNvSpPr>
            <a:spLocks xmlns:a="http://schemas.openxmlformats.org/drawingml/2006/main" noGrp="1"/>
          </p:cNvSpPr>
          <p:nvPr/>
        </p:nvSpPr>
        <p:spPr>
          <a:xfrm xmlns:a="http://schemas.openxmlformats.org/drawingml/2006/main">
            <a:off x="723900" y="257175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172030"/>
                </a:solidFill>
                <a:latin typeface="Arial"/>
                <a:ea typeface="Arial"/>
                <a:cs typeface="Arial"/>
              </a:defRPr>
            </a:pPr>
            <a:r>
              <a:rPr sz="2550" b="0">
                <a:solidFill>
                  <a:srgbClr val="172030"/>
                </a:solidFill>
                <a:latin typeface="Arial"/>
                <a:ea typeface="Arial"/>
                <a:cs typeface="Arial"/>
              </a:rPr>
              <a:t>Бағыт, қала және оқу тілі</a:t>
            </a:r>
          </a:p>
        </p:txBody>
      </p:sp>
      <p:sp>
        <p:nvSpPr>
          <p:cNvPr id="5" name="Text Оқу құны және жатақхана">
            <a:extLst xmlns:a="http://schemas.openxmlformats.org/drawingml/2006/main">
              <a:ext uri="{FF2B5EF4-FFF2-40B4-BE49-F238E27FC236}">
                <a16:creationId xmlns:a16="http://schemas.microsoft.com/office/drawing/2014/main" id="{FEF789C2-9AFD-4B36-BB34-3533887BFBEB}"/>
              </a:ext>
            </a:extLst>
          </p:cNvPr>
          <p:cNvSpPr>
            <a:spLocks xmlns:a="http://schemas.openxmlformats.org/drawingml/2006/main" noGrp="1"/>
          </p:cNvSpPr>
          <p:nvPr/>
        </p:nvSpPr>
        <p:spPr>
          <a:xfrm xmlns:a="http://schemas.openxmlformats.org/drawingml/2006/main">
            <a:off x="723900" y="348615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172030"/>
                </a:solidFill>
                <a:latin typeface="Arial"/>
                <a:ea typeface="Arial"/>
                <a:cs typeface="Arial"/>
              </a:defRPr>
            </a:pPr>
            <a:r>
              <a:rPr sz="2550" b="0">
                <a:solidFill>
                  <a:srgbClr val="172030"/>
                </a:solidFill>
                <a:latin typeface="Arial"/>
                <a:ea typeface="Arial"/>
                <a:cs typeface="Arial"/>
              </a:rPr>
              <a:t>Оқу құны және жатақхана</a:t>
            </a:r>
          </a:p>
        </p:txBody>
      </p:sp>
      <p:sp>
        <p:nvSpPr>
          <p:cNvPr id="6" name="Text Қажетті жылдың қабылдау шарт">
            <a:extLst xmlns:a="http://schemas.openxmlformats.org/drawingml/2006/main">
              <a:ext uri="{FF2B5EF4-FFF2-40B4-BE49-F238E27FC236}">
                <a16:creationId xmlns:a16="http://schemas.microsoft.com/office/drawing/2014/main" id="{188C41B7-E071-48F8-83CA-ED0666D993EB}"/>
              </a:ext>
            </a:extLst>
          </p:cNvPr>
          <p:cNvSpPr>
            <a:spLocks xmlns:a="http://schemas.openxmlformats.org/drawingml/2006/main" noGrp="1"/>
          </p:cNvSpPr>
          <p:nvPr/>
        </p:nvSpPr>
        <p:spPr>
          <a:xfrm xmlns:a="http://schemas.openxmlformats.org/drawingml/2006/main">
            <a:off x="723900" y="440055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172030"/>
                </a:solidFill>
                <a:latin typeface="Arial"/>
                <a:ea typeface="Arial"/>
                <a:cs typeface="Arial"/>
              </a:defRPr>
            </a:pPr>
            <a:r>
              <a:rPr sz="2550" b="0">
                <a:solidFill>
                  <a:srgbClr val="172030"/>
                </a:solidFill>
                <a:latin typeface="Arial"/>
                <a:ea typeface="Arial"/>
                <a:cs typeface="Arial"/>
              </a:rPr>
              <a:t>Қажетті жылдың қабылдау шарттары</a:t>
            </a:r>
          </a:p>
        </p:txBody>
      </p:sp>
      <p:sp>
        <p:nvSpPr>
          <p:cNvPr id="7" name="Text Нәтиже: кесте және қабылдау ">
            <a:extLst xmlns:a="http://schemas.openxmlformats.org/drawingml/2006/main">
              <a:ext uri="{FF2B5EF4-FFF2-40B4-BE49-F238E27FC236}">
                <a16:creationId xmlns:a16="http://schemas.microsoft.com/office/drawing/2014/main" id="{EAFADB8D-0FA0-4522-9B94-195604189A09}"/>
              </a:ext>
            </a:extLst>
          </p:cNvPr>
          <p:cNvSpPr>
            <a:spLocks xmlns:a="http://schemas.openxmlformats.org/drawingml/2006/main" noGrp="1"/>
          </p:cNvSpPr>
          <p:nvPr/>
        </p:nvSpPr>
        <p:spPr>
          <a:xfrm xmlns:a="http://schemas.openxmlformats.org/drawingml/2006/main">
            <a:off x="704850" y="5410200"/>
            <a:ext cx="10620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72030"/>
                </a:solidFill>
                <a:latin typeface="Arial"/>
                <a:ea typeface="Arial"/>
                <a:cs typeface="Arial"/>
              </a:defRPr>
            </a:pPr>
            <a:r>
              <a:rPr sz="2100" b="0">
                <a:solidFill>
                  <a:srgbClr val="172030"/>
                </a:solidFill>
                <a:latin typeface="Arial"/>
                <a:ea typeface="Arial"/>
                <a:cs typeface="Arial"/>
              </a:rPr>
              <a:t>Нәтиже: кесте және қабылдау комиссиясына сұрақтар.</a:t>
            </a:r>
          </a:p>
          <a:p xmlns:a="http://schemas.openxmlformats.org/drawingml/2006/main">
            <a:pPr>
              <a:buNone/>
              <a:defRPr sz="2100" b="0">
                <a:solidFill>
                  <a:srgbClr val="172030"/>
                </a:solidFill>
                <a:latin typeface="Arial"/>
                <a:ea typeface="Arial"/>
                <a:cs typeface="Arial"/>
              </a:defRPr>
            </a:pPr>
            <a:r>
              <a:rPr sz="2100" b="0">
                <a:solidFill>
                  <a:srgbClr val="172030"/>
                </a:solidFill>
                <a:latin typeface="Arial"/>
                <a:ea typeface="Arial"/>
                <a:cs typeface="Arial"/>
              </a:rPr>
              <a:t>Әр өзекті шартты ЖОО сайтынан тексереміз.</a:t>
            </a:r>
          </a:p>
        </p:txBody>
      </p:sp>
    </p:spTree>
    <p:extLst>
      <p:ext uri="{BB962C8B-B14F-4D97-AF65-F5344CB8AC3E}">
        <p14:creationId xmlns:p14="http://schemas.microsoft.com/office/powerpoint/2010/main" val="37761234"/>
      </p:ext>
    </p:extLst>
  </p:cSld>
</p:sld>
</file>

<file path=ppt/slides/slide24.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6" name="Text Шақыруға арналған сурет">
            <a:extLst xmlns:a="http://schemas.openxmlformats.org/drawingml/2006/main">
              <a:ext uri="{FF2B5EF4-FFF2-40B4-BE49-F238E27FC236}">
                <a16:creationId xmlns:a16="http://schemas.microsoft.com/office/drawing/2014/main" id="{8575CC5D-0037-45B1-AB1A-540F2429CE17}"/>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Шақыруға арналған сурет</a:t>
            </a:r>
          </a:p>
        </p:txBody>
      </p:sp>
      <p:sp>
        <p:nvSpPr>
          <p:cNvPr id="2" name="Text 15">
            <a:extLst xmlns:a="http://schemas.openxmlformats.org/drawingml/2006/main">
              <a:ext uri="{FF2B5EF4-FFF2-40B4-BE49-F238E27FC236}">
                <a16:creationId xmlns:a16="http://schemas.microsoft.com/office/drawing/2014/main" id="{47400CD8-C27B-4E30-B865-4D31273E0511}"/>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24</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0a6feae21dd403f"/>
          <a:stretch xmlns:a="http://schemas.openxmlformats.org/drawingml/2006/main"/>
        </p:blipFill>
        <p:spPr>
          <a:xfrm xmlns:a="http://schemas.openxmlformats.org/drawingml/2006/main">
            <a:off x="717550" y="1524000"/>
            <a:ext cx="5880100" cy="4410075"/>
          </a:xfrm>
          <a:prstGeom xmlns:a="http://schemas.openxmlformats.org/drawingml/2006/main" prst="rect">
            <a:avLst/>
          </a:prstGeom>
        </p:spPr>
      </p:pic>
      <p:sp>
        <p:nvSpPr>
          <p:cNvPr id="4" name="Text «Отбасылық кешкі асқа шақыру">
            <a:extLst xmlns:a="http://schemas.openxmlformats.org/drawingml/2006/main">
              <a:ext uri="{FF2B5EF4-FFF2-40B4-BE49-F238E27FC236}">
                <a16:creationId xmlns:a16="http://schemas.microsoft.com/office/drawing/2014/main" id="{BA99971D-271B-440E-9663-2CCDAB38D4DD}"/>
              </a:ext>
            </a:extLst>
          </p:cNvPr>
          <p:cNvSpPr>
            <a:spLocks xmlns:a="http://schemas.openxmlformats.org/drawingml/2006/main" noGrp="1"/>
          </p:cNvSpPr>
          <p:nvPr/>
        </p:nvSpPr>
        <p:spPr>
          <a:xfrm xmlns:a="http://schemas.openxmlformats.org/drawingml/2006/main">
            <a:off x="7143750" y="1743075"/>
            <a:ext cx="4286250"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456B24"/>
                </a:solidFill>
                <a:latin typeface="Arial"/>
                <a:ea typeface="Arial"/>
                <a:cs typeface="Arial"/>
              </a:defRPr>
            </a:pPr>
            <a:r>
              <a:rPr sz="2475" b="1">
                <a:solidFill>
                  <a:srgbClr val="456B24"/>
                </a:solidFill>
                <a:latin typeface="Arial"/>
                <a:ea typeface="Arial"/>
                <a:cs typeface="Arial"/>
              </a:rPr>
              <a:t>«Отбасылық кешкі асқа шақыру. Жылы түстер, шеттерінде гүлдер. Ортасында мәтінге бос орын». </a:t>
            </a:r>
          </a:p>
        </p:txBody>
      </p:sp>
      <p:sp>
        <p:nvSpPr>
          <p:cNvPr id="5" name="Text ЖИ жасаған оқу мысалы">
            <a:extLst xmlns:a="http://schemas.openxmlformats.org/drawingml/2006/main">
              <a:ext uri="{FF2B5EF4-FFF2-40B4-BE49-F238E27FC236}">
                <a16:creationId xmlns:a16="http://schemas.microsoft.com/office/drawing/2014/main" id="{157F89D8-4A2D-48D1-A838-709C03EA8214}"/>
              </a:ext>
            </a:extLst>
          </p:cNvPr>
          <p:cNvSpPr>
            <a:spLocks xmlns:a="http://schemas.openxmlformats.org/drawingml/2006/main" noGrp="1"/>
          </p:cNvSpPr>
          <p:nvPr/>
        </p:nvSpPr>
        <p:spPr>
          <a:xfrm xmlns:a="http://schemas.openxmlformats.org/drawingml/2006/main">
            <a:off x="7143750" y="5143500"/>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96273"/>
                </a:solidFill>
                <a:latin typeface="Arial"/>
                <a:ea typeface="Arial"/>
                <a:cs typeface="Arial"/>
              </a:defRPr>
            </a:pPr>
            <a:r>
              <a:rPr sz="1875" b="0">
                <a:solidFill>
                  <a:srgbClr val="596273"/>
                </a:solidFill>
                <a:latin typeface="Arial"/>
                <a:ea typeface="Arial"/>
                <a:cs typeface="Arial"/>
              </a:rPr>
              <a:t>ЖИ жасаған оқу мысалы</a:t>
            </a:r>
          </a:p>
        </p:txBody>
      </p:sp>
    </p:spTree>
    <p:extLst>
      <p:ext uri="{BB962C8B-B14F-4D97-AF65-F5344CB8AC3E}">
        <p14:creationId xmlns:p14="http://schemas.microsoft.com/office/powerpoint/2010/main" val="824601074"/>
      </p:ext>
    </p:extLst>
  </p:cSld>
</p:sld>
</file>

<file path=ppt/slides/slide25.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8" name="Text Бір бөлшекті өзгерту">
            <a:extLst xmlns:a="http://schemas.openxmlformats.org/drawingml/2006/main">
              <a:ext uri="{FF2B5EF4-FFF2-40B4-BE49-F238E27FC236}">
                <a16:creationId xmlns:a16="http://schemas.microsoft.com/office/drawing/2014/main" id="{2841F7E9-1146-4AC6-938B-FD3116F8AED7}"/>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Бір бөлшекті өзгерту</a:t>
            </a:r>
          </a:p>
        </p:txBody>
      </p:sp>
      <p:sp>
        <p:nvSpPr>
          <p:cNvPr id="2" name="Text 16">
            <a:extLst xmlns:a="http://schemas.openxmlformats.org/drawingml/2006/main">
              <a:ext uri="{FF2B5EF4-FFF2-40B4-BE49-F238E27FC236}">
                <a16:creationId xmlns:a16="http://schemas.microsoft.com/office/drawing/2014/main" id="{6F0536F0-37CD-4D29-9DFA-F18F29517DF1}"/>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25</a:t>
            </a:r>
          </a:p>
        </p:txBody>
      </p:sp>
      <p:sp>
        <p:nvSpPr>
          <p:cNvPr id="3" name="Text Бұрын">
            <a:extLst xmlns:a="http://schemas.openxmlformats.org/drawingml/2006/main">
              <a:ext uri="{FF2B5EF4-FFF2-40B4-BE49-F238E27FC236}">
                <a16:creationId xmlns:a16="http://schemas.microsoft.com/office/drawing/2014/main" id="{588CFED0-1BF6-4A13-9DB2-A7B87C9B6B7B}"/>
              </a:ext>
            </a:extLst>
          </p:cNvPr>
          <p:cNvSpPr>
            <a:spLocks xmlns:a="http://schemas.openxmlformats.org/drawingml/2006/main" noGrp="1"/>
          </p:cNvSpPr>
          <p:nvPr/>
        </p:nvSpPr>
        <p:spPr>
          <a:xfrm xmlns:a="http://schemas.openxmlformats.org/drawingml/2006/main">
            <a:off x="704850" y="14287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596273"/>
                </a:solidFill>
                <a:latin typeface="Arial"/>
                <a:ea typeface="Arial"/>
                <a:cs typeface="Arial"/>
              </a:defRPr>
            </a:pPr>
            <a:r>
              <a:rPr sz="2100" b="0">
                <a:solidFill>
                  <a:srgbClr val="596273"/>
                </a:solidFill>
                <a:latin typeface="Arial"/>
                <a:ea typeface="Arial"/>
                <a:cs typeface="Arial"/>
              </a:rPr>
              <a:t>Бұрын</a:t>
            </a:r>
          </a:p>
        </p:txBody>
      </p:sp>
      <p:sp>
        <p:nvSpPr>
          <p:cNvPr id="4" name="Text Кейін">
            <a:extLst xmlns:a="http://schemas.openxmlformats.org/drawingml/2006/main">
              <a:ext uri="{FF2B5EF4-FFF2-40B4-BE49-F238E27FC236}">
                <a16:creationId xmlns:a16="http://schemas.microsoft.com/office/drawing/2014/main" id="{7426CE15-3C65-494F-9843-7B69E97124C2}"/>
              </a:ext>
            </a:extLst>
          </p:cNvPr>
          <p:cNvSpPr>
            <a:spLocks xmlns:a="http://schemas.openxmlformats.org/drawingml/2006/main" noGrp="1"/>
          </p:cNvSpPr>
          <p:nvPr/>
        </p:nvSpPr>
        <p:spPr>
          <a:xfrm xmlns:a="http://schemas.openxmlformats.org/drawingml/2006/main">
            <a:off x="6381750" y="14287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596273"/>
                </a:solidFill>
                <a:latin typeface="Arial"/>
                <a:ea typeface="Arial"/>
                <a:cs typeface="Arial"/>
              </a:defRPr>
            </a:pPr>
            <a:r>
              <a:rPr sz="2100" b="0">
                <a:solidFill>
                  <a:srgbClr val="596273"/>
                </a:solidFill>
                <a:latin typeface="Arial"/>
                <a:ea typeface="Arial"/>
                <a:cs typeface="Arial"/>
              </a:rPr>
              <a:t>Кейін</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656be93014b4f01"/>
          <a:stretch xmlns:a="http://schemas.openxmlformats.org/drawingml/2006/main"/>
        </p:blipFill>
        <p:spPr>
          <a:xfrm xmlns:a="http://schemas.openxmlformats.org/drawingml/2006/main">
            <a:off x="714375" y="1971675"/>
            <a:ext cx="5029200" cy="3771900"/>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c8b1c34bab64678"/>
          <a:stretch xmlns:a="http://schemas.openxmlformats.org/drawingml/2006/main"/>
        </p:blipFill>
        <p:spPr>
          <a:xfrm xmlns:a="http://schemas.openxmlformats.org/drawingml/2006/main">
            <a:off x="6391275" y="1971675"/>
            <a:ext cx="5029200" cy="3771900"/>
          </a:xfrm>
          <a:prstGeom xmlns:a="http://schemas.openxmlformats.org/drawingml/2006/main" prst="rect">
            <a:avLst/>
          </a:prstGeom>
        </p:spPr>
      </p:pic>
      <p:sp>
        <p:nvSpPr>
          <p:cNvPr id="7" name="Text «Фонды ашығырақ ет. Гүлдерді">
            <a:extLst xmlns:a="http://schemas.openxmlformats.org/drawingml/2006/main">
              <a:ext uri="{FF2B5EF4-FFF2-40B4-BE49-F238E27FC236}">
                <a16:creationId xmlns:a16="http://schemas.microsoft.com/office/drawing/2014/main" id="{B454CB10-C783-464B-9464-A5706C906B23}"/>
              </a:ext>
            </a:extLst>
          </p:cNvPr>
          <p:cNvSpPr>
            <a:spLocks xmlns:a="http://schemas.openxmlformats.org/drawingml/2006/main" noGrp="1"/>
          </p:cNvSpPr>
          <p:nvPr/>
        </p:nvSpPr>
        <p:spPr>
          <a:xfrm xmlns:a="http://schemas.openxmlformats.org/drawingml/2006/main">
            <a:off x="704850" y="59055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456B24"/>
                </a:solidFill>
                <a:latin typeface="Arial"/>
                <a:ea typeface="Arial"/>
                <a:cs typeface="Arial"/>
              </a:defRPr>
            </a:pPr>
            <a:r>
              <a:rPr sz="2100" b="1">
                <a:solidFill>
                  <a:srgbClr val="456B24"/>
                </a:solidFill>
                <a:latin typeface="Arial"/>
                <a:ea typeface="Arial"/>
                <a:cs typeface="Arial"/>
              </a:rPr>
              <a:t>«Фонды ашығырақ ет. Гүлдердің орналасуын сақта». </a:t>
            </a:r>
          </a:p>
        </p:txBody>
      </p:sp>
    </p:spTree>
    <p:extLst>
      <p:ext uri="{BB962C8B-B14F-4D97-AF65-F5344CB8AC3E}">
        <p14:creationId xmlns:p14="http://schemas.microsoft.com/office/powerpoint/2010/main" val="1698458388"/>
      </p:ext>
    </p:extLst>
  </p:cSld>
</p:sld>
</file>

<file path=ppt/slides/slide26.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8" name="Text Gamma: мәтіннен презентация">
            <a:extLst xmlns:a="http://schemas.openxmlformats.org/drawingml/2006/main">
              <a:ext uri="{FF2B5EF4-FFF2-40B4-BE49-F238E27FC236}">
                <a16:creationId xmlns:a16="http://schemas.microsoft.com/office/drawing/2014/main" id="{9C2C89F9-0445-4956-AA6B-4C12DB2CA195}"/>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Gamma: мәтіннен презентация</a:t>
            </a:r>
          </a:p>
        </p:txBody>
      </p:sp>
      <p:sp>
        <p:nvSpPr>
          <p:cNvPr id="2" name="Text 17">
            <a:extLst xmlns:a="http://schemas.openxmlformats.org/drawingml/2006/main">
              <a:ext uri="{FF2B5EF4-FFF2-40B4-BE49-F238E27FC236}">
                <a16:creationId xmlns:a16="http://schemas.microsoft.com/office/drawing/2014/main" id="{60B3443F-B0EC-4DAC-B1B2-A17915C0F67F}"/>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26</a:t>
            </a:r>
          </a:p>
        </p:txBody>
      </p:sp>
      <p:sp>
        <p:nvSpPr>
          <p:cNvPr id="3" name="Text 1. Қысқа әрі тексерілген мәт">
            <a:extLst xmlns:a="http://schemas.openxmlformats.org/drawingml/2006/main">
              <a:ext uri="{FF2B5EF4-FFF2-40B4-BE49-F238E27FC236}">
                <a16:creationId xmlns:a16="http://schemas.microsoft.com/office/drawing/2014/main" id="{1C208E49-6C89-4C5E-84E1-FE2FDA765ABA}"/>
              </a:ext>
            </a:extLst>
          </p:cNvPr>
          <p:cNvSpPr>
            <a:spLocks xmlns:a="http://schemas.openxmlformats.org/drawingml/2006/main" noGrp="1"/>
          </p:cNvSpPr>
          <p:nvPr/>
        </p:nvSpPr>
        <p:spPr>
          <a:xfrm xmlns:a="http://schemas.openxmlformats.org/drawingml/2006/main">
            <a:off x="723900" y="16192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72030"/>
                </a:solidFill>
                <a:latin typeface="Arial"/>
                <a:ea typeface="Arial"/>
                <a:cs typeface="Arial"/>
              </a:defRPr>
            </a:pPr>
            <a:r>
              <a:rPr sz="2250" b="0">
                <a:solidFill>
                  <a:srgbClr val="172030"/>
                </a:solidFill>
                <a:latin typeface="Arial"/>
                <a:ea typeface="Arial"/>
                <a:cs typeface="Arial"/>
              </a:rPr>
              <a:t>1. Қысқа әрі тексерілген мәтін дайындаңыз.</a:t>
            </a:r>
          </a:p>
        </p:txBody>
      </p:sp>
      <p:sp>
        <p:nvSpPr>
          <p:cNvPr id="4" name="Text 2. Gamma-да мәтіннен жасау: ">
            <a:extLst xmlns:a="http://schemas.openxmlformats.org/drawingml/2006/main">
              <a:ext uri="{FF2B5EF4-FFF2-40B4-BE49-F238E27FC236}">
                <a16:creationId xmlns:a16="http://schemas.microsoft.com/office/drawing/2014/main" id="{236A31D1-5E05-4D98-AC06-290D5FC9AB98}"/>
              </a:ext>
            </a:extLst>
          </p:cNvPr>
          <p:cNvSpPr>
            <a:spLocks xmlns:a="http://schemas.openxmlformats.org/drawingml/2006/main" noGrp="1"/>
          </p:cNvSpPr>
          <p:nvPr/>
        </p:nvSpPr>
        <p:spPr>
          <a:xfrm xmlns:a="http://schemas.openxmlformats.org/drawingml/2006/main">
            <a:off x="723900" y="26670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72030"/>
                </a:solidFill>
                <a:latin typeface="Arial"/>
                <a:ea typeface="Arial"/>
                <a:cs typeface="Arial"/>
              </a:defRPr>
            </a:pPr>
            <a:r>
              <a:rPr sz="2250" b="0">
                <a:solidFill>
                  <a:srgbClr val="172030"/>
                </a:solidFill>
                <a:latin typeface="Arial"/>
                <a:ea typeface="Arial"/>
                <a:cs typeface="Arial"/>
              </a:rPr>
              <a:t>2. Gamma-да мәтіннен жасау: Paste режимін таңдаңыз.</a:t>
            </a:r>
          </a:p>
        </p:txBody>
      </p:sp>
      <p:sp>
        <p:nvSpPr>
          <p:cNvPr id="5" name="Text 3. Аудиторияны, тілді және с">
            <a:extLst xmlns:a="http://schemas.openxmlformats.org/drawingml/2006/main">
              <a:ext uri="{FF2B5EF4-FFF2-40B4-BE49-F238E27FC236}">
                <a16:creationId xmlns:a16="http://schemas.microsoft.com/office/drawing/2014/main" id="{B62CBA08-2261-4FD7-8251-2B77B93D3AA6}"/>
              </a:ext>
            </a:extLst>
          </p:cNvPr>
          <p:cNvSpPr>
            <a:spLocks xmlns:a="http://schemas.openxmlformats.org/drawingml/2006/main" noGrp="1"/>
          </p:cNvSpPr>
          <p:nvPr/>
        </p:nvSpPr>
        <p:spPr>
          <a:xfrm xmlns:a="http://schemas.openxmlformats.org/drawingml/2006/main">
            <a:off x="723900" y="37147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72030"/>
                </a:solidFill>
                <a:latin typeface="Arial"/>
                <a:ea typeface="Arial"/>
                <a:cs typeface="Arial"/>
              </a:defRPr>
            </a:pPr>
            <a:r>
              <a:rPr sz="2250" b="0">
                <a:solidFill>
                  <a:srgbClr val="172030"/>
                </a:solidFill>
                <a:latin typeface="Arial"/>
                <a:ea typeface="Arial"/>
                <a:cs typeface="Arial"/>
              </a:rPr>
              <a:t>3. Аудиторияны, тілді және слайд санын көрсетіңіз.</a:t>
            </a:r>
          </a:p>
        </p:txBody>
      </p:sp>
      <p:sp>
        <p:nvSpPr>
          <p:cNvPr id="6" name="Text 4. Дайын слайдтардың мазмұны">
            <a:extLst xmlns:a="http://schemas.openxmlformats.org/drawingml/2006/main">
              <a:ext uri="{FF2B5EF4-FFF2-40B4-BE49-F238E27FC236}">
                <a16:creationId xmlns:a16="http://schemas.microsoft.com/office/drawing/2014/main" id="{C31C8F34-7B12-43A2-991B-2CA986BBC12A}"/>
              </a:ext>
            </a:extLst>
          </p:cNvPr>
          <p:cNvSpPr>
            <a:spLocks xmlns:a="http://schemas.openxmlformats.org/drawingml/2006/main" noGrp="1"/>
          </p:cNvSpPr>
          <p:nvPr/>
        </p:nvSpPr>
        <p:spPr>
          <a:xfrm xmlns:a="http://schemas.openxmlformats.org/drawingml/2006/main">
            <a:off x="723900" y="47625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72030"/>
                </a:solidFill>
                <a:latin typeface="Arial"/>
                <a:ea typeface="Arial"/>
                <a:cs typeface="Arial"/>
              </a:defRPr>
            </a:pPr>
            <a:r>
              <a:rPr sz="2250" b="0">
                <a:solidFill>
                  <a:srgbClr val="172030"/>
                </a:solidFill>
                <a:latin typeface="Arial"/>
                <a:ea typeface="Arial"/>
                <a:cs typeface="Arial"/>
              </a:rPr>
              <a:t>4. Дайын слайдтардың мазмұны мен көрінісін тексеріңіз.</a:t>
            </a:r>
          </a:p>
        </p:txBody>
      </p:sp>
      <p:sp>
        <p:nvSpPr>
          <p:cNvPr id="7" name="Text gamma.app">
            <a:extLst xmlns:a="http://schemas.openxmlformats.org/drawingml/2006/main">
              <a:ext uri="{FF2B5EF4-FFF2-40B4-BE49-F238E27FC236}">
                <a16:creationId xmlns:a16="http://schemas.microsoft.com/office/drawing/2014/main" id="{8CD359C4-4574-4156-AA75-D2E717C3C082}"/>
              </a:ext>
            </a:extLst>
          </p:cNvPr>
          <p:cNvSpPr>
            <a:spLocks xmlns:a="http://schemas.openxmlformats.org/drawingml/2006/main" noGrp="1"/>
          </p:cNvSpPr>
          <p:nvPr/>
        </p:nvSpPr>
        <p:spPr>
          <a:xfrm xmlns:a="http://schemas.openxmlformats.org/drawingml/2006/main">
            <a:off x="723900" y="59055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456B24"/>
                </a:solidFill>
                <a:latin typeface="Arial"/>
                <a:ea typeface="Arial"/>
                <a:cs typeface="Arial"/>
              </a:defRPr>
            </a:pPr>
            <a:r>
              <a:rPr sz="2100" b="1">
                <a:solidFill>
                  <a:srgbClr val="456B24"/>
                </a:solidFill>
                <a:latin typeface="Arial"/>
                <a:ea typeface="Arial"/>
                <a:cs typeface="Arial"/>
              </a:rPr>
              <a:t>gamma.app</a:t>
            </a:r>
          </a:p>
        </p:txBody>
      </p:sp>
    </p:spTree>
    <p:extLst>
      <p:ext uri="{BB962C8B-B14F-4D97-AF65-F5344CB8AC3E}">
        <p14:creationId xmlns:p14="http://schemas.microsoft.com/office/powerpoint/2010/main" val="1039645301"/>
      </p:ext>
    </p:extLst>
  </p:cSld>
</p:sld>
</file>

<file path=ppt/slides/slide27.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5" name="Text Excel: 300 жолды талдаймыз">
            <a:extLst xmlns:a="http://schemas.openxmlformats.org/drawingml/2006/main">
              <a:ext uri="{FF2B5EF4-FFF2-40B4-BE49-F238E27FC236}">
                <a16:creationId xmlns:a16="http://schemas.microsoft.com/office/drawing/2014/main" id="{122C0207-83B3-43BD-9328-EA088725E5F6}"/>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Excel: 300 жолды талдаймыз</a:t>
            </a:r>
          </a:p>
        </p:txBody>
      </p:sp>
      <p:sp>
        <p:nvSpPr>
          <p:cNvPr id="2" name="Text 18">
            <a:extLst xmlns:a="http://schemas.openxmlformats.org/drawingml/2006/main">
              <a:ext uri="{FF2B5EF4-FFF2-40B4-BE49-F238E27FC236}">
                <a16:creationId xmlns:a16="http://schemas.microsoft.com/office/drawing/2014/main" id="{DD56B5EF-1B0E-46A0-B9A6-B379DE53E509}"/>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27</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0e0d0cef3f74288"/>
          <a:stretch xmlns:a="http://schemas.openxmlformats.org/drawingml/2006/main"/>
        </p:blipFill>
        <p:spPr>
          <a:xfrm xmlns:a="http://schemas.openxmlformats.org/drawingml/2006/main">
            <a:off x="1296030" y="1524000"/>
            <a:ext cx="9599939" cy="4286250"/>
          </a:xfrm>
          <a:prstGeom xmlns:a="http://schemas.openxmlformats.org/drawingml/2006/main" prst="rect">
            <a:avLst/>
          </a:prstGeom>
        </p:spPr>
      </p:pic>
      <p:sp>
        <p:nvSpPr>
          <p:cNvPr id="4" name="Text Бастапқы файл қоса берілген.">
            <a:extLst xmlns:a="http://schemas.openxmlformats.org/drawingml/2006/main">
              <a:ext uri="{FF2B5EF4-FFF2-40B4-BE49-F238E27FC236}">
                <a16:creationId xmlns:a16="http://schemas.microsoft.com/office/drawing/2014/main" id="{EDA3561A-8FC9-43CC-9881-5941DC5A591E}"/>
              </a:ext>
            </a:extLst>
          </p:cNvPr>
          <p:cNvSpPr>
            <a:spLocks xmlns:a="http://schemas.openxmlformats.org/drawingml/2006/main" noGrp="1"/>
          </p:cNvSpPr>
          <p:nvPr/>
        </p:nvSpPr>
        <p:spPr>
          <a:xfrm xmlns:a="http://schemas.openxmlformats.org/drawingml/2006/main">
            <a:off x="704850" y="595312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96273"/>
                </a:solidFill>
                <a:latin typeface="Arial"/>
                <a:ea typeface="Arial"/>
                <a:cs typeface="Arial"/>
              </a:defRPr>
            </a:pPr>
            <a:r>
              <a:rPr sz="1875" b="0">
                <a:solidFill>
                  <a:srgbClr val="596273"/>
                </a:solidFill>
                <a:latin typeface="Arial"/>
                <a:ea typeface="Arial"/>
                <a:cs typeface="Arial"/>
              </a:rPr>
              <a:t>Бастапқы файл қоса берілген. Деректер ойдан құрастырылған.</a:t>
            </a:r>
          </a:p>
        </p:txBody>
      </p:sp>
    </p:spTree>
    <p:extLst>
      <p:ext uri="{BB962C8B-B14F-4D97-AF65-F5344CB8AC3E}">
        <p14:creationId xmlns:p14="http://schemas.microsoft.com/office/powerpoint/2010/main" val="715658212"/>
      </p:ext>
    </p:extLst>
  </p:cSld>
</p:sld>
</file>

<file path=ppt/slides/slide28.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6" name="Text Excel деректері Gemini чатын">
            <a:extLst xmlns:a="http://schemas.openxmlformats.org/drawingml/2006/main">
              <a:ext uri="{FF2B5EF4-FFF2-40B4-BE49-F238E27FC236}">
                <a16:creationId xmlns:a16="http://schemas.microsoft.com/office/drawing/2014/main" id="{C4DF69FD-23D9-4A9D-AD06-1DC2396689C9}"/>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Excel деректері Gemini чатында</a:t>
            </a:r>
          </a:p>
        </p:txBody>
      </p:sp>
      <p:sp>
        <p:nvSpPr>
          <p:cNvPr id="2" name="Text 19">
            <a:extLst xmlns:a="http://schemas.openxmlformats.org/drawingml/2006/main">
              <a:ext uri="{FF2B5EF4-FFF2-40B4-BE49-F238E27FC236}">
                <a16:creationId xmlns:a16="http://schemas.microsoft.com/office/drawing/2014/main" id="{FB52F36D-F589-4C2F-ACDE-A9EB45BACE2E}"/>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28</a:t>
            </a:r>
          </a:p>
        </p:txBody>
      </p:sp>
      <p:sp>
        <p:nvSpPr>
          <p:cNvPr id="3" name="Text A4:G304 ауқымын көшіріп, сұр">
            <a:extLst xmlns:a="http://schemas.openxmlformats.org/drawingml/2006/main">
              <a:ext uri="{FF2B5EF4-FFF2-40B4-BE49-F238E27FC236}">
                <a16:creationId xmlns:a16="http://schemas.microsoft.com/office/drawing/2014/main" id="{61C10BC0-4E42-4346-8ABB-71C726C34B67}"/>
              </a:ext>
            </a:extLst>
          </p:cNvPr>
          <p:cNvSpPr>
            <a:spLocks xmlns:a="http://schemas.openxmlformats.org/drawingml/2006/main" noGrp="1"/>
          </p:cNvSpPr>
          <p:nvPr/>
        </p:nvSpPr>
        <p:spPr>
          <a:xfrm xmlns:a="http://schemas.openxmlformats.org/drawingml/2006/main">
            <a:off x="704850" y="1428750"/>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456B24"/>
                </a:solidFill>
                <a:latin typeface="Arial"/>
                <a:ea typeface="Arial"/>
                <a:cs typeface="Arial"/>
              </a:defRPr>
            </a:pPr>
            <a:r>
              <a:rPr sz="2325" b="1">
                <a:solidFill>
                  <a:srgbClr val="456B24"/>
                </a:solidFill>
                <a:latin typeface="Arial"/>
                <a:ea typeface="Arial"/>
                <a:cs typeface="Arial"/>
              </a:rPr>
              <a:t>A4:G304 ауқымын көшіріп, сұраудан кейін енгізіңіз.</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14c65b1a8864105"/>
          <a:stretch xmlns:a="http://schemas.openxmlformats.org/drawingml/2006/main"/>
        </p:blipFill>
        <p:spPr>
          <a:xfrm xmlns:a="http://schemas.openxmlformats.org/drawingml/2006/main">
            <a:off x="1321074" y="2238375"/>
            <a:ext cx="9530801" cy="3390900"/>
          </a:xfrm>
          <a:prstGeom xmlns:a="http://schemas.openxmlformats.org/drawingml/2006/main" prst="rect">
            <a:avLst/>
          </a:prstGeom>
        </p:spPr>
      </p:pic>
      <p:sp>
        <p:nvSpPr>
          <p:cNvPr id="5" name="Text Бұл көрсетілімде кесте дерек">
            <a:extLst xmlns:a="http://schemas.openxmlformats.org/drawingml/2006/main">
              <a:ext uri="{FF2B5EF4-FFF2-40B4-BE49-F238E27FC236}">
                <a16:creationId xmlns:a16="http://schemas.microsoft.com/office/drawing/2014/main" id="{B0BE2C93-AA61-4D0B-BDAD-E2FEC233DFD3}"/>
              </a:ext>
            </a:extLst>
          </p:cNvPr>
          <p:cNvSpPr>
            <a:spLocks xmlns:a="http://schemas.openxmlformats.org/drawingml/2006/main" noGrp="1"/>
          </p:cNvSpPr>
          <p:nvPr/>
        </p:nvSpPr>
        <p:spPr>
          <a:xfrm xmlns:a="http://schemas.openxmlformats.org/drawingml/2006/main">
            <a:off x="704850" y="59055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456B24"/>
                </a:solidFill>
                <a:latin typeface="Arial"/>
                <a:ea typeface="Arial"/>
                <a:cs typeface="Arial"/>
              </a:defRPr>
            </a:pPr>
            <a:r>
              <a:rPr sz="2025" b="1">
                <a:solidFill>
                  <a:srgbClr val="456B24"/>
                </a:solidFill>
                <a:latin typeface="Arial"/>
                <a:ea typeface="Arial"/>
                <a:cs typeface="Arial"/>
              </a:rPr>
              <a:t>Бұл көрсетілімде кесте деректері чатқа көшірілді.</a:t>
            </a:r>
          </a:p>
        </p:txBody>
      </p:sp>
    </p:spTree>
    <p:extLst>
      <p:ext uri="{BB962C8B-B14F-4D97-AF65-F5344CB8AC3E}">
        <p14:creationId xmlns:p14="http://schemas.microsoft.com/office/powerpoint/2010/main" val="357894403"/>
      </p:ext>
    </p:extLst>
  </p:cSld>
</p:sld>
</file>

<file path=ppt/slides/slide29.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8" name="Text Нақты нені есептетеміз">
            <a:extLst xmlns:a="http://schemas.openxmlformats.org/drawingml/2006/main">
              <a:ext uri="{FF2B5EF4-FFF2-40B4-BE49-F238E27FC236}">
                <a16:creationId xmlns:a16="http://schemas.microsoft.com/office/drawing/2014/main" id="{566E3FCC-B789-4280-AB13-D1DA3C5EFC1F}"/>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Нақты нені есептетеміз</a:t>
            </a:r>
          </a:p>
        </p:txBody>
      </p:sp>
      <p:sp>
        <p:nvSpPr>
          <p:cNvPr id="2" name="Text 20">
            <a:extLst xmlns:a="http://schemas.openxmlformats.org/drawingml/2006/main">
              <a:ext uri="{FF2B5EF4-FFF2-40B4-BE49-F238E27FC236}">
                <a16:creationId xmlns:a16="http://schemas.microsoft.com/office/drawing/2014/main" id="{91C6810E-D1E5-4430-A910-784D707FAD29}"/>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29</a:t>
            </a:r>
          </a:p>
        </p:txBody>
      </p:sp>
      <p:sp>
        <p:nvSpPr>
          <p:cNvPr id="3" name="Text Неше жол және неше бірегей I">
            <a:extLst xmlns:a="http://schemas.openxmlformats.org/drawingml/2006/main">
              <a:ext uri="{FF2B5EF4-FFF2-40B4-BE49-F238E27FC236}">
                <a16:creationId xmlns:a16="http://schemas.microsoft.com/office/drawing/2014/main" id="{59117BDB-F7A4-4E7E-9579-A52D2FAE55E5}"/>
              </a:ext>
            </a:extLst>
          </p:cNvPr>
          <p:cNvSpPr>
            <a:spLocks xmlns:a="http://schemas.openxmlformats.org/drawingml/2006/main" noGrp="1"/>
          </p:cNvSpPr>
          <p:nvPr/>
        </p:nvSpPr>
        <p:spPr>
          <a:xfrm xmlns:a="http://schemas.openxmlformats.org/drawingml/2006/main">
            <a:off x="723900" y="1552575"/>
            <a:ext cx="10572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2030"/>
                </a:solidFill>
                <a:latin typeface="Arial"/>
                <a:ea typeface="Arial"/>
                <a:cs typeface="Arial"/>
              </a:defRPr>
            </a:pPr>
            <a:r>
              <a:rPr sz="2400" b="0">
                <a:solidFill>
                  <a:srgbClr val="172030"/>
                </a:solidFill>
                <a:latin typeface="Arial"/>
                <a:ea typeface="Arial"/>
                <a:cs typeface="Arial"/>
              </a:rPr>
              <a:t>Неше жол және неше бірегей ID бар?</a:t>
            </a:r>
          </a:p>
        </p:txBody>
      </p:sp>
      <p:sp>
        <p:nvSpPr>
          <p:cNvPr id="4" name="Text Қаншасы жабылған, жаңа және ">
            <a:extLst xmlns:a="http://schemas.openxmlformats.org/drawingml/2006/main">
              <a:ext uri="{FF2B5EF4-FFF2-40B4-BE49-F238E27FC236}">
                <a16:creationId xmlns:a16="http://schemas.microsoft.com/office/drawing/2014/main" id="{30A53950-BFD1-4CFB-A0A1-EC1B91A2FF22}"/>
              </a:ext>
            </a:extLst>
          </p:cNvPr>
          <p:cNvSpPr>
            <a:spLocks xmlns:a="http://schemas.openxmlformats.org/drawingml/2006/main" noGrp="1"/>
          </p:cNvSpPr>
          <p:nvPr/>
        </p:nvSpPr>
        <p:spPr>
          <a:xfrm xmlns:a="http://schemas.openxmlformats.org/drawingml/2006/main">
            <a:off x="723900" y="2590800"/>
            <a:ext cx="10572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2030"/>
                </a:solidFill>
                <a:latin typeface="Arial"/>
                <a:ea typeface="Arial"/>
                <a:cs typeface="Arial"/>
              </a:defRPr>
            </a:pPr>
            <a:r>
              <a:rPr sz="2400" b="0">
                <a:solidFill>
                  <a:srgbClr val="172030"/>
                </a:solidFill>
                <a:latin typeface="Arial"/>
                <a:ea typeface="Arial"/>
                <a:cs typeface="Arial"/>
              </a:rPr>
              <a:t>Қаншасы жабылған, жаңа және орындалып жатыр?</a:t>
            </a:r>
          </a:p>
        </p:txBody>
      </p:sp>
      <p:sp>
        <p:nvSpPr>
          <p:cNvPr id="5" name="Text 15.09.2026 күні қай жабылмағ">
            <a:extLst xmlns:a="http://schemas.openxmlformats.org/drawingml/2006/main">
              <a:ext uri="{FF2B5EF4-FFF2-40B4-BE49-F238E27FC236}">
                <a16:creationId xmlns:a16="http://schemas.microsoft.com/office/drawing/2014/main" id="{C948A84E-B6EC-4684-A162-B5C3DAAAC529}"/>
              </a:ext>
            </a:extLst>
          </p:cNvPr>
          <p:cNvSpPr>
            <a:spLocks xmlns:a="http://schemas.openxmlformats.org/drawingml/2006/main" noGrp="1"/>
          </p:cNvSpPr>
          <p:nvPr/>
        </p:nvSpPr>
        <p:spPr>
          <a:xfrm xmlns:a="http://schemas.openxmlformats.org/drawingml/2006/main">
            <a:off x="723900" y="3629025"/>
            <a:ext cx="10572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2030"/>
                </a:solidFill>
                <a:latin typeface="Arial"/>
                <a:ea typeface="Arial"/>
                <a:cs typeface="Arial"/>
              </a:defRPr>
            </a:pPr>
            <a:r>
              <a:rPr sz="2400" b="0">
                <a:solidFill>
                  <a:srgbClr val="172030"/>
                </a:solidFill>
                <a:latin typeface="Arial"/>
                <a:ea typeface="Arial"/>
                <a:cs typeface="Arial"/>
              </a:rPr>
              <a:t>15.09.2026 күні қай жабылмаған жолдың мерзімі өткен?</a:t>
            </a:r>
          </a:p>
        </p:txBody>
      </p:sp>
      <p:sp>
        <p:nvSpPr>
          <p:cNvPr id="6" name="Text Қай ID қайталанады? Қай жерд">
            <a:extLst xmlns:a="http://schemas.openxmlformats.org/drawingml/2006/main">
              <a:ext uri="{FF2B5EF4-FFF2-40B4-BE49-F238E27FC236}">
                <a16:creationId xmlns:a16="http://schemas.microsoft.com/office/drawing/2014/main" id="{F43856D7-9CBA-4ED0-B3FE-1AC82D45A8FB}"/>
              </a:ext>
            </a:extLst>
          </p:cNvPr>
          <p:cNvSpPr>
            <a:spLocks xmlns:a="http://schemas.openxmlformats.org/drawingml/2006/main" noGrp="1"/>
          </p:cNvSpPr>
          <p:nvPr/>
        </p:nvSpPr>
        <p:spPr>
          <a:xfrm xmlns:a="http://schemas.openxmlformats.org/drawingml/2006/main">
            <a:off x="723900" y="4667250"/>
            <a:ext cx="10572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2030"/>
                </a:solidFill>
                <a:latin typeface="Arial"/>
                <a:ea typeface="Arial"/>
                <a:cs typeface="Arial"/>
              </a:defRPr>
            </a:pPr>
            <a:r>
              <a:rPr sz="2400" b="0">
                <a:solidFill>
                  <a:srgbClr val="172030"/>
                </a:solidFill>
                <a:latin typeface="Arial"/>
                <a:ea typeface="Arial"/>
                <a:cs typeface="Arial"/>
              </a:rPr>
              <a:t>Қай ID қайталанады? Қай жерде жауапты адам жоқ?</a:t>
            </a:r>
          </a:p>
        </p:txBody>
      </p:sp>
      <p:sp>
        <p:nvSpPr>
          <p:cNvPr id="7" name="Text Барлық 300 жол және мерзімді">
            <a:extLst xmlns:a="http://schemas.openxmlformats.org/drawingml/2006/main">
              <a:ext uri="{FF2B5EF4-FFF2-40B4-BE49-F238E27FC236}">
                <a16:creationId xmlns:a16="http://schemas.microsoft.com/office/drawing/2014/main" id="{2AC758AD-0706-40DE-AE1E-60DE89336F64}"/>
              </a:ext>
            </a:extLst>
          </p:cNvPr>
          <p:cNvSpPr>
            <a:spLocks xmlns:a="http://schemas.openxmlformats.org/drawingml/2006/main" noGrp="1"/>
          </p:cNvSpPr>
          <p:nvPr/>
        </p:nvSpPr>
        <p:spPr>
          <a:xfrm xmlns:a="http://schemas.openxmlformats.org/drawingml/2006/main">
            <a:off x="704850" y="5886450"/>
            <a:ext cx="1066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456B24"/>
                </a:solidFill>
                <a:latin typeface="Arial"/>
                <a:ea typeface="Arial"/>
                <a:cs typeface="Arial"/>
              </a:defRPr>
            </a:pPr>
            <a:r>
              <a:rPr sz="1950" b="1">
                <a:solidFill>
                  <a:srgbClr val="456B24"/>
                </a:solidFill>
                <a:latin typeface="Arial"/>
                <a:ea typeface="Arial"/>
                <a:cs typeface="Arial"/>
              </a:rPr>
              <a:t>Барлық 300 жол және мерзімді есептеудің нақты ережесі.</a:t>
            </a:r>
          </a:p>
        </p:txBody>
      </p:sp>
    </p:spTree>
    <p:extLst>
      <p:ext uri="{BB962C8B-B14F-4D97-AF65-F5344CB8AC3E}">
        <p14:creationId xmlns:p14="http://schemas.microsoft.com/office/powerpoint/2010/main" val="756524837"/>
      </p:ext>
    </p:extLst>
  </p:cSld>
</p:sld>
</file>

<file path=ppt/slides/slide30.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4" name="Text Excel бойынша нақты жауап">
            <a:extLst xmlns:a="http://schemas.openxmlformats.org/drawingml/2006/main">
              <a:ext uri="{FF2B5EF4-FFF2-40B4-BE49-F238E27FC236}">
                <a16:creationId xmlns:a16="http://schemas.microsoft.com/office/drawing/2014/main" id="{F89C11EF-CBDA-4E87-80C1-8336E9F4E5F7}"/>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Excel бойынша нақты жауап</a:t>
            </a:r>
          </a:p>
        </p:txBody>
      </p:sp>
      <p:sp>
        <p:nvSpPr>
          <p:cNvPr id="2" name="Text 21">
            <a:extLst xmlns:a="http://schemas.openxmlformats.org/drawingml/2006/main">
              <a:ext uri="{FF2B5EF4-FFF2-40B4-BE49-F238E27FC236}">
                <a16:creationId xmlns:a16="http://schemas.microsoft.com/office/drawing/2014/main" id="{0734F877-49D1-4C4D-A850-7DB2F9272D12}"/>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30</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64a893ee3f3444b"/>
          <a:stretch xmlns:a="http://schemas.openxmlformats.org/drawingml/2006/main"/>
        </p:blipFill>
        <p:spPr>
          <a:xfrm xmlns:a="http://schemas.openxmlformats.org/drawingml/2006/main">
            <a:off x="2360971" y="1381125"/>
            <a:ext cx="7451008" cy="4619625"/>
          </a:xfrm>
          <a:prstGeom xmlns:a="http://schemas.openxmlformats.org/drawingml/2006/main" prst="rect">
            <a:avLst/>
          </a:prstGeom>
        </p:spPr>
      </p:pic>
    </p:spTree>
    <p:extLst>
      <p:ext uri="{BB962C8B-B14F-4D97-AF65-F5344CB8AC3E}">
        <p14:creationId xmlns:p14="http://schemas.microsoft.com/office/powerpoint/2010/main" val="853150996"/>
      </p:ext>
    </p:extLst>
  </p:cSld>
</p:sld>
</file>

<file path=ppt/slides/slide31.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5" name="Text Есеп нәтижесін тексереміз">
            <a:extLst xmlns:a="http://schemas.openxmlformats.org/drawingml/2006/main">
              <a:ext uri="{FF2B5EF4-FFF2-40B4-BE49-F238E27FC236}">
                <a16:creationId xmlns:a16="http://schemas.microsoft.com/office/drawing/2014/main" id="{01A8CF3B-1121-46B5-A063-B52847CD5672}"/>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Есеп нәтижесін тексереміз</a:t>
            </a:r>
          </a:p>
        </p:txBody>
      </p:sp>
      <p:sp>
        <p:nvSpPr>
          <p:cNvPr id="2" name="Text 22">
            <a:extLst xmlns:a="http://schemas.openxmlformats.org/drawingml/2006/main">
              <a:ext uri="{FF2B5EF4-FFF2-40B4-BE49-F238E27FC236}">
                <a16:creationId xmlns:a16="http://schemas.microsoft.com/office/drawing/2014/main" id="{684DC08F-5842-4B49-95E0-74D087619D79}"/>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31</a:t>
            </a:r>
          </a:p>
        </p:txBody>
      </p:sp>
      <p:graphicFrame>
        <p:nvGraphicFramePr>
          <p:cNvPr id="9" name=""/>
          <p:cNvGraphicFramePr/>
          <p:nvPr/>
        </p:nvGraphicFramePr>
        <p:xfrm>
          <a:off xmlns:a="http://schemas.openxmlformats.org/drawingml/2006/main" x="704850" y="1524000"/>
          <a:ext xmlns:a="http://schemas.openxmlformats.org/drawingml/2006/main" cx="10763250" cy="3429000"/>
        </p:xfrm>
        <a:graphic xmlns:a="http://schemas.openxmlformats.org/drawingml/2006/main">
          <a:graphicData uri="http://schemas.openxmlformats.org/drawingml/2006/table">
            <a:tbl>
              <a:tblPr/>
              <a:tblGrid>
                <a:gridCol w="8096250"/>
                <a:gridCol w="2667000"/>
              </a:tblGrid>
              <a:tr h="685800">
                <a:tc>
                  <a:txBody>
                    <a:bodyPr/>
                    <a:lstStyle/>
                    <a:p>
                      <a:r>
                        <a:rPr sz="2175" b="1">
                          <a:solidFill>
                            <a:srgbClr val="172030"/>
                          </a:solidFill>
                          <a:latin typeface="Arial"/>
                          <a:ea typeface="Arial"/>
                          <a:cs typeface="Arial"/>
                        </a:rPr>
                        <a:t>Көрсеткіш</a:t>
                      </a:r>
                    </a:p>
                  </a:txBody>
                  <a:tcPr marL="133350" marR="133350" marT="95250" marB="95250">
                    <a:solidFill>
                      <a:srgbClr val="D6F879"/>
                    </a:solidFill>
                  </a:tcPr>
                </a:tc>
                <a:tc>
                  <a:txBody>
                    <a:bodyPr/>
                    <a:lstStyle/>
                    <a:p>
                      <a:r>
                        <a:rPr sz="2175" b="1">
                          <a:solidFill>
                            <a:srgbClr val="172030"/>
                          </a:solidFill>
                          <a:latin typeface="Arial"/>
                          <a:ea typeface="Arial"/>
                          <a:cs typeface="Arial"/>
                        </a:rPr>
                        <a:t>Бақылау</a:t>
                      </a:r>
                    </a:p>
                  </a:txBody>
                  <a:tcPr marL="133350" marR="133350" marT="95250" marB="95250">
                    <a:solidFill>
                      <a:srgbClr val="D6F879"/>
                    </a:solidFill>
                  </a:tcPr>
                </a:tc>
              </a:tr>
              <a:tr h="685800">
                <a:tc>
                  <a:txBody>
                    <a:bodyPr/>
                    <a:lstStyle/>
                    <a:p>
                      <a:r>
                        <a:rPr sz="2175">
                          <a:solidFill>
                            <a:srgbClr val="172030"/>
                          </a:solidFill>
                          <a:latin typeface="Arial"/>
                          <a:ea typeface="Arial"/>
                          <a:cs typeface="Arial"/>
                        </a:rPr>
                        <a:t>Жол / бірегей ID</a:t>
                      </a:r>
                    </a:p>
                  </a:txBody>
                  <a:tcPr marL="133350" marR="133350" marT="95250" marB="95250">
                    <a:solidFill>
                      <a:srgbClr val="FFFFFF"/>
                    </a:solidFill>
                  </a:tcPr>
                </a:tc>
                <a:tc>
                  <a:txBody>
                    <a:bodyPr/>
                    <a:lstStyle/>
                    <a:p>
                      <a:r>
                        <a:rPr sz="2175">
                          <a:solidFill>
                            <a:srgbClr val="172030"/>
                          </a:solidFill>
                          <a:latin typeface="Arial"/>
                          <a:ea typeface="Arial"/>
                          <a:cs typeface="Arial"/>
                        </a:rPr>
                        <a:t>300 / 298</a:t>
                      </a:r>
                    </a:p>
                  </a:txBody>
                  <a:tcPr marL="133350" marR="133350" marT="95250" marB="95250">
                    <a:solidFill>
                      <a:srgbClr val="FFFFFF"/>
                    </a:solidFill>
                  </a:tcPr>
                </a:tc>
              </a:tr>
              <a:tr h="685800">
                <a:tc>
                  <a:txBody>
                    <a:bodyPr/>
                    <a:lstStyle/>
                    <a:p>
                      <a:r>
                        <a:rPr sz="2175">
                          <a:solidFill>
                            <a:srgbClr val="172030"/>
                          </a:solidFill>
                          <a:latin typeface="Arial"/>
                          <a:ea typeface="Arial"/>
                          <a:cs typeface="Arial"/>
                        </a:rPr>
                        <a:t>Жабылған / Орындалуда / Жаңа</a:t>
                      </a:r>
                    </a:p>
                  </a:txBody>
                  <a:tcPr marL="133350" marR="133350" marT="95250" marB="95250">
                    <a:solidFill>
                      <a:srgbClr val="EEF2E8"/>
                    </a:solidFill>
                  </a:tcPr>
                </a:tc>
                <a:tc>
                  <a:txBody>
                    <a:bodyPr/>
                    <a:lstStyle/>
                    <a:p>
                      <a:r>
                        <a:rPr sz="2175">
                          <a:solidFill>
                            <a:srgbClr val="172030"/>
                          </a:solidFill>
                          <a:latin typeface="Arial"/>
                          <a:ea typeface="Arial"/>
                          <a:cs typeface="Arial"/>
                        </a:rPr>
                        <a:t>180 / 60 / 60</a:t>
                      </a:r>
                    </a:p>
                  </a:txBody>
                  <a:tcPr marL="133350" marR="133350" marT="95250" marB="95250">
                    <a:solidFill>
                      <a:srgbClr val="EEF2E8"/>
                    </a:solidFill>
                  </a:tcPr>
                </a:tc>
              </a:tr>
              <a:tr h="685800">
                <a:tc>
                  <a:txBody>
                    <a:bodyPr/>
                    <a:lstStyle/>
                    <a:p>
                      <a:r>
                        <a:rPr sz="2175">
                          <a:solidFill>
                            <a:srgbClr val="172030"/>
                          </a:solidFill>
                          <a:latin typeface="Arial"/>
                          <a:ea typeface="Arial"/>
                          <a:cs typeface="Arial"/>
                        </a:rPr>
                        <a:t>Мерзімі өткен жол</a:t>
                      </a:r>
                    </a:p>
                  </a:txBody>
                  <a:tcPr marL="133350" marR="133350" marT="95250" marB="95250">
                    <a:solidFill>
                      <a:srgbClr val="FFFFFF"/>
                    </a:solidFill>
                  </a:tcPr>
                </a:tc>
                <a:tc>
                  <a:txBody>
                    <a:bodyPr/>
                    <a:lstStyle/>
                    <a:p>
                      <a:r>
                        <a:rPr sz="2175">
                          <a:solidFill>
                            <a:srgbClr val="172030"/>
                          </a:solidFill>
                          <a:latin typeface="Arial"/>
                          <a:ea typeface="Arial"/>
                          <a:cs typeface="Arial"/>
                        </a:rPr>
                        <a:t>75</a:t>
                      </a:r>
                    </a:p>
                  </a:txBody>
                  <a:tcPr marL="133350" marR="133350" marT="95250" marB="95250">
                    <a:solidFill>
                      <a:srgbClr val="FFFFFF"/>
                    </a:solidFill>
                  </a:tcPr>
                </a:tc>
              </a:tr>
              <a:tr h="685800">
                <a:tc>
                  <a:txBody>
                    <a:bodyPr/>
                    <a:lstStyle/>
                    <a:p>
                      <a:r>
                        <a:rPr sz="2175">
                          <a:solidFill>
                            <a:srgbClr val="172030"/>
                          </a:solidFill>
                          <a:latin typeface="Arial"/>
                          <a:ea typeface="Arial"/>
                          <a:cs typeface="Arial"/>
                        </a:rPr>
                        <a:t>Жауапты адам жоқ</a:t>
                      </a:r>
                    </a:p>
                  </a:txBody>
                  <a:tcPr marL="133350" marR="133350" marT="95250" marB="95250">
                    <a:solidFill>
                      <a:srgbClr val="EEF2E8"/>
                    </a:solidFill>
                  </a:tcPr>
                </a:tc>
                <a:tc>
                  <a:txBody>
                    <a:bodyPr/>
                    <a:lstStyle/>
                    <a:p>
                      <a:r>
                        <a:rPr sz="2175">
                          <a:solidFill>
                            <a:srgbClr val="172030"/>
                          </a:solidFill>
                          <a:latin typeface="Arial"/>
                          <a:ea typeface="Arial"/>
                          <a:cs typeface="Arial"/>
                        </a:rPr>
                        <a:t>10</a:t>
                      </a:r>
                    </a:p>
                  </a:txBody>
                  <a:tcPr marL="133350" marR="133350" marT="95250" marB="95250">
                    <a:solidFill>
                      <a:srgbClr val="EEF2E8"/>
                    </a:solidFill>
                  </a:tcPr>
                </a:tc>
              </a:tr>
            </a:tbl>
          </a:graphicData>
        </a:graphic>
      </p:graphicFrame>
      <p:sp>
        <p:nvSpPr>
          <p:cNvPr id="4" name="Text Қайталанғаны: Z-007 және Z-0">
            <a:extLst xmlns:a="http://schemas.openxmlformats.org/drawingml/2006/main">
              <a:ext uri="{FF2B5EF4-FFF2-40B4-BE49-F238E27FC236}">
                <a16:creationId xmlns:a16="http://schemas.microsoft.com/office/drawing/2014/main" id="{AE31C5E4-CBB5-4B38-A02C-9B057FF7BFE8}"/>
              </a:ext>
            </a:extLst>
          </p:cNvPr>
          <p:cNvSpPr>
            <a:spLocks xmlns:a="http://schemas.openxmlformats.org/drawingml/2006/main" noGrp="1"/>
          </p:cNvSpPr>
          <p:nvPr/>
        </p:nvSpPr>
        <p:spPr>
          <a:xfrm xmlns:a="http://schemas.openxmlformats.org/drawingml/2006/main">
            <a:off x="704850" y="5305425"/>
            <a:ext cx="10763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456B24"/>
                </a:solidFill>
                <a:latin typeface="Arial"/>
                <a:ea typeface="Arial"/>
                <a:cs typeface="Arial"/>
              </a:defRPr>
            </a:pPr>
            <a:r>
              <a:rPr sz="2175" b="1">
                <a:solidFill>
                  <a:srgbClr val="456B24"/>
                </a:solidFill>
                <a:latin typeface="Arial"/>
                <a:ea typeface="Arial"/>
                <a:cs typeface="Arial"/>
              </a:rPr>
              <a:t>Қайталанғаны: Z-007 және Z-014. Алдымен себебін анықтаймыз.</a:t>
            </a:r>
          </a:p>
        </p:txBody>
      </p:sp>
    </p:spTree>
    <p:extLst>
      <p:ext uri="{BB962C8B-B14F-4D97-AF65-F5344CB8AC3E}">
        <p14:creationId xmlns:p14="http://schemas.microsoft.com/office/powerpoint/2010/main" val="1674235895"/>
      </p:ext>
    </p:extLst>
  </p:cSld>
</p:sld>
</file>

<file path=ppt/slides/slide32.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7" name="Text Тексеру нәтижесі бойынша әре">
            <a:extLst xmlns:a="http://schemas.openxmlformats.org/drawingml/2006/main">
              <a:ext uri="{FF2B5EF4-FFF2-40B4-BE49-F238E27FC236}">
                <a16:creationId xmlns:a16="http://schemas.microsoft.com/office/drawing/2014/main" id="{4D59AF42-4B1A-47E9-82DD-708026DDBF68}"/>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Тексеру нәтижесі бойынша әрекеттер</a:t>
            </a:r>
          </a:p>
        </p:txBody>
      </p:sp>
      <p:sp>
        <p:nvSpPr>
          <p:cNvPr id="2" name="Text 23">
            <a:extLst xmlns:a="http://schemas.openxmlformats.org/drawingml/2006/main">
              <a:ext uri="{FF2B5EF4-FFF2-40B4-BE49-F238E27FC236}">
                <a16:creationId xmlns:a16="http://schemas.microsoft.com/office/drawing/2014/main" id="{B25BA8AC-E70A-405C-B298-B7DD3E4795C3}"/>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32</a:t>
            </a:r>
          </a:p>
        </p:txBody>
      </p:sp>
      <p:sp>
        <p:nvSpPr>
          <p:cNvPr id="3" name="Text Екі қайталанған ID себебін н">
            <a:extLst xmlns:a="http://schemas.openxmlformats.org/drawingml/2006/main">
              <a:ext uri="{FF2B5EF4-FFF2-40B4-BE49-F238E27FC236}">
                <a16:creationId xmlns:a16="http://schemas.microsoft.com/office/drawing/2014/main" id="{DFE7ABB7-0DEB-41E8-A891-94F73681119A}"/>
              </a:ext>
            </a:extLst>
          </p:cNvPr>
          <p:cNvSpPr>
            <a:spLocks xmlns:a="http://schemas.openxmlformats.org/drawingml/2006/main" noGrp="1"/>
          </p:cNvSpPr>
          <p:nvPr/>
        </p:nvSpPr>
        <p:spPr>
          <a:xfrm xmlns:a="http://schemas.openxmlformats.org/drawingml/2006/main">
            <a:off x="723900" y="1743075"/>
            <a:ext cx="1057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0">
                <a:solidFill>
                  <a:srgbClr val="172030"/>
                </a:solidFill>
                <a:latin typeface="Arial"/>
                <a:ea typeface="Arial"/>
                <a:cs typeface="Arial"/>
              </a:defRPr>
            </a:pPr>
            <a:r>
              <a:rPr sz="2475" b="0">
                <a:solidFill>
                  <a:srgbClr val="172030"/>
                </a:solidFill>
                <a:latin typeface="Arial"/>
                <a:ea typeface="Arial"/>
                <a:cs typeface="Arial"/>
              </a:rPr>
              <a:t>Екі қайталанған ID себебін нақтылау.</a:t>
            </a:r>
          </a:p>
        </p:txBody>
      </p:sp>
      <p:sp>
        <p:nvSpPr>
          <p:cNvPr id="4" name="Text 10 жол бойынша жауапты адамд">
            <a:extLst xmlns:a="http://schemas.openxmlformats.org/drawingml/2006/main">
              <a:ext uri="{FF2B5EF4-FFF2-40B4-BE49-F238E27FC236}">
                <a16:creationId xmlns:a16="http://schemas.microsoft.com/office/drawing/2014/main" id="{35F929B3-9BDB-4CFC-B5D1-25FD0F2CB8AD}"/>
              </a:ext>
            </a:extLst>
          </p:cNvPr>
          <p:cNvSpPr>
            <a:spLocks xmlns:a="http://schemas.openxmlformats.org/drawingml/2006/main" noGrp="1"/>
          </p:cNvSpPr>
          <p:nvPr/>
        </p:nvSpPr>
        <p:spPr>
          <a:xfrm xmlns:a="http://schemas.openxmlformats.org/drawingml/2006/main">
            <a:off x="723900" y="2962275"/>
            <a:ext cx="1057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0">
                <a:solidFill>
                  <a:srgbClr val="172030"/>
                </a:solidFill>
                <a:latin typeface="Arial"/>
                <a:ea typeface="Arial"/>
                <a:cs typeface="Arial"/>
              </a:defRPr>
            </a:pPr>
            <a:r>
              <a:rPr sz="2475" b="0">
                <a:solidFill>
                  <a:srgbClr val="172030"/>
                </a:solidFill>
                <a:latin typeface="Arial"/>
                <a:ea typeface="Arial"/>
                <a:cs typeface="Arial"/>
              </a:rPr>
              <a:t>10 жол бойынша жауапты адамдарды нақтылау.</a:t>
            </a:r>
          </a:p>
        </p:txBody>
      </p:sp>
      <p:sp>
        <p:nvSpPr>
          <p:cNvPr id="5" name="Text Мерзімі өткен 75 жолды тапсы">
            <a:extLst xmlns:a="http://schemas.openxmlformats.org/drawingml/2006/main">
              <a:ext uri="{FF2B5EF4-FFF2-40B4-BE49-F238E27FC236}">
                <a16:creationId xmlns:a16="http://schemas.microsoft.com/office/drawing/2014/main" id="{C6C63D9A-A49C-4F1C-8684-67A43FDE192B}"/>
              </a:ext>
            </a:extLst>
          </p:cNvPr>
          <p:cNvSpPr>
            <a:spLocks xmlns:a="http://schemas.openxmlformats.org/drawingml/2006/main" noGrp="1"/>
          </p:cNvSpPr>
          <p:nvPr/>
        </p:nvSpPr>
        <p:spPr>
          <a:xfrm xmlns:a="http://schemas.openxmlformats.org/drawingml/2006/main">
            <a:off x="723900" y="4181475"/>
            <a:ext cx="1057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0">
                <a:solidFill>
                  <a:srgbClr val="172030"/>
                </a:solidFill>
                <a:latin typeface="Arial"/>
                <a:ea typeface="Arial"/>
                <a:cs typeface="Arial"/>
              </a:defRPr>
            </a:pPr>
            <a:r>
              <a:rPr sz="2475" b="0">
                <a:solidFill>
                  <a:srgbClr val="172030"/>
                </a:solidFill>
                <a:latin typeface="Arial"/>
                <a:ea typeface="Arial"/>
                <a:cs typeface="Arial"/>
              </a:rPr>
              <a:t>Мерзімі өткен 75 жолды тапсырма иелерімен қарау.</a:t>
            </a:r>
          </a:p>
        </p:txBody>
      </p:sp>
      <p:sp>
        <p:nvSpPr>
          <p:cNvPr id="6" name="Text Бұл — тексерілген деректерге">
            <a:extLst xmlns:a="http://schemas.openxmlformats.org/drawingml/2006/main">
              <a:ext uri="{FF2B5EF4-FFF2-40B4-BE49-F238E27FC236}">
                <a16:creationId xmlns:a16="http://schemas.microsoft.com/office/drawing/2014/main" id="{CC25CDDC-9B98-42AA-8F77-4E90C9FACEA4}"/>
              </a:ext>
            </a:extLst>
          </p:cNvPr>
          <p:cNvSpPr>
            <a:spLocks xmlns:a="http://schemas.openxmlformats.org/drawingml/2006/main" noGrp="1"/>
          </p:cNvSpPr>
          <p:nvPr/>
        </p:nvSpPr>
        <p:spPr>
          <a:xfrm xmlns:a="http://schemas.openxmlformats.org/drawingml/2006/main">
            <a:off x="704850" y="58293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96273"/>
                </a:solidFill>
                <a:latin typeface="Arial"/>
                <a:ea typeface="Arial"/>
                <a:cs typeface="Arial"/>
              </a:defRPr>
            </a:pPr>
            <a:r>
              <a:rPr sz="1875" b="0">
                <a:solidFill>
                  <a:srgbClr val="596273"/>
                </a:solidFill>
                <a:latin typeface="Arial"/>
                <a:ea typeface="Arial"/>
                <a:cs typeface="Arial"/>
              </a:rPr>
              <a:t>Бұл — тексерілген деректерге сүйенген ұсыныстар, орындалған әрекеттер емес.</a:t>
            </a:r>
          </a:p>
        </p:txBody>
      </p:sp>
    </p:spTree>
    <p:extLst>
      <p:ext uri="{BB962C8B-B14F-4D97-AF65-F5344CB8AC3E}">
        <p14:creationId xmlns:p14="http://schemas.microsoft.com/office/powerpoint/2010/main" val="964262352"/>
      </p:ext>
    </p:extLst>
  </p:cSld>
</p:sld>
</file>

<file path=ppt/slides/slide33.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5" name="Text Word: хаттамадан тапсырмалар">
            <a:extLst xmlns:a="http://schemas.openxmlformats.org/drawingml/2006/main">
              <a:ext uri="{FF2B5EF4-FFF2-40B4-BE49-F238E27FC236}">
                <a16:creationId xmlns:a16="http://schemas.microsoft.com/office/drawing/2014/main" id="{84605A3B-1431-42A8-B7BE-8AD710848C4B}"/>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Word: хаттамадан тапсырмалар</a:t>
            </a:r>
          </a:p>
        </p:txBody>
      </p:sp>
      <p:sp>
        <p:nvSpPr>
          <p:cNvPr id="2" name="Text 24">
            <a:extLst xmlns:a="http://schemas.openxmlformats.org/drawingml/2006/main">
              <a:ext uri="{FF2B5EF4-FFF2-40B4-BE49-F238E27FC236}">
                <a16:creationId xmlns:a16="http://schemas.microsoft.com/office/drawing/2014/main" id="{5CE85F13-9FBB-43EC-9A85-DD57D93A0629}"/>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33</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a9a3719097c45fa"/>
          <a:stretch xmlns:a="http://schemas.openxmlformats.org/drawingml/2006/main"/>
        </p:blipFill>
        <p:spPr>
          <a:xfrm xmlns:a="http://schemas.openxmlformats.org/drawingml/2006/main">
            <a:off x="2041398" y="1428750"/>
            <a:ext cx="3232404" cy="4572000"/>
          </a:xfrm>
          <a:prstGeom xmlns:a="http://schemas.openxmlformats.org/drawingml/2006/main" prst="rect">
            <a:avLst/>
          </a:prstGeom>
        </p:spPr>
      </p:pic>
      <p:sp>
        <p:nvSpPr>
          <p:cNvPr id="4" name="Text Кім не істейді?&#10;&#10;Қай мерзімг">
            <a:extLst xmlns:a="http://schemas.openxmlformats.org/drawingml/2006/main">
              <a:ext uri="{FF2B5EF4-FFF2-40B4-BE49-F238E27FC236}">
                <a16:creationId xmlns:a16="http://schemas.microsoft.com/office/drawing/2014/main" id="{558F47F6-4AFE-4685-8298-98672B0D7D38}"/>
              </a:ext>
            </a:extLst>
          </p:cNvPr>
          <p:cNvSpPr>
            <a:spLocks xmlns:a="http://schemas.openxmlformats.org/drawingml/2006/main" noGrp="1"/>
          </p:cNvSpPr>
          <p:nvPr/>
        </p:nvSpPr>
        <p:spPr>
          <a:xfrm xmlns:a="http://schemas.openxmlformats.org/drawingml/2006/main">
            <a:off x="7000875" y="1828800"/>
            <a:ext cx="4333875"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456B24"/>
                </a:solidFill>
                <a:latin typeface="Arial"/>
                <a:ea typeface="Arial"/>
                <a:cs typeface="Arial"/>
              </a:defRPr>
            </a:pPr>
            <a:r>
              <a:rPr sz="2700" b="1">
                <a:solidFill>
                  <a:srgbClr val="456B24"/>
                </a:solidFill>
                <a:latin typeface="Arial"/>
                <a:ea typeface="Arial"/>
                <a:cs typeface="Arial"/>
              </a:rPr>
              <a:t>Кім не істейді?</a:t>
            </a:r>
          </a:p>
          <a:p xmlns:a="http://schemas.openxmlformats.org/drawingml/2006/main">
            <a:r>
              <a:t/>
            </a:r>
          </a:p>
          <a:p xmlns:a="http://schemas.openxmlformats.org/drawingml/2006/main">
            <a:pPr>
              <a:buNone/>
              <a:defRPr sz="2700" b="1">
                <a:solidFill>
                  <a:srgbClr val="456B24"/>
                </a:solidFill>
                <a:latin typeface="Arial"/>
                <a:ea typeface="Arial"/>
                <a:cs typeface="Arial"/>
              </a:defRPr>
            </a:pPr>
            <a:r>
              <a:rPr sz="2700" b="1">
                <a:solidFill>
                  <a:srgbClr val="456B24"/>
                </a:solidFill>
                <a:latin typeface="Arial"/>
                <a:ea typeface="Arial"/>
                <a:cs typeface="Arial"/>
              </a:rPr>
              <a:t>Қай мерзімге дейін?</a:t>
            </a:r>
          </a:p>
          <a:p xmlns:a="http://schemas.openxmlformats.org/drawingml/2006/main">
            <a:r>
              <a:t/>
            </a:r>
          </a:p>
          <a:p xmlns:a="http://schemas.openxmlformats.org/drawingml/2006/main">
            <a:pPr>
              <a:buNone/>
              <a:defRPr sz="2700" b="1">
                <a:solidFill>
                  <a:srgbClr val="456B24"/>
                </a:solidFill>
                <a:latin typeface="Arial"/>
                <a:ea typeface="Arial"/>
                <a:cs typeface="Arial"/>
              </a:defRPr>
            </a:pPr>
            <a:r>
              <a:rPr sz="2700" b="1">
                <a:solidFill>
                  <a:srgbClr val="456B24"/>
                </a:solidFill>
                <a:latin typeface="Arial"/>
                <a:ea typeface="Arial"/>
                <a:cs typeface="Arial"/>
              </a:rPr>
              <a:t>Не әлі шешілмеген?</a:t>
            </a:r>
          </a:p>
        </p:txBody>
      </p:sp>
    </p:spTree>
    <p:extLst>
      <p:ext uri="{BB962C8B-B14F-4D97-AF65-F5344CB8AC3E}">
        <p14:creationId xmlns:p14="http://schemas.microsoft.com/office/powerpoint/2010/main" val="1445540376"/>
      </p:ext>
    </p:extLst>
  </p:cSld>
</p:sld>
</file>

<file path=ppt/slides/slide34.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5" name="Text Word мәтініне сұрау">
            <a:extLst xmlns:a="http://schemas.openxmlformats.org/drawingml/2006/main">
              <a:ext uri="{FF2B5EF4-FFF2-40B4-BE49-F238E27FC236}">
                <a16:creationId xmlns:a16="http://schemas.microsoft.com/office/drawing/2014/main" id="{EF11379C-9B26-431A-8E6D-DE3540C9055E}"/>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Word мәтініне сұрау</a:t>
            </a:r>
          </a:p>
        </p:txBody>
      </p:sp>
      <p:sp>
        <p:nvSpPr>
          <p:cNvPr id="2" name="Text 25">
            <a:extLst xmlns:a="http://schemas.openxmlformats.org/drawingml/2006/main">
              <a:ext uri="{FF2B5EF4-FFF2-40B4-BE49-F238E27FC236}">
                <a16:creationId xmlns:a16="http://schemas.microsoft.com/office/drawing/2014/main" id="{34680B4D-CE1C-485A-BB4B-B89273A013E6}"/>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34</a:t>
            </a:r>
          </a:p>
        </p:txBody>
      </p:sp>
      <p:sp>
        <p:nvSpPr>
          <p:cNvPr id="3" name="Text Хаттама мәтінін чатқа көшірі">
            <a:extLst xmlns:a="http://schemas.openxmlformats.org/drawingml/2006/main">
              <a:ext uri="{FF2B5EF4-FFF2-40B4-BE49-F238E27FC236}">
                <a16:creationId xmlns:a16="http://schemas.microsoft.com/office/drawing/2014/main" id="{2C74CABA-F31F-43CF-AF66-F19A0BD9EA0E}"/>
              </a:ext>
            </a:extLst>
          </p:cNvPr>
          <p:cNvSpPr>
            <a:spLocks xmlns:a="http://schemas.openxmlformats.org/drawingml/2006/main" noGrp="1"/>
          </p:cNvSpPr>
          <p:nvPr/>
        </p:nvSpPr>
        <p:spPr>
          <a:xfrm xmlns:a="http://schemas.openxmlformats.org/drawingml/2006/main">
            <a:off x="704850" y="1552575"/>
            <a:ext cx="10668000" cy="369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172030"/>
                </a:solidFill>
                <a:latin typeface="Arial"/>
                <a:ea typeface="Arial"/>
                <a:cs typeface="Arial"/>
              </a:defRPr>
            </a:pPr>
            <a:r>
              <a:rPr sz="2550" b="0">
                <a:solidFill>
                  <a:srgbClr val="172030"/>
                </a:solidFill>
                <a:latin typeface="Arial"/>
                <a:ea typeface="Arial"/>
                <a:cs typeface="Arial"/>
              </a:rPr>
              <a:t>Хаттама мәтінін чатқа көшіріңіз.</a:t>
            </a:r>
          </a:p>
          <a:p xmlns:a="http://schemas.openxmlformats.org/drawingml/2006/main">
            <a:r>
              <a:t/>
            </a:r>
          </a:p>
          <a:p xmlns:a="http://schemas.openxmlformats.org/drawingml/2006/main">
            <a:pPr>
              <a:buNone/>
              <a:defRPr sz="2550" b="0">
                <a:solidFill>
                  <a:srgbClr val="172030"/>
                </a:solidFill>
                <a:latin typeface="Arial"/>
                <a:ea typeface="Arial"/>
                <a:cs typeface="Arial"/>
              </a:defRPr>
            </a:pPr>
            <a:r>
              <a:rPr sz="2550" b="0">
                <a:solidFill>
                  <a:srgbClr val="172030"/>
                </a:solidFill>
                <a:latin typeface="Arial"/>
                <a:ea typeface="Arial"/>
                <a:cs typeface="Arial"/>
              </a:rPr>
              <a:t>Кесте сұраңыз: тапсырма, жауапты адам, мерзім.</a:t>
            </a:r>
          </a:p>
          <a:p xmlns:a="http://schemas.openxmlformats.org/drawingml/2006/main">
            <a:r>
              <a:t/>
            </a:r>
          </a:p>
          <a:p xmlns:a="http://schemas.openxmlformats.org/drawingml/2006/main">
            <a:pPr>
              <a:buNone/>
              <a:defRPr sz="2550" b="0">
                <a:solidFill>
                  <a:srgbClr val="172030"/>
                </a:solidFill>
                <a:latin typeface="Arial"/>
                <a:ea typeface="Arial"/>
                <a:cs typeface="Arial"/>
              </a:defRPr>
            </a:pPr>
            <a:r>
              <a:rPr sz="2550" b="0">
                <a:solidFill>
                  <a:srgbClr val="172030"/>
                </a:solidFill>
                <a:latin typeface="Arial"/>
                <a:ea typeface="Arial"/>
                <a:cs typeface="Arial"/>
              </a:rPr>
              <a:t>Қабылданбаған ұсыныстарды бөлек көрсетіңіз.</a:t>
            </a:r>
          </a:p>
        </p:txBody>
      </p:sp>
      <p:sp>
        <p:nvSpPr>
          <p:cNvPr id="4" name="Text «Көрсетілмеген» деген жауап ">
            <a:extLst xmlns:a="http://schemas.openxmlformats.org/drawingml/2006/main">
              <a:ext uri="{FF2B5EF4-FFF2-40B4-BE49-F238E27FC236}">
                <a16:creationId xmlns:a16="http://schemas.microsoft.com/office/drawing/2014/main" id="{F4407808-C16A-4881-9EC2-57AEA2EC3AEB}"/>
              </a:ext>
            </a:extLst>
          </p:cNvPr>
          <p:cNvSpPr>
            <a:spLocks xmlns:a="http://schemas.openxmlformats.org/drawingml/2006/main" noGrp="1"/>
          </p:cNvSpPr>
          <p:nvPr/>
        </p:nvSpPr>
        <p:spPr>
          <a:xfrm xmlns:a="http://schemas.openxmlformats.org/drawingml/2006/main">
            <a:off x="704850" y="5943600"/>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456B24"/>
                </a:solidFill>
                <a:latin typeface="Arial"/>
                <a:ea typeface="Arial"/>
                <a:cs typeface="Arial"/>
              </a:defRPr>
            </a:pPr>
            <a:r>
              <a:rPr sz="1950" b="1">
                <a:solidFill>
                  <a:srgbClr val="456B24"/>
                </a:solidFill>
                <a:latin typeface="Arial"/>
                <a:ea typeface="Arial"/>
                <a:cs typeface="Arial"/>
              </a:rPr>
              <a:t>«Көрсетілмеген» деген жауап ойдан қосылған адам не мерзімнен дұрыс.</a:t>
            </a:r>
          </a:p>
        </p:txBody>
      </p:sp>
    </p:spTree>
    <p:extLst>
      <p:ext uri="{BB962C8B-B14F-4D97-AF65-F5344CB8AC3E}">
        <p14:creationId xmlns:p14="http://schemas.microsoft.com/office/powerpoint/2010/main" val="455245288"/>
      </p:ext>
    </p:extLst>
  </p:cSld>
</p:sld>
</file>

<file path=ppt/slides/slide35.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5" name="Text Хаттама бойынша нақты жауап">
            <a:extLst xmlns:a="http://schemas.openxmlformats.org/drawingml/2006/main">
              <a:ext uri="{FF2B5EF4-FFF2-40B4-BE49-F238E27FC236}">
                <a16:creationId xmlns:a16="http://schemas.microsoft.com/office/drawing/2014/main" id="{BC85F227-3822-4E08-8E5D-A70566EB90F0}"/>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Хаттама бойынша нақты жауап</a:t>
            </a:r>
          </a:p>
        </p:txBody>
      </p:sp>
      <p:sp>
        <p:nvSpPr>
          <p:cNvPr id="2" name="Text 26">
            <a:extLst xmlns:a="http://schemas.openxmlformats.org/drawingml/2006/main">
              <a:ext uri="{FF2B5EF4-FFF2-40B4-BE49-F238E27FC236}">
                <a16:creationId xmlns:a16="http://schemas.microsoft.com/office/drawing/2014/main" id="{ACC20E2C-D8F3-4EA2-BEA6-D5BDB5227A05}"/>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35</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cb06bdf33b14511"/>
          <a:stretch xmlns:a="http://schemas.openxmlformats.org/drawingml/2006/main"/>
        </p:blipFill>
        <p:spPr>
          <a:xfrm xmlns:a="http://schemas.openxmlformats.org/drawingml/2006/main">
            <a:off x="2591415" y="1381125"/>
            <a:ext cx="6990121" cy="4333875"/>
          </a:xfrm>
          <a:prstGeom xmlns:a="http://schemas.openxmlformats.org/drawingml/2006/main" prst="rect">
            <a:avLst/>
          </a:prstGeom>
        </p:spPr>
      </p:pic>
      <p:sp>
        <p:nvSpPr>
          <p:cNvPr id="4" name="Text Хаттама мәтіні бойынша Gemin">
            <a:extLst xmlns:a="http://schemas.openxmlformats.org/drawingml/2006/main">
              <a:ext uri="{FF2B5EF4-FFF2-40B4-BE49-F238E27FC236}">
                <a16:creationId xmlns:a16="http://schemas.microsoft.com/office/drawing/2014/main" id="{A1B2CA73-3EDF-4FD9-98D2-D74F3A2794E1}"/>
              </a:ext>
            </a:extLst>
          </p:cNvPr>
          <p:cNvSpPr>
            <a:spLocks xmlns:a="http://schemas.openxmlformats.org/drawingml/2006/main" noGrp="1"/>
          </p:cNvSpPr>
          <p:nvPr/>
        </p:nvSpPr>
        <p:spPr>
          <a:xfrm xmlns:a="http://schemas.openxmlformats.org/drawingml/2006/main">
            <a:off x="704850" y="58674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96273"/>
                </a:solidFill>
                <a:latin typeface="Arial"/>
                <a:ea typeface="Arial"/>
                <a:cs typeface="Arial"/>
              </a:defRPr>
            </a:pPr>
            <a:r>
              <a:rPr sz="1875" b="0">
                <a:solidFill>
                  <a:srgbClr val="596273"/>
                </a:solidFill>
                <a:latin typeface="Arial"/>
                <a:ea typeface="Arial"/>
                <a:cs typeface="Arial"/>
              </a:rPr>
              <a:t>Хаттама мәтіні бойынша Gemini-дің нақты жауабы.</a:t>
            </a:r>
          </a:p>
        </p:txBody>
      </p:sp>
    </p:spTree>
    <p:extLst>
      <p:ext uri="{BB962C8B-B14F-4D97-AF65-F5344CB8AC3E}">
        <p14:creationId xmlns:p14="http://schemas.microsoft.com/office/powerpoint/2010/main" val="35377822"/>
      </p:ext>
    </p:extLst>
  </p:cSld>
</p:sld>
</file>

<file path=ppt/slides/slide36.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7" name="Text Мәтінді ғана емес, мағынаны ">
            <a:extLst xmlns:a="http://schemas.openxmlformats.org/drawingml/2006/main">
              <a:ext uri="{FF2B5EF4-FFF2-40B4-BE49-F238E27FC236}">
                <a16:creationId xmlns:a16="http://schemas.microsoft.com/office/drawing/2014/main" id="{B0CA0ECC-205A-420B-A5C2-571E1B0323FB}"/>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Мәтінді ғана емес, мағынаны тексереміз</a:t>
            </a:r>
          </a:p>
        </p:txBody>
      </p:sp>
      <p:sp>
        <p:nvSpPr>
          <p:cNvPr id="2" name="Text 27">
            <a:extLst xmlns:a="http://schemas.openxmlformats.org/drawingml/2006/main">
              <a:ext uri="{FF2B5EF4-FFF2-40B4-BE49-F238E27FC236}">
                <a16:creationId xmlns:a16="http://schemas.microsoft.com/office/drawing/2014/main" id="{51DB9638-1B72-4DDE-B6BF-2DCB0FC26D8E}"/>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36</a:t>
            </a:r>
          </a:p>
        </p:txBody>
      </p:sp>
      <p:sp>
        <p:nvSpPr>
          <p:cNvPr id="3" name="Text Залды брондау: жауапты адам ">
            <a:extLst xmlns:a="http://schemas.openxmlformats.org/drawingml/2006/main">
              <a:ext uri="{FF2B5EF4-FFF2-40B4-BE49-F238E27FC236}">
                <a16:creationId xmlns:a16="http://schemas.microsoft.com/office/drawing/2014/main" id="{8C69F853-26D4-45CA-8E7B-4711CA0F77C7}"/>
              </a:ext>
            </a:extLst>
          </p:cNvPr>
          <p:cNvSpPr>
            <a:spLocks xmlns:a="http://schemas.openxmlformats.org/drawingml/2006/main" noGrp="1"/>
          </p:cNvSpPr>
          <p:nvPr/>
        </p:nvSpPr>
        <p:spPr>
          <a:xfrm xmlns:a="http://schemas.openxmlformats.org/drawingml/2006/main">
            <a:off x="723900" y="1714500"/>
            <a:ext cx="10572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2030"/>
                </a:solidFill>
                <a:latin typeface="Arial"/>
                <a:ea typeface="Arial"/>
                <a:cs typeface="Arial"/>
              </a:defRPr>
            </a:pPr>
            <a:r>
              <a:rPr sz="2400" b="0">
                <a:solidFill>
                  <a:srgbClr val="172030"/>
                </a:solidFill>
                <a:latin typeface="Arial"/>
                <a:ea typeface="Arial"/>
                <a:cs typeface="Arial"/>
              </a:rPr>
              <a:t>Залды брондау: жауапты адам тағайындалмаған.</a:t>
            </a:r>
          </a:p>
        </p:txBody>
      </p:sp>
      <p:sp>
        <p:nvSpPr>
          <p:cNvPr id="4" name="Text Кеңсе заттарының тізімі: мер">
            <a:extLst xmlns:a="http://schemas.openxmlformats.org/drawingml/2006/main">
              <a:ext uri="{FF2B5EF4-FFF2-40B4-BE49-F238E27FC236}">
                <a16:creationId xmlns:a16="http://schemas.microsoft.com/office/drawing/2014/main" id="{CA7D6B98-D357-4248-8D4B-F8AD4D370AC6}"/>
              </a:ext>
            </a:extLst>
          </p:cNvPr>
          <p:cNvSpPr>
            <a:spLocks xmlns:a="http://schemas.openxmlformats.org/drawingml/2006/main" noGrp="1"/>
          </p:cNvSpPr>
          <p:nvPr/>
        </p:nvSpPr>
        <p:spPr>
          <a:xfrm xmlns:a="http://schemas.openxmlformats.org/drawingml/2006/main">
            <a:off x="723900" y="2914650"/>
            <a:ext cx="10572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2030"/>
                </a:solidFill>
                <a:latin typeface="Arial"/>
                <a:ea typeface="Arial"/>
                <a:cs typeface="Arial"/>
              </a:defRPr>
            </a:pPr>
            <a:r>
              <a:rPr sz="2400" b="0">
                <a:solidFill>
                  <a:srgbClr val="172030"/>
                </a:solidFill>
                <a:latin typeface="Arial"/>
                <a:ea typeface="Arial"/>
                <a:cs typeface="Arial"/>
              </a:rPr>
              <a:t>Кеңсе заттарының тізімі: мерзімі анықталмаған.</a:t>
            </a:r>
          </a:p>
        </p:txBody>
      </p:sp>
      <p:sp>
        <p:nvSpPr>
          <p:cNvPr id="5" name="Text Кофе-брейк: ұсыныс, әлі шеші">
            <a:extLst xmlns:a="http://schemas.openxmlformats.org/drawingml/2006/main">
              <a:ext uri="{FF2B5EF4-FFF2-40B4-BE49-F238E27FC236}">
                <a16:creationId xmlns:a16="http://schemas.microsoft.com/office/drawing/2014/main" id="{5362F64C-4BC6-493C-8689-513818A09F0E}"/>
              </a:ext>
            </a:extLst>
          </p:cNvPr>
          <p:cNvSpPr>
            <a:spLocks xmlns:a="http://schemas.openxmlformats.org/drawingml/2006/main" noGrp="1"/>
          </p:cNvSpPr>
          <p:nvPr/>
        </p:nvSpPr>
        <p:spPr>
          <a:xfrm xmlns:a="http://schemas.openxmlformats.org/drawingml/2006/main">
            <a:off x="723900" y="4114800"/>
            <a:ext cx="10572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2030"/>
                </a:solidFill>
                <a:latin typeface="Arial"/>
                <a:ea typeface="Arial"/>
                <a:cs typeface="Arial"/>
              </a:defRPr>
            </a:pPr>
            <a:r>
              <a:rPr sz="2400" b="0">
                <a:solidFill>
                  <a:srgbClr val="172030"/>
                </a:solidFill>
                <a:latin typeface="Arial"/>
                <a:ea typeface="Arial"/>
                <a:cs typeface="Arial"/>
              </a:rPr>
              <a:t>Кофе-брейк: ұсыныс, әлі шешім жоқ.</a:t>
            </a:r>
          </a:p>
        </p:txBody>
      </p:sp>
      <p:sp>
        <p:nvSpPr>
          <p:cNvPr id="6" name="Text Нақтылау: «Осы сұрақтармен ә">
            <a:extLst xmlns:a="http://schemas.openxmlformats.org/drawingml/2006/main">
              <a:ext uri="{FF2B5EF4-FFF2-40B4-BE49-F238E27FC236}">
                <a16:creationId xmlns:a16="http://schemas.microsoft.com/office/drawing/2014/main" id="{62A9719F-134A-4794-AC84-008D1F08031C}"/>
              </a:ext>
            </a:extLst>
          </p:cNvPr>
          <p:cNvSpPr>
            <a:spLocks xmlns:a="http://schemas.openxmlformats.org/drawingml/2006/main" noGrp="1"/>
          </p:cNvSpPr>
          <p:nvPr/>
        </p:nvSpPr>
        <p:spPr>
          <a:xfrm xmlns:a="http://schemas.openxmlformats.org/drawingml/2006/main">
            <a:off x="704850" y="57626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456B24"/>
                </a:solidFill>
                <a:latin typeface="Arial"/>
                <a:ea typeface="Arial"/>
                <a:cs typeface="Arial"/>
              </a:defRPr>
            </a:pPr>
            <a:r>
              <a:rPr sz="2100" b="1">
                <a:solidFill>
                  <a:srgbClr val="456B24"/>
                </a:solidFill>
                <a:latin typeface="Arial"/>
                <a:ea typeface="Arial"/>
                <a:cs typeface="Arial"/>
              </a:rPr>
              <a:t>Нақтылау: «Осы сұрақтармен әріптестерге қысқа хабарлама жаз». </a:t>
            </a:r>
          </a:p>
        </p:txBody>
      </p:sp>
    </p:spTree>
    <p:extLst>
      <p:ext uri="{BB962C8B-B14F-4D97-AF65-F5344CB8AC3E}">
        <p14:creationId xmlns:p14="http://schemas.microsoft.com/office/powerpoint/2010/main" val="801192301"/>
      </p:ext>
    </p:extLst>
  </p:cSld>
</p:sld>
</file>

<file path=ppt/slides/slide37.xml><?xml version="1.0" encoding="utf-8"?>
<p:sld xmlns:p="http://schemas.openxmlformats.org/presentationml/2006/main">
  <p:cSld>
    <p:bg>
      <p:bgPr>
        <a:solidFill xmlns:a="http://schemas.openxmlformats.org/drawingml/2006/main">
          <a:srgbClr val="101624"/>
        </a:solidFill>
      </p:bgPr>
    </p:bg>
    <p:spTree>
      <p:nvGrpSpPr>
        <p:cNvPr id="1" name=""/>
        <p:cNvGrpSpPr/>
        <p:nvPr/>
      </p:nvGrpSpPr>
      <p:grpSpPr>
        <a:xfrm xmlns:a="http://schemas.openxmlformats.org/drawingml/2006/main"/>
      </p:grpSpPr>
      <p:sp>
        <p:nvSpPr>
          <p:cNvPr id="8" name="Text Өзіңіз таңдайтын міндет">
            <a:extLst xmlns:a="http://schemas.openxmlformats.org/drawingml/2006/main">
              <a:ext uri="{FF2B5EF4-FFF2-40B4-BE49-F238E27FC236}">
                <a16:creationId xmlns:a16="http://schemas.microsoft.com/office/drawing/2014/main" id="{A74F5D09-ED97-44CD-A054-B7791808CD37}"/>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F5F6F1"/>
                </a:solidFill>
                <a:latin typeface="Arial"/>
                <a:ea typeface="Arial"/>
                <a:cs typeface="Arial"/>
              </a:defRPr>
            </a:pPr>
            <a:r>
              <a:rPr sz="3225" b="1">
                <a:solidFill>
                  <a:srgbClr val="F5F6F1"/>
                </a:solidFill>
                <a:latin typeface="Arial"/>
                <a:ea typeface="Arial"/>
                <a:cs typeface="Arial"/>
              </a:rPr>
              <a:t>Өзіңіз таңдайтын міндет</a:t>
            </a:r>
          </a:p>
        </p:txBody>
      </p:sp>
      <p:sp>
        <p:nvSpPr>
          <p:cNvPr id="2" name="Text 28">
            <a:extLst xmlns:a="http://schemas.openxmlformats.org/drawingml/2006/main">
              <a:ext uri="{FF2B5EF4-FFF2-40B4-BE49-F238E27FC236}">
                <a16:creationId xmlns:a16="http://schemas.microsoft.com/office/drawing/2014/main" id="{3CAFEB05-63A0-4195-B8D0-C39625FE9AA7}"/>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BDC7D4"/>
                </a:solidFill>
                <a:latin typeface="Arial"/>
                <a:ea typeface="Arial"/>
                <a:cs typeface="Arial"/>
              </a:defRPr>
            </a:pPr>
            <a:r>
              <a:rPr sz="1425" b="0">
                <a:solidFill>
                  <a:srgbClr val="BDC7D4"/>
                </a:solidFill>
                <a:latin typeface="Arial"/>
                <a:ea typeface="Arial"/>
                <a:cs typeface="Arial"/>
              </a:rPr>
              <a:t>37</a:t>
            </a:r>
          </a:p>
        </p:txBody>
      </p:sp>
      <p:sp>
        <p:nvSpPr>
          <p:cNvPr id="3" name="Text Қажетті хабарлама жазу">
            <a:extLst xmlns:a="http://schemas.openxmlformats.org/drawingml/2006/main">
              <a:ext uri="{FF2B5EF4-FFF2-40B4-BE49-F238E27FC236}">
                <a16:creationId xmlns:a16="http://schemas.microsoft.com/office/drawing/2014/main" id="{DF1CE3CF-55CC-41FC-A573-AFCA23A9046A}"/>
              </a:ext>
            </a:extLst>
          </p:cNvPr>
          <p:cNvSpPr>
            <a:spLocks xmlns:a="http://schemas.openxmlformats.org/drawingml/2006/main" noGrp="1"/>
          </p:cNvSpPr>
          <p:nvPr/>
        </p:nvSpPr>
        <p:spPr>
          <a:xfrm xmlns:a="http://schemas.openxmlformats.org/drawingml/2006/main">
            <a:off x="723900" y="1647825"/>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F5F6F1"/>
                </a:solidFill>
                <a:latin typeface="Arial"/>
                <a:ea typeface="Arial"/>
                <a:cs typeface="Arial"/>
              </a:defRPr>
            </a:pPr>
            <a:r>
              <a:rPr sz="2550" b="0">
                <a:solidFill>
                  <a:srgbClr val="F5F6F1"/>
                </a:solidFill>
                <a:latin typeface="Arial"/>
                <a:ea typeface="Arial"/>
                <a:cs typeface="Arial"/>
              </a:rPr>
              <a:t>Қажетті хабарлама жазу</a:t>
            </a:r>
          </a:p>
        </p:txBody>
      </p:sp>
      <p:sp>
        <p:nvSpPr>
          <p:cNvPr id="4" name="Text Хабарландыруды немесе құжатт">
            <a:extLst xmlns:a="http://schemas.openxmlformats.org/drawingml/2006/main">
              <a:ext uri="{FF2B5EF4-FFF2-40B4-BE49-F238E27FC236}">
                <a16:creationId xmlns:a16="http://schemas.microsoft.com/office/drawing/2014/main" id="{8CAAF759-DA72-4E1F-A285-FB802F3F4AF9}"/>
              </a:ext>
            </a:extLst>
          </p:cNvPr>
          <p:cNvSpPr>
            <a:spLocks xmlns:a="http://schemas.openxmlformats.org/drawingml/2006/main" noGrp="1"/>
          </p:cNvSpPr>
          <p:nvPr/>
        </p:nvSpPr>
        <p:spPr>
          <a:xfrm xmlns:a="http://schemas.openxmlformats.org/drawingml/2006/main">
            <a:off x="723900" y="26479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F5F6F1"/>
                </a:solidFill>
                <a:latin typeface="Arial"/>
                <a:ea typeface="Arial"/>
                <a:cs typeface="Arial"/>
              </a:defRPr>
            </a:pPr>
            <a:r>
              <a:rPr sz="2550" b="0">
                <a:solidFill>
                  <a:srgbClr val="F5F6F1"/>
                </a:solidFill>
                <a:latin typeface="Arial"/>
                <a:ea typeface="Arial"/>
                <a:cs typeface="Arial"/>
              </a:rPr>
              <a:t>Хабарландыруды немесе құжатты түсіну</a:t>
            </a:r>
          </a:p>
        </p:txBody>
      </p:sp>
      <p:sp>
        <p:nvSpPr>
          <p:cNvPr id="5" name="Text Сатып алудың не сапардың екі">
            <a:extLst xmlns:a="http://schemas.openxmlformats.org/drawingml/2006/main">
              <a:ext uri="{FF2B5EF4-FFF2-40B4-BE49-F238E27FC236}">
                <a16:creationId xmlns:a16="http://schemas.microsoft.com/office/drawing/2014/main" id="{F67BE7DA-976C-4335-A601-5D6EC0D2860B}"/>
              </a:ext>
            </a:extLst>
          </p:cNvPr>
          <p:cNvSpPr>
            <a:spLocks xmlns:a="http://schemas.openxmlformats.org/drawingml/2006/main" noGrp="1"/>
          </p:cNvSpPr>
          <p:nvPr/>
        </p:nvSpPr>
        <p:spPr>
          <a:xfrm xmlns:a="http://schemas.openxmlformats.org/drawingml/2006/main">
            <a:off x="723900" y="3648075"/>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F5F6F1"/>
                </a:solidFill>
                <a:latin typeface="Arial"/>
                <a:ea typeface="Arial"/>
                <a:cs typeface="Arial"/>
              </a:defRPr>
            </a:pPr>
            <a:r>
              <a:rPr sz="2550" b="0">
                <a:solidFill>
                  <a:srgbClr val="F5F6F1"/>
                </a:solidFill>
                <a:latin typeface="Arial"/>
                <a:ea typeface="Arial"/>
                <a:cs typeface="Arial"/>
              </a:rPr>
              <a:t>Сатып алудың не сапардың екі нұсқасын салыстыру</a:t>
            </a:r>
          </a:p>
        </p:txBody>
      </p:sp>
      <p:sp>
        <p:nvSpPr>
          <p:cNvPr id="6" name="Text Шақыру жасау немесе жазбалар">
            <a:extLst xmlns:a="http://schemas.openxmlformats.org/drawingml/2006/main">
              <a:ext uri="{FF2B5EF4-FFF2-40B4-BE49-F238E27FC236}">
                <a16:creationId xmlns:a16="http://schemas.microsoft.com/office/drawing/2014/main" id="{7C9CABF9-47A9-4D37-9B8C-46A32461F8AB}"/>
              </a:ext>
            </a:extLst>
          </p:cNvPr>
          <p:cNvSpPr>
            <a:spLocks xmlns:a="http://schemas.openxmlformats.org/drawingml/2006/main" noGrp="1"/>
          </p:cNvSpPr>
          <p:nvPr/>
        </p:nvSpPr>
        <p:spPr>
          <a:xfrm xmlns:a="http://schemas.openxmlformats.org/drawingml/2006/main">
            <a:off x="723900" y="464820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F5F6F1"/>
                </a:solidFill>
                <a:latin typeface="Arial"/>
                <a:ea typeface="Arial"/>
                <a:cs typeface="Arial"/>
              </a:defRPr>
            </a:pPr>
            <a:r>
              <a:rPr sz="2550" b="0">
                <a:solidFill>
                  <a:srgbClr val="F5F6F1"/>
                </a:solidFill>
                <a:latin typeface="Arial"/>
                <a:ea typeface="Arial"/>
                <a:cs typeface="Arial"/>
              </a:rPr>
              <a:t>Шақыру жасау немесе жазбаларды реттеу</a:t>
            </a:r>
          </a:p>
        </p:txBody>
      </p:sp>
      <p:sp>
        <p:nvSpPr>
          <p:cNvPr id="7" name="Text Бір міндет таңдаңыз. Нәтижес">
            <a:extLst xmlns:a="http://schemas.openxmlformats.org/drawingml/2006/main">
              <a:ext uri="{FF2B5EF4-FFF2-40B4-BE49-F238E27FC236}">
                <a16:creationId xmlns:a16="http://schemas.microsoft.com/office/drawing/2014/main" id="{4CB80FAE-BA1F-4A02-9B4F-CD6BC8904473}"/>
              </a:ext>
            </a:extLst>
          </p:cNvPr>
          <p:cNvSpPr>
            <a:spLocks xmlns:a="http://schemas.openxmlformats.org/drawingml/2006/main" noGrp="1"/>
          </p:cNvSpPr>
          <p:nvPr/>
        </p:nvSpPr>
        <p:spPr>
          <a:xfrm xmlns:a="http://schemas.openxmlformats.org/drawingml/2006/main">
            <a:off x="704850" y="59245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D6F879"/>
                </a:solidFill>
                <a:latin typeface="Arial"/>
                <a:ea typeface="Arial"/>
                <a:cs typeface="Arial"/>
              </a:defRPr>
            </a:pPr>
            <a:r>
              <a:rPr sz="2100" b="1">
                <a:solidFill>
                  <a:srgbClr val="D6F879"/>
                </a:solidFill>
                <a:latin typeface="Arial"/>
                <a:ea typeface="Arial"/>
                <a:cs typeface="Arial"/>
              </a:rPr>
              <a:t>Бір міндет таңдаңыз. Нәтижесін сақтаңыз.</a:t>
            </a:r>
          </a:p>
        </p:txBody>
      </p:sp>
    </p:spTree>
    <p:extLst>
      <p:ext uri="{BB962C8B-B14F-4D97-AF65-F5344CB8AC3E}">
        <p14:creationId xmlns:p14="http://schemas.microsoft.com/office/powerpoint/2010/main" val="797826564"/>
      </p:ext>
    </p:extLst>
  </p:cSld>
</p:sld>
</file>

<file path=ppt/slides/slide38.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8" name="Text Өз сөзіңізбен сұрау">
            <a:extLst xmlns:a="http://schemas.openxmlformats.org/drawingml/2006/main">
              <a:ext uri="{FF2B5EF4-FFF2-40B4-BE49-F238E27FC236}">
                <a16:creationId xmlns:a16="http://schemas.microsoft.com/office/drawing/2014/main" id="{2F1D1BF0-C2FA-40E6-BA64-2D1BE5A801CE}"/>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Өз сөзіңізбен сұрау</a:t>
            </a:r>
          </a:p>
        </p:txBody>
      </p:sp>
      <p:sp>
        <p:nvSpPr>
          <p:cNvPr id="2" name="Text 29">
            <a:extLst xmlns:a="http://schemas.openxmlformats.org/drawingml/2006/main">
              <a:ext uri="{FF2B5EF4-FFF2-40B4-BE49-F238E27FC236}">
                <a16:creationId xmlns:a16="http://schemas.microsoft.com/office/drawing/2014/main" id="{AE49C786-2EFB-4A1E-BE6E-A07292E1F371}"/>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38</a:t>
            </a:r>
          </a:p>
        </p:txBody>
      </p:sp>
      <p:sp>
        <p:nvSpPr>
          <p:cNvPr id="3" name="Text Маған қажеті…  [міндет]">
            <a:extLst xmlns:a="http://schemas.openxmlformats.org/drawingml/2006/main">
              <a:ext uri="{FF2B5EF4-FFF2-40B4-BE49-F238E27FC236}">
                <a16:creationId xmlns:a16="http://schemas.microsoft.com/office/drawing/2014/main" id="{578FCBFB-8CC2-4089-8E63-8A8241D14733}"/>
              </a:ext>
            </a:extLst>
          </p:cNvPr>
          <p:cNvSpPr>
            <a:spLocks xmlns:a="http://schemas.openxmlformats.org/drawingml/2006/main" noGrp="1"/>
          </p:cNvSpPr>
          <p:nvPr/>
        </p:nvSpPr>
        <p:spPr>
          <a:xfrm xmlns:a="http://schemas.openxmlformats.org/drawingml/2006/main">
            <a:off x="723900" y="1619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0">
                <a:solidFill>
                  <a:srgbClr val="172030"/>
                </a:solidFill>
                <a:latin typeface="Arial"/>
                <a:ea typeface="Arial"/>
                <a:cs typeface="Arial"/>
              </a:defRPr>
            </a:pPr>
            <a:r>
              <a:rPr sz="2625" b="0">
                <a:solidFill>
                  <a:srgbClr val="172030"/>
                </a:solidFill>
                <a:latin typeface="Arial"/>
                <a:ea typeface="Arial"/>
                <a:cs typeface="Arial"/>
              </a:rPr>
              <a:t>Маған қажеті…  [міндет]</a:t>
            </a:r>
          </a:p>
        </p:txBody>
      </p:sp>
      <p:sp>
        <p:nvSpPr>
          <p:cNvPr id="4" name="Text Менің мәліметтерім…  [мәнмәт">
            <a:extLst xmlns:a="http://schemas.openxmlformats.org/drawingml/2006/main">
              <a:ext uri="{FF2B5EF4-FFF2-40B4-BE49-F238E27FC236}">
                <a16:creationId xmlns:a16="http://schemas.microsoft.com/office/drawing/2014/main" id="{6B4A81A9-7C89-469E-8991-AAD99185AA84}"/>
              </a:ext>
            </a:extLst>
          </p:cNvPr>
          <p:cNvSpPr>
            <a:spLocks xmlns:a="http://schemas.openxmlformats.org/drawingml/2006/main" noGrp="1"/>
          </p:cNvSpPr>
          <p:nvPr/>
        </p:nvSpPr>
        <p:spPr>
          <a:xfrm xmlns:a="http://schemas.openxmlformats.org/drawingml/2006/main">
            <a:off x="723900" y="2619375"/>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0">
                <a:solidFill>
                  <a:srgbClr val="172030"/>
                </a:solidFill>
                <a:latin typeface="Arial"/>
                <a:ea typeface="Arial"/>
                <a:cs typeface="Arial"/>
              </a:defRPr>
            </a:pPr>
            <a:r>
              <a:rPr sz="2625" b="0">
                <a:solidFill>
                  <a:srgbClr val="172030"/>
                </a:solidFill>
                <a:latin typeface="Arial"/>
                <a:ea typeface="Arial"/>
                <a:cs typeface="Arial"/>
              </a:rPr>
              <a:t>Менің мәліметтерім…  [мәнмәтін]</a:t>
            </a:r>
          </a:p>
        </p:txBody>
      </p:sp>
      <p:sp>
        <p:nvSpPr>
          <p:cNvPr id="5" name="Text Жауапты мына түрде бер…  [пі">
            <a:extLst xmlns:a="http://schemas.openxmlformats.org/drawingml/2006/main">
              <a:ext uri="{FF2B5EF4-FFF2-40B4-BE49-F238E27FC236}">
                <a16:creationId xmlns:a16="http://schemas.microsoft.com/office/drawing/2014/main" id="{BBDE631C-E84A-4DE6-A69C-0752BB76A974}"/>
              </a:ext>
            </a:extLst>
          </p:cNvPr>
          <p:cNvSpPr>
            <a:spLocks xmlns:a="http://schemas.openxmlformats.org/drawingml/2006/main" noGrp="1"/>
          </p:cNvSpPr>
          <p:nvPr/>
        </p:nvSpPr>
        <p:spPr>
          <a:xfrm xmlns:a="http://schemas.openxmlformats.org/drawingml/2006/main">
            <a:off x="723900" y="361950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0">
                <a:solidFill>
                  <a:srgbClr val="172030"/>
                </a:solidFill>
                <a:latin typeface="Arial"/>
                <a:ea typeface="Arial"/>
                <a:cs typeface="Arial"/>
              </a:defRPr>
            </a:pPr>
            <a:r>
              <a:rPr sz="2625" b="0">
                <a:solidFill>
                  <a:srgbClr val="172030"/>
                </a:solidFill>
                <a:latin typeface="Arial"/>
                <a:ea typeface="Arial"/>
                <a:cs typeface="Arial"/>
              </a:rPr>
              <a:t>Жауапты мына түрде бер…  [пішім]</a:t>
            </a:r>
          </a:p>
        </p:txBody>
      </p:sp>
      <p:sp>
        <p:nvSpPr>
          <p:cNvPr id="6" name="Text Мәлімет аз болса, алдымен сұ">
            <a:extLst xmlns:a="http://schemas.openxmlformats.org/drawingml/2006/main">
              <a:ext uri="{FF2B5EF4-FFF2-40B4-BE49-F238E27FC236}">
                <a16:creationId xmlns:a16="http://schemas.microsoft.com/office/drawing/2014/main" id="{20CB878E-6172-4CDA-8558-B2DDCF2DF2F6}"/>
              </a:ext>
            </a:extLst>
          </p:cNvPr>
          <p:cNvSpPr>
            <a:spLocks xmlns:a="http://schemas.openxmlformats.org/drawingml/2006/main" noGrp="1"/>
          </p:cNvSpPr>
          <p:nvPr/>
        </p:nvSpPr>
        <p:spPr>
          <a:xfrm xmlns:a="http://schemas.openxmlformats.org/drawingml/2006/main">
            <a:off x="723900" y="4619625"/>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0">
                <a:solidFill>
                  <a:srgbClr val="172030"/>
                </a:solidFill>
                <a:latin typeface="Arial"/>
                <a:ea typeface="Arial"/>
                <a:cs typeface="Arial"/>
              </a:defRPr>
            </a:pPr>
            <a:r>
              <a:rPr sz="2625" b="0">
                <a:solidFill>
                  <a:srgbClr val="172030"/>
                </a:solidFill>
                <a:latin typeface="Arial"/>
                <a:ea typeface="Arial"/>
                <a:cs typeface="Arial"/>
              </a:rPr>
              <a:t>Мәлімет аз болса, алдымен сұрақ қой.</a:t>
            </a:r>
          </a:p>
        </p:txBody>
      </p:sp>
      <p:sp>
        <p:nvSpPr>
          <p:cNvPr id="7" name="Text Нақтылау: «Қарапайым етіп, м">
            <a:extLst xmlns:a="http://schemas.openxmlformats.org/drawingml/2006/main">
              <a:ext uri="{FF2B5EF4-FFF2-40B4-BE49-F238E27FC236}">
                <a16:creationId xmlns:a16="http://schemas.microsoft.com/office/drawing/2014/main" id="{C27CFBF6-A0F2-459C-BAFD-D4BF959225CF}"/>
              </a:ext>
            </a:extLst>
          </p:cNvPr>
          <p:cNvSpPr>
            <a:spLocks xmlns:a="http://schemas.openxmlformats.org/drawingml/2006/main" noGrp="1"/>
          </p:cNvSpPr>
          <p:nvPr/>
        </p:nvSpPr>
        <p:spPr>
          <a:xfrm xmlns:a="http://schemas.openxmlformats.org/drawingml/2006/main">
            <a:off x="704850" y="58388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456B24"/>
                </a:solidFill>
                <a:latin typeface="Arial"/>
                <a:ea typeface="Arial"/>
                <a:cs typeface="Arial"/>
              </a:defRPr>
            </a:pPr>
            <a:r>
              <a:rPr sz="2025" b="1">
                <a:solidFill>
                  <a:srgbClr val="456B24"/>
                </a:solidFill>
                <a:latin typeface="Arial"/>
                <a:ea typeface="Arial"/>
                <a:cs typeface="Arial"/>
              </a:rPr>
              <a:t>Нақтылау: «Қарапайым етіп, маңызды шарттарды сақта». </a:t>
            </a:r>
          </a:p>
        </p:txBody>
      </p:sp>
    </p:spTree>
    <p:extLst>
      <p:ext uri="{BB962C8B-B14F-4D97-AF65-F5344CB8AC3E}">
        <p14:creationId xmlns:p14="http://schemas.microsoft.com/office/powerpoint/2010/main" val="282907680"/>
      </p:ext>
    </p:extLst>
  </p:cSld>
</p:sld>
</file>

<file path=ppt/slides/slide39.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7" name="Text Жұппен тексеру">
            <a:extLst xmlns:a="http://schemas.openxmlformats.org/drawingml/2006/main">
              <a:ext uri="{FF2B5EF4-FFF2-40B4-BE49-F238E27FC236}">
                <a16:creationId xmlns:a16="http://schemas.microsoft.com/office/drawing/2014/main" id="{0EE99C3B-28E7-466E-80A6-D7A7BD3ADAC2}"/>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Жұппен тексеру</a:t>
            </a:r>
          </a:p>
        </p:txBody>
      </p:sp>
      <p:sp>
        <p:nvSpPr>
          <p:cNvPr id="2" name="Text 30">
            <a:extLst xmlns:a="http://schemas.openxmlformats.org/drawingml/2006/main">
              <a:ext uri="{FF2B5EF4-FFF2-40B4-BE49-F238E27FC236}">
                <a16:creationId xmlns:a16="http://schemas.microsoft.com/office/drawing/2014/main" id="{D30421C5-ABF1-4FC9-BC0E-E78C6DF93140}"/>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39</a:t>
            </a:r>
          </a:p>
        </p:txBody>
      </p:sp>
      <p:sp>
        <p:nvSpPr>
          <p:cNvPr id="3" name="Text Қандай нәтиже алғыңыз келді?">
            <a:extLst xmlns:a="http://schemas.openxmlformats.org/drawingml/2006/main">
              <a:ext uri="{FF2B5EF4-FFF2-40B4-BE49-F238E27FC236}">
                <a16:creationId xmlns:a16="http://schemas.microsoft.com/office/drawing/2014/main" id="{A8A0161A-A648-4138-A636-06C879664847}"/>
              </a:ext>
            </a:extLst>
          </p:cNvPr>
          <p:cNvSpPr>
            <a:spLocks xmlns:a="http://schemas.openxmlformats.org/drawingml/2006/main" noGrp="1"/>
          </p:cNvSpPr>
          <p:nvPr/>
        </p:nvSpPr>
        <p:spPr>
          <a:xfrm xmlns:a="http://schemas.openxmlformats.org/drawingml/2006/main">
            <a:off x="723900" y="1571625"/>
            <a:ext cx="10572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172030"/>
                </a:solidFill>
                <a:latin typeface="Arial"/>
                <a:ea typeface="Arial"/>
                <a:cs typeface="Arial"/>
              </a:defRPr>
            </a:pPr>
            <a:r>
              <a:rPr sz="2775" b="0">
                <a:solidFill>
                  <a:srgbClr val="172030"/>
                </a:solidFill>
                <a:latin typeface="Arial"/>
                <a:ea typeface="Arial"/>
                <a:cs typeface="Arial"/>
              </a:rPr>
              <a:t>Қандай нәтиже алғыңыз келді?</a:t>
            </a:r>
          </a:p>
        </p:txBody>
      </p:sp>
      <p:sp>
        <p:nvSpPr>
          <p:cNvPr id="4" name="Text Алғашқы жауапты қалай нақтыл">
            <a:extLst xmlns:a="http://schemas.openxmlformats.org/drawingml/2006/main">
              <a:ext uri="{FF2B5EF4-FFF2-40B4-BE49-F238E27FC236}">
                <a16:creationId xmlns:a16="http://schemas.microsoft.com/office/drawing/2014/main" id="{2D03378A-4B63-4F31-8706-2BA7F931BB0A}"/>
              </a:ext>
            </a:extLst>
          </p:cNvPr>
          <p:cNvSpPr>
            <a:spLocks xmlns:a="http://schemas.openxmlformats.org/drawingml/2006/main" noGrp="1"/>
          </p:cNvSpPr>
          <p:nvPr/>
        </p:nvSpPr>
        <p:spPr>
          <a:xfrm xmlns:a="http://schemas.openxmlformats.org/drawingml/2006/main">
            <a:off x="723900" y="2647950"/>
            <a:ext cx="10572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172030"/>
                </a:solidFill>
                <a:latin typeface="Arial"/>
                <a:ea typeface="Arial"/>
                <a:cs typeface="Arial"/>
              </a:defRPr>
            </a:pPr>
            <a:r>
              <a:rPr sz="2775" b="0">
                <a:solidFill>
                  <a:srgbClr val="172030"/>
                </a:solidFill>
                <a:latin typeface="Arial"/>
                <a:ea typeface="Arial"/>
                <a:cs typeface="Arial"/>
              </a:rPr>
              <a:t>Алғашқы жауапты қалай нақтыладыңыз?</a:t>
            </a:r>
          </a:p>
        </p:txBody>
      </p:sp>
      <p:sp>
        <p:nvSpPr>
          <p:cNvPr id="5" name="Text Қай деректі және қайдан текс">
            <a:extLst xmlns:a="http://schemas.openxmlformats.org/drawingml/2006/main">
              <a:ext uri="{FF2B5EF4-FFF2-40B4-BE49-F238E27FC236}">
                <a16:creationId xmlns:a16="http://schemas.microsoft.com/office/drawing/2014/main" id="{0B05C62D-0BA6-4880-B9BC-4E7CA4EBB6F4}"/>
              </a:ext>
            </a:extLst>
          </p:cNvPr>
          <p:cNvSpPr>
            <a:spLocks xmlns:a="http://schemas.openxmlformats.org/drawingml/2006/main" noGrp="1"/>
          </p:cNvSpPr>
          <p:nvPr/>
        </p:nvSpPr>
        <p:spPr>
          <a:xfrm xmlns:a="http://schemas.openxmlformats.org/drawingml/2006/main">
            <a:off x="723900" y="3724275"/>
            <a:ext cx="10572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172030"/>
                </a:solidFill>
                <a:latin typeface="Arial"/>
                <a:ea typeface="Arial"/>
                <a:cs typeface="Arial"/>
              </a:defRPr>
            </a:pPr>
            <a:r>
              <a:rPr sz="2775" b="0">
                <a:solidFill>
                  <a:srgbClr val="172030"/>
                </a:solidFill>
                <a:latin typeface="Arial"/>
                <a:ea typeface="Arial"/>
                <a:cs typeface="Arial"/>
              </a:rPr>
              <a:t>Қай деректі және қайдан тексердіңіз?</a:t>
            </a:r>
          </a:p>
        </p:txBody>
      </p:sp>
      <p:sp>
        <p:nvSpPr>
          <p:cNvPr id="6" name="Text Дайын нәтижені қайда сақтады">
            <a:extLst xmlns:a="http://schemas.openxmlformats.org/drawingml/2006/main">
              <a:ext uri="{FF2B5EF4-FFF2-40B4-BE49-F238E27FC236}">
                <a16:creationId xmlns:a16="http://schemas.microsoft.com/office/drawing/2014/main" id="{3164F3FD-34BF-40C2-9F7A-F58AFD47C4CB}"/>
              </a:ext>
            </a:extLst>
          </p:cNvPr>
          <p:cNvSpPr>
            <a:spLocks xmlns:a="http://schemas.openxmlformats.org/drawingml/2006/main" noGrp="1"/>
          </p:cNvSpPr>
          <p:nvPr/>
        </p:nvSpPr>
        <p:spPr>
          <a:xfrm xmlns:a="http://schemas.openxmlformats.org/drawingml/2006/main">
            <a:off x="723900" y="4800600"/>
            <a:ext cx="10572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172030"/>
                </a:solidFill>
                <a:latin typeface="Arial"/>
                <a:ea typeface="Arial"/>
                <a:cs typeface="Arial"/>
              </a:defRPr>
            </a:pPr>
            <a:r>
              <a:rPr sz="2775" b="0">
                <a:solidFill>
                  <a:srgbClr val="172030"/>
                </a:solidFill>
                <a:latin typeface="Arial"/>
                <a:ea typeface="Arial"/>
                <a:cs typeface="Arial"/>
              </a:rPr>
              <a:t>Дайын нәтижені қайда сақтадыңыз?</a:t>
            </a:r>
          </a:p>
        </p:txBody>
      </p:sp>
    </p:spTree>
    <p:extLst>
      <p:ext uri="{BB962C8B-B14F-4D97-AF65-F5344CB8AC3E}">
        <p14:creationId xmlns:p14="http://schemas.microsoft.com/office/powerpoint/2010/main" val="632249653"/>
      </p:ext>
    </p:extLst>
  </p:cSld>
</p:sld>
</file>

<file path=ppt/slides/slide40.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5" name="Text Міндетіңізге сай мүмкіндікте">
            <a:extLst xmlns:a="http://schemas.openxmlformats.org/drawingml/2006/main">
              <a:ext uri="{FF2B5EF4-FFF2-40B4-BE49-F238E27FC236}">
                <a16:creationId xmlns:a16="http://schemas.microsoft.com/office/drawing/2014/main" id="{BF228702-BE46-4B0D-886B-0E88BBD1632D}"/>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Міндетіңізге сай мүмкіндіктер</a:t>
            </a:r>
          </a:p>
        </p:txBody>
      </p:sp>
      <p:sp>
        <p:nvSpPr>
          <p:cNvPr id="2" name="Plans page 39">
            <a:extLst xmlns:a="http://schemas.openxmlformats.org/drawingml/2006/main">
              <a:ext uri="{FF2B5EF4-FFF2-40B4-BE49-F238E27FC236}">
                <a16:creationId xmlns:a16="http://schemas.microsoft.com/office/drawing/2014/main" id="{4C975D6F-43F4-4289-AC34-0C9015C0E2F8}"/>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40</a:t>
            </a:r>
          </a:p>
        </p:txBody>
      </p:sp>
      <p:graphicFrame>
        <p:nvGraphicFramePr>
          <p:cNvPr id="9" name=""/>
          <p:cNvGraphicFramePr/>
          <p:nvPr/>
        </p:nvGraphicFramePr>
        <p:xfrm>
          <a:off xmlns:a="http://schemas.openxmlformats.org/drawingml/2006/main" x="704850" y="1552575"/>
          <a:ext xmlns:a="http://schemas.openxmlformats.org/drawingml/2006/main" cx="10763250" cy="4095750"/>
        </p:xfrm>
        <a:graphic xmlns:a="http://schemas.openxmlformats.org/drawingml/2006/main">
          <a:graphicData uri="http://schemas.openxmlformats.org/drawingml/2006/table">
            <a:tbl>
              <a:tblPr/>
              <a:tblGrid>
                <a:gridCol w="5429250"/>
                <a:gridCol w="5334000"/>
              </a:tblGrid>
              <a:tr h="819150">
                <a:tc>
                  <a:txBody>
                    <a:bodyPr/>
                    <a:lstStyle/>
                    <a:p>
                      <a:r>
                        <a:rPr sz="2025" b="1">
                          <a:solidFill>
                            <a:srgbClr val="172030"/>
                          </a:solidFill>
                          <a:latin typeface="Arial"/>
                          <a:ea typeface="Arial"/>
                          <a:cs typeface="Arial"/>
                        </a:rPr>
                        <a:t>Не істеу керек</a:t>
                      </a:r>
                    </a:p>
                  </a:txBody>
                  <a:tcPr marL="133350" marR="133350" marT="95250" marB="95250">
                    <a:solidFill>
                      <a:srgbClr val="D6F879"/>
                    </a:solidFill>
                  </a:tcPr>
                </a:tc>
                <a:tc>
                  <a:txBody>
                    <a:bodyPr/>
                    <a:lstStyle/>
                    <a:p>
                      <a:r>
                        <a:rPr sz="2025" b="1">
                          <a:solidFill>
                            <a:srgbClr val="172030"/>
                          </a:solidFill>
                          <a:latin typeface="Arial"/>
                          <a:ea typeface="Arial"/>
                          <a:cs typeface="Arial"/>
                        </a:rPr>
                        <a:t>Неден бастауға болады</a:t>
                      </a:r>
                    </a:p>
                  </a:txBody>
                  <a:tcPr marL="133350" marR="133350" marT="95250" marB="95250">
                    <a:solidFill>
                      <a:srgbClr val="D6F879"/>
                    </a:solidFill>
                  </a:tcPr>
                </a:tc>
              </a:tr>
              <a:tr h="819150">
                <a:tc>
                  <a:txBody>
                    <a:bodyPr/>
                    <a:lstStyle/>
                    <a:p>
                      <a:r>
                        <a:rPr sz="2025">
                          <a:solidFill>
                            <a:srgbClr val="172030"/>
                          </a:solidFill>
                          <a:latin typeface="Arial"/>
                          <a:ea typeface="Arial"/>
                          <a:cs typeface="Arial"/>
                        </a:rPr>
                        <a:t>Хат, түсіндірме, жоспар</a:t>
                      </a:r>
                    </a:p>
                  </a:txBody>
                  <a:tcPr marL="133350" marR="133350" marT="95250" marB="95250">
                    <a:solidFill>
                      <a:srgbClr val="FFFFFF"/>
                    </a:solidFill>
                  </a:tcPr>
                </a:tc>
                <a:tc>
                  <a:txBody>
                    <a:bodyPr/>
                    <a:lstStyle/>
                    <a:p>
                      <a:r>
                        <a:rPr sz="2025">
                          <a:solidFill>
                            <a:srgbClr val="172030"/>
                          </a:solidFill>
                          <a:latin typeface="Arial"/>
                          <a:ea typeface="Arial"/>
                          <a:cs typeface="Arial"/>
                        </a:rPr>
                        <a:t>ChatGPT / Gemini / Grok</a:t>
                      </a:r>
                    </a:p>
                  </a:txBody>
                  <a:tcPr marL="133350" marR="133350" marT="95250" marB="95250">
                    <a:solidFill>
                      <a:srgbClr val="FFFFFF"/>
                    </a:solidFill>
                  </a:tcPr>
                </a:tc>
              </a:tr>
              <a:tr h="819150">
                <a:tc>
                  <a:txBody>
                    <a:bodyPr/>
                    <a:lstStyle/>
                    <a:p>
                      <a:r>
                        <a:rPr sz="2025">
                          <a:solidFill>
                            <a:srgbClr val="172030"/>
                          </a:solidFill>
                          <a:latin typeface="Arial"/>
                          <a:ea typeface="Arial"/>
                          <a:cs typeface="Arial"/>
                        </a:rPr>
                        <a:t>Іздеу және дереккөзді тексеру</a:t>
                      </a:r>
                    </a:p>
                  </a:txBody>
                  <a:tcPr marL="133350" marR="133350" marT="95250" marB="95250">
                    <a:solidFill>
                      <a:srgbClr val="EEF2E8"/>
                    </a:solidFill>
                  </a:tcPr>
                </a:tc>
                <a:tc>
                  <a:txBody>
                    <a:bodyPr/>
                    <a:lstStyle/>
                    <a:p>
                      <a:r>
                        <a:rPr sz="2025">
                          <a:solidFill>
                            <a:srgbClr val="172030"/>
                          </a:solidFill>
                          <a:latin typeface="Arial"/>
                          <a:ea typeface="Arial"/>
                          <a:cs typeface="Arial"/>
                        </a:rPr>
                        <a:t>Perplexity</a:t>
                      </a:r>
                    </a:p>
                  </a:txBody>
                  <a:tcPr marL="133350" marR="133350" marT="95250" marB="95250">
                    <a:solidFill>
                      <a:srgbClr val="EEF2E8"/>
                    </a:solidFill>
                  </a:tcPr>
                </a:tc>
              </a:tr>
              <a:tr h="819150">
                <a:tc>
                  <a:txBody>
                    <a:bodyPr/>
                    <a:lstStyle/>
                    <a:p>
                      <a:r>
                        <a:rPr sz="2025">
                          <a:solidFill>
                            <a:srgbClr val="172030"/>
                          </a:solidFill>
                          <a:latin typeface="Arial"/>
                          <a:ea typeface="Arial"/>
                          <a:cs typeface="Arial"/>
                        </a:rPr>
                        <a:t>Өз мәтінінен презентация</a:t>
                      </a:r>
                    </a:p>
                  </a:txBody>
                  <a:tcPr marL="133350" marR="133350" marT="95250" marB="95250">
                    <a:solidFill>
                      <a:srgbClr val="FFFFFF"/>
                    </a:solidFill>
                  </a:tcPr>
                </a:tc>
                <a:tc>
                  <a:txBody>
                    <a:bodyPr/>
                    <a:lstStyle/>
                    <a:p>
                      <a:r>
                        <a:rPr sz="2025">
                          <a:solidFill>
                            <a:srgbClr val="172030"/>
                          </a:solidFill>
                          <a:latin typeface="Arial"/>
                          <a:ea typeface="Arial"/>
                          <a:cs typeface="Arial"/>
                        </a:rPr>
                        <a:t>Gamma</a:t>
                      </a:r>
                    </a:p>
                  </a:txBody>
                  <a:tcPr marL="133350" marR="133350" marT="95250" marB="95250">
                    <a:solidFill>
                      <a:srgbClr val="FFFFFF"/>
                    </a:solidFill>
                  </a:tcPr>
                </a:tc>
              </a:tr>
              <a:tr h="819150">
                <a:tc>
                  <a:txBody>
                    <a:bodyPr/>
                    <a:lstStyle/>
                    <a:p>
                      <a:r>
                        <a:rPr sz="2025">
                          <a:solidFill>
                            <a:srgbClr val="172030"/>
                          </a:solidFill>
                          <a:latin typeface="Arial"/>
                          <a:ea typeface="Arial"/>
                          <a:cs typeface="Arial"/>
                        </a:rPr>
                        <a:t>Файл, қарапайым бет не қосымша</a:t>
                      </a:r>
                    </a:p>
                  </a:txBody>
                  <a:tcPr marL="133350" marR="133350" marT="95250" marB="95250">
                    <a:solidFill>
                      <a:srgbClr val="EEF2E8"/>
                    </a:solidFill>
                  </a:tcPr>
                </a:tc>
                <a:tc>
                  <a:txBody>
                    <a:bodyPr/>
                    <a:lstStyle/>
                    <a:p>
                      <a:r>
                        <a:rPr sz="2025">
                          <a:solidFill>
                            <a:srgbClr val="172030"/>
                          </a:solidFill>
                          <a:latin typeface="Arial"/>
                          <a:ea typeface="Arial"/>
                          <a:cs typeface="Arial"/>
                        </a:rPr>
                        <a:t>ChatGPT Work / Gemini Canvas</a:t>
                      </a:r>
                    </a:p>
                  </a:txBody>
                  <a:tcPr marL="133350" marR="133350" marT="95250" marB="95250">
                    <a:solidFill>
                      <a:srgbClr val="EEF2E8"/>
                    </a:solidFill>
                  </a:tcPr>
                </a:tc>
              </a:tr>
            </a:tbl>
          </a:graphicData>
        </a:graphic>
      </p:graphicFrame>
      <p:sp>
        <p:nvSpPr>
          <p:cNvPr id="4" name="Text Бір сұрауды бірнеше сервисте">
            <a:extLst xmlns:a="http://schemas.openxmlformats.org/drawingml/2006/main">
              <a:ext uri="{FF2B5EF4-FFF2-40B4-BE49-F238E27FC236}">
                <a16:creationId xmlns:a16="http://schemas.microsoft.com/office/drawing/2014/main" id="{7B4E6319-D34C-421A-9044-9BFB592CE855}"/>
              </a:ext>
            </a:extLst>
          </p:cNvPr>
          <p:cNvSpPr>
            <a:spLocks xmlns:a="http://schemas.openxmlformats.org/drawingml/2006/main" noGrp="1"/>
          </p:cNvSpPr>
          <p:nvPr/>
        </p:nvSpPr>
        <p:spPr>
          <a:xfrm xmlns:a="http://schemas.openxmlformats.org/drawingml/2006/main">
            <a:off x="704850" y="59150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456B24"/>
                </a:solidFill>
                <a:latin typeface="Arial"/>
                <a:ea typeface="Arial"/>
                <a:cs typeface="Arial"/>
              </a:defRPr>
            </a:pPr>
            <a:r>
              <a:rPr sz="1875" b="1">
                <a:solidFill>
                  <a:srgbClr val="456B24"/>
                </a:solidFill>
                <a:latin typeface="Arial"/>
                <a:ea typeface="Arial"/>
                <a:cs typeface="Arial"/>
              </a:rPr>
              <a:t>Бір сұрауды бірнеше сервисте салыстыруға болады.</a:t>
            </a:r>
          </a:p>
        </p:txBody>
      </p:sp>
    </p:spTree>
    <p:extLst>
      <p:ext uri="{BB962C8B-B14F-4D97-AF65-F5344CB8AC3E}">
        <p14:creationId xmlns:p14="http://schemas.microsoft.com/office/powerpoint/2010/main" val="670167379"/>
      </p:ext>
    </p:extLst>
  </p:cSld>
</p:sld>
</file>

<file path=ppt/slides/slide41.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6" name="Text ChatGPT және Gemini: тарифте">
            <a:extLst xmlns:a="http://schemas.openxmlformats.org/drawingml/2006/main">
              <a:ext uri="{FF2B5EF4-FFF2-40B4-BE49-F238E27FC236}">
                <a16:creationId xmlns:a16="http://schemas.microsoft.com/office/drawing/2014/main" id="{4F81F9DC-E2B5-4A7F-8AAA-DA43548FD3A1}"/>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ChatGPT және Gemini: тарифтер</a:t>
            </a:r>
          </a:p>
        </p:txBody>
      </p:sp>
      <p:sp>
        <p:nvSpPr>
          <p:cNvPr id="2" name="Plans page 40">
            <a:extLst xmlns:a="http://schemas.openxmlformats.org/drawingml/2006/main">
              <a:ext uri="{FF2B5EF4-FFF2-40B4-BE49-F238E27FC236}">
                <a16:creationId xmlns:a16="http://schemas.microsoft.com/office/drawing/2014/main" id="{AA5716A0-5375-4993-A47A-847847171638}"/>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41</a:t>
            </a:r>
          </a:p>
        </p:txBody>
      </p:sp>
      <p:graphicFrame>
        <p:nvGraphicFramePr>
          <p:cNvPr id="10" name=""/>
          <p:cNvGraphicFramePr/>
          <p:nvPr/>
        </p:nvGraphicFramePr>
        <p:xfrm>
          <a:off xmlns:a="http://schemas.openxmlformats.org/drawingml/2006/main" x="704850" y="1552575"/>
          <a:ext xmlns:a="http://schemas.openxmlformats.org/drawingml/2006/main" cx="10763250" cy="2857500"/>
        </p:xfrm>
        <a:graphic xmlns:a="http://schemas.openxmlformats.org/drawingml/2006/main">
          <a:graphicData uri="http://schemas.openxmlformats.org/drawingml/2006/table">
            <a:tbl>
              <a:tblPr/>
              <a:tblGrid>
                <a:gridCol w="2190750"/>
                <a:gridCol w="3238500"/>
                <a:gridCol w="5334000"/>
              </a:tblGrid>
              <a:tr h="952500">
                <a:tc>
                  <a:txBody>
                    <a:bodyPr/>
                    <a:lstStyle/>
                    <a:p>
                      <a:r>
                        <a:rPr sz="2025" b="1">
                          <a:solidFill>
                            <a:srgbClr val="172030"/>
                          </a:solidFill>
                          <a:latin typeface="Arial"/>
                          <a:ea typeface="Arial"/>
                          <a:cs typeface="Arial"/>
                        </a:rPr>
                        <a:t>Сервис</a:t>
                      </a:r>
                    </a:p>
                  </a:txBody>
                  <a:tcPr marL="133350" marR="133350" marT="95250" marB="95250">
                    <a:solidFill>
                      <a:srgbClr val="D6F879"/>
                    </a:solidFill>
                  </a:tcPr>
                </a:tc>
                <a:tc>
                  <a:txBody>
                    <a:bodyPr/>
                    <a:lstStyle/>
                    <a:p>
                      <a:r>
                        <a:rPr sz="2025" b="1">
                          <a:solidFill>
                            <a:srgbClr val="172030"/>
                          </a:solidFill>
                          <a:latin typeface="Arial"/>
                          <a:ea typeface="Arial"/>
                          <a:cs typeface="Arial"/>
                        </a:rPr>
                        <a:t>Бастау үшін</a:t>
                      </a:r>
                    </a:p>
                  </a:txBody>
                  <a:tcPr marL="133350" marR="133350" marT="95250" marB="95250">
                    <a:solidFill>
                      <a:srgbClr val="D6F879"/>
                    </a:solidFill>
                  </a:tcPr>
                </a:tc>
                <a:tc>
                  <a:txBody>
                    <a:bodyPr/>
                    <a:lstStyle/>
                    <a:p>
                      <a:r>
                        <a:rPr sz="2025" b="1">
                          <a:solidFill>
                            <a:srgbClr val="172030"/>
                          </a:solidFill>
                          <a:latin typeface="Arial"/>
                          <a:ea typeface="Arial"/>
                          <a:cs typeface="Arial"/>
                        </a:rPr>
                        <a:t>Ақылы нұсқалар</a:t>
                      </a:r>
                    </a:p>
                  </a:txBody>
                  <a:tcPr marL="133350" marR="133350" marT="95250" marB="95250">
                    <a:solidFill>
                      <a:srgbClr val="D6F879"/>
                    </a:solidFill>
                  </a:tcPr>
                </a:tc>
              </a:tr>
              <a:tr h="952500">
                <a:tc>
                  <a:txBody>
                    <a:bodyPr/>
                    <a:lstStyle/>
                    <a:p>
                      <a:r>
                        <a:rPr sz="2025">
                          <a:solidFill>
                            <a:srgbClr val="172030"/>
                          </a:solidFill>
                          <a:latin typeface="Arial"/>
                          <a:ea typeface="Arial"/>
                          <a:cs typeface="Arial"/>
                        </a:rPr>
                        <a:t>ChatGPT</a:t>
                      </a:r>
                    </a:p>
                  </a:txBody>
                  <a:tcPr marL="133350" marR="133350" marT="95250" marB="95250">
                    <a:solidFill>
                      <a:srgbClr val="FFFFFF"/>
                    </a:solidFill>
                  </a:tcPr>
                </a:tc>
                <a:tc>
                  <a:txBody>
                    <a:bodyPr/>
                    <a:lstStyle/>
                    <a:p>
                      <a:r>
                        <a:rPr sz="2025">
                          <a:solidFill>
                            <a:srgbClr val="172030"/>
                          </a:solidFill>
                          <a:latin typeface="Arial"/>
                          <a:ea typeface="Arial"/>
                          <a:cs typeface="Arial"/>
                        </a:rPr>
                        <a:t>Free — $0</a:t>
                      </a:r>
                    </a:p>
                  </a:txBody>
                  <a:tcPr marL="133350" marR="133350" marT="95250" marB="95250">
                    <a:solidFill>
                      <a:srgbClr val="FFFFFF"/>
                    </a:solidFill>
                  </a:tcPr>
                </a:tc>
                <a:tc>
                  <a:txBody>
                    <a:bodyPr/>
                    <a:lstStyle/>
                    <a:p>
                      <a:r>
                        <a:rPr sz="2025">
                          <a:solidFill>
                            <a:srgbClr val="172030"/>
                          </a:solidFill>
                          <a:latin typeface="Arial"/>
                          <a:ea typeface="Arial"/>
                          <a:cs typeface="Arial"/>
                        </a:rPr>
                        <a:t>Go — $8/ай</a:t>
                      </a:r>
                    </a:p>
                    <a:p>
                      <a:r>
                        <a:rPr sz="2025">
                          <a:solidFill>
                            <a:srgbClr val="172030"/>
                          </a:solidFill>
                          <a:latin typeface="Arial"/>
                          <a:ea typeface="Arial"/>
                          <a:cs typeface="Arial"/>
                        </a:rPr>
                        <a:t>Plus — $20/ай</a:t>
                      </a:r>
                    </a:p>
                  </a:txBody>
                  <a:tcPr marL="133350" marR="133350" marT="95250" marB="95250">
                    <a:solidFill>
                      <a:srgbClr val="FFFFFF"/>
                    </a:solidFill>
                  </a:tcPr>
                </a:tc>
              </a:tr>
              <a:tr h="952500">
                <a:tc>
                  <a:txBody>
                    <a:bodyPr/>
                    <a:lstStyle/>
                    <a:p>
                      <a:r>
                        <a:rPr sz="2025">
                          <a:solidFill>
                            <a:srgbClr val="172030"/>
                          </a:solidFill>
                          <a:latin typeface="Arial"/>
                          <a:ea typeface="Arial"/>
                          <a:cs typeface="Arial"/>
                        </a:rPr>
                        <a:t>Gemini</a:t>
                      </a:r>
                    </a:p>
                  </a:txBody>
                  <a:tcPr marL="133350" marR="133350" marT="95250" marB="95250">
                    <a:solidFill>
                      <a:srgbClr val="EEF2E8"/>
                    </a:solidFill>
                  </a:tcPr>
                </a:tc>
                <a:tc>
                  <a:txBody>
                    <a:bodyPr/>
                    <a:lstStyle/>
                    <a:p>
                      <a:r>
                        <a:rPr sz="2025">
                          <a:solidFill>
                            <a:srgbClr val="172030"/>
                          </a:solidFill>
                          <a:latin typeface="Arial"/>
                          <a:ea typeface="Arial"/>
                          <a:cs typeface="Arial"/>
                        </a:rPr>
                        <a:t>AI жазылымынсыз</a:t>
                      </a:r>
                    </a:p>
                    <a:p>
                      <a:r>
                        <a:rPr sz="2025">
                          <a:solidFill>
                            <a:srgbClr val="172030"/>
                          </a:solidFill>
                          <a:latin typeface="Arial"/>
                          <a:ea typeface="Arial"/>
                          <a:cs typeface="Arial"/>
                        </a:rPr>
                        <a:t>негізгі қолжетімділік</a:t>
                      </a:r>
                    </a:p>
                  </a:txBody>
                  <a:tcPr marL="133350" marR="133350" marT="95250" marB="95250">
                    <a:solidFill>
                      <a:srgbClr val="EEF2E8"/>
                    </a:solidFill>
                  </a:tcPr>
                </a:tc>
                <a:tc>
                  <a:txBody>
                    <a:bodyPr/>
                    <a:lstStyle/>
                    <a:p>
                      <a:r>
                        <a:rPr sz="2025">
                          <a:solidFill>
                            <a:srgbClr val="172030"/>
                          </a:solidFill>
                          <a:latin typeface="Arial"/>
                          <a:ea typeface="Arial"/>
                          <a:cs typeface="Arial"/>
                        </a:rPr>
                        <a:t>AI Plus — $9,99/ай</a:t>
                      </a:r>
                    </a:p>
                    <a:p>
                      <a:r>
                        <a:rPr sz="2025">
                          <a:solidFill>
                            <a:srgbClr val="172030"/>
                          </a:solidFill>
                          <a:latin typeface="Arial"/>
                          <a:ea typeface="Arial"/>
                          <a:cs typeface="Arial"/>
                        </a:rPr>
                        <a:t>AI Pro — $19,99/ай</a:t>
                      </a:r>
                    </a:p>
                  </a:txBody>
                  <a:tcPr marL="133350" marR="133350" marT="95250" marB="95250">
                    <a:solidFill>
                      <a:srgbClr val="EEF2E8"/>
                    </a:solidFill>
                  </a:tcPr>
                </a:tc>
              </a:tr>
            </a:tbl>
          </a:graphicData>
        </a:graphic>
      </p:graphicFrame>
      <p:sp>
        <p:nvSpPr>
          <p:cNvPr id="4" name="Text Төлем қолжетімділікті кеңейт">
            <a:extLst xmlns:a="http://schemas.openxmlformats.org/drawingml/2006/main">
              <a:ext uri="{FF2B5EF4-FFF2-40B4-BE49-F238E27FC236}">
                <a16:creationId xmlns:a16="http://schemas.microsoft.com/office/drawing/2014/main" id="{99126250-CEF3-4311-914C-358F797E14C0}"/>
              </a:ext>
            </a:extLst>
          </p:cNvPr>
          <p:cNvSpPr>
            <a:spLocks xmlns:a="http://schemas.openxmlformats.org/drawingml/2006/main" noGrp="1"/>
          </p:cNvSpPr>
          <p:nvPr/>
        </p:nvSpPr>
        <p:spPr>
          <a:xfrm xmlns:a="http://schemas.openxmlformats.org/drawingml/2006/main">
            <a:off x="704850" y="48482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456B24"/>
                </a:solidFill>
                <a:latin typeface="Arial"/>
                <a:ea typeface="Arial"/>
                <a:cs typeface="Arial"/>
              </a:defRPr>
            </a:pPr>
            <a:r>
              <a:rPr sz="2325" b="1">
                <a:solidFill>
                  <a:srgbClr val="456B24"/>
                </a:solidFill>
                <a:latin typeface="Arial"/>
                <a:ea typeface="Arial"/>
                <a:cs typeface="Arial"/>
              </a:rPr>
              <a:t>Төлем қолжетімділікті кеңейтеді. Алдымен қажет функцияны өз міндетіңізде тексеріңіз.</a:t>
            </a:r>
          </a:p>
        </p:txBody>
      </p:sp>
      <p:sp>
        <p:nvSpPr>
          <p:cNvPr id="5" name="Text USD: 15.09.2026 бағдары. Қаз">
            <a:extLst xmlns:a="http://schemas.openxmlformats.org/drawingml/2006/main">
              <a:ext uri="{FF2B5EF4-FFF2-40B4-BE49-F238E27FC236}">
                <a16:creationId xmlns:a16="http://schemas.microsoft.com/office/drawing/2014/main" id="{A11C3278-CFCD-43E5-8586-73E60D9731BE}"/>
              </a:ext>
            </a:extLst>
          </p:cNvPr>
          <p:cNvSpPr>
            <a:spLocks xmlns:a="http://schemas.openxmlformats.org/drawingml/2006/main" noGrp="1"/>
          </p:cNvSpPr>
          <p:nvPr/>
        </p:nvSpPr>
        <p:spPr>
          <a:xfrm xmlns:a="http://schemas.openxmlformats.org/drawingml/2006/main">
            <a:off x="704850" y="60198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96273"/>
                </a:solidFill>
                <a:latin typeface="Arial"/>
                <a:ea typeface="Arial"/>
                <a:cs typeface="Arial"/>
              </a:defRPr>
            </a:pPr>
            <a:r>
              <a:rPr sz="1575" b="0">
                <a:solidFill>
                  <a:srgbClr val="596273"/>
                </a:solidFill>
                <a:latin typeface="Arial"/>
                <a:ea typeface="Arial"/>
                <a:cs typeface="Arial"/>
              </a:rPr>
              <a:t>USD: 15.09.2026 бағдары. Қазақстандағы қорытынды бағаны аккаунттан тексеріңіз.</a:t>
            </a:r>
          </a:p>
        </p:txBody>
      </p:sp>
    </p:spTree>
    <p:extLst>
      <p:ext uri="{BB962C8B-B14F-4D97-AF65-F5344CB8AC3E}">
        <p14:creationId xmlns:p14="http://schemas.microsoft.com/office/powerpoint/2010/main" val="1657585786"/>
      </p:ext>
    </p:extLst>
  </p:cSld>
</p:sld>
</file>

<file path=ppt/slides/slide42.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6" name="Text Perplexity және Grok: ақылы ">
            <a:extLst xmlns:a="http://schemas.openxmlformats.org/drawingml/2006/main">
              <a:ext uri="{FF2B5EF4-FFF2-40B4-BE49-F238E27FC236}">
                <a16:creationId xmlns:a16="http://schemas.microsoft.com/office/drawing/2014/main" id="{ECC37BFC-C2EB-4EFB-92ED-A4726E25E443}"/>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Perplexity және Grok: ақылы мүмкіндік</a:t>
            </a:r>
          </a:p>
        </p:txBody>
      </p:sp>
      <p:sp>
        <p:nvSpPr>
          <p:cNvPr id="2" name="Plans page 41">
            <a:extLst xmlns:a="http://schemas.openxmlformats.org/drawingml/2006/main">
              <a:ext uri="{FF2B5EF4-FFF2-40B4-BE49-F238E27FC236}">
                <a16:creationId xmlns:a16="http://schemas.microsoft.com/office/drawing/2014/main" id="{B75328B1-04F7-4ADB-A3AD-4C965FB4E3F7}"/>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42</a:t>
            </a:r>
          </a:p>
        </p:txBody>
      </p:sp>
      <p:graphicFrame>
        <p:nvGraphicFramePr>
          <p:cNvPr id="10" name=""/>
          <p:cNvGraphicFramePr/>
          <p:nvPr/>
        </p:nvGraphicFramePr>
        <p:xfrm>
          <a:off xmlns:a="http://schemas.openxmlformats.org/drawingml/2006/main" x="704850" y="1562100"/>
          <a:ext xmlns:a="http://schemas.openxmlformats.org/drawingml/2006/main" cx="10763250" cy="2924175"/>
        </p:xfrm>
        <a:graphic xmlns:a="http://schemas.openxmlformats.org/drawingml/2006/main">
          <a:graphicData uri="http://schemas.openxmlformats.org/drawingml/2006/table">
            <a:tbl>
              <a:tblPr/>
              <a:tblGrid>
                <a:gridCol w="2190750"/>
                <a:gridCol w="3524250"/>
                <a:gridCol w="5048250"/>
              </a:tblGrid>
              <a:tr h="974725">
                <a:tc>
                  <a:txBody>
                    <a:bodyPr/>
                    <a:lstStyle/>
                    <a:p>
                      <a:r>
                        <a:rPr sz="1950" b="1">
                          <a:solidFill>
                            <a:srgbClr val="172030"/>
                          </a:solidFill>
                          <a:latin typeface="Arial"/>
                          <a:ea typeface="Arial"/>
                          <a:cs typeface="Arial"/>
                        </a:rPr>
                        <a:t>Сервис</a:t>
                      </a:r>
                    </a:p>
                  </a:txBody>
                  <a:tcPr marL="133350" marR="133350" marT="95250" marB="95250">
                    <a:solidFill>
                      <a:srgbClr val="D6F879"/>
                    </a:solidFill>
                  </a:tcPr>
                </a:tc>
                <a:tc>
                  <a:txBody>
                    <a:bodyPr/>
                    <a:lstStyle/>
                    <a:p>
                      <a:r>
                        <a:rPr sz="1950" b="1">
                          <a:solidFill>
                            <a:srgbClr val="172030"/>
                          </a:solidFill>
                          <a:latin typeface="Arial"/>
                          <a:ea typeface="Arial"/>
                          <a:cs typeface="Arial"/>
                        </a:rPr>
                        <a:t>Тегін</a:t>
                      </a:r>
                    </a:p>
                  </a:txBody>
                  <a:tcPr marL="133350" marR="133350" marT="95250" marB="95250">
                    <a:solidFill>
                      <a:srgbClr val="D6F879"/>
                    </a:solidFill>
                  </a:tcPr>
                </a:tc>
                <a:tc>
                  <a:txBody>
                    <a:bodyPr/>
                    <a:lstStyle/>
                    <a:p>
                      <a:r>
                        <a:rPr sz="1950" b="1">
                          <a:solidFill>
                            <a:srgbClr val="172030"/>
                          </a:solidFill>
                          <a:latin typeface="Arial"/>
                          <a:ea typeface="Arial"/>
                          <a:cs typeface="Arial"/>
                        </a:rPr>
                        <a:t>Ақылы нұсқа</a:t>
                      </a:r>
                    </a:p>
                  </a:txBody>
                  <a:tcPr marL="133350" marR="133350" marT="95250" marB="95250">
                    <a:solidFill>
                      <a:srgbClr val="D6F879"/>
                    </a:solidFill>
                  </a:tcPr>
                </a:tc>
              </a:tr>
              <a:tr h="974725">
                <a:tc>
                  <a:txBody>
                    <a:bodyPr/>
                    <a:lstStyle/>
                    <a:p>
                      <a:r>
                        <a:rPr sz="1950">
                          <a:solidFill>
                            <a:srgbClr val="172030"/>
                          </a:solidFill>
                          <a:latin typeface="Arial"/>
                          <a:ea typeface="Arial"/>
                          <a:cs typeface="Arial"/>
                        </a:rPr>
                        <a:t>Perplexity</a:t>
                      </a:r>
                    </a:p>
                  </a:txBody>
                  <a:tcPr marL="133350" marR="133350" marT="95250" marB="95250">
                    <a:solidFill>
                      <a:srgbClr val="FFFFFF"/>
                    </a:solidFill>
                  </a:tcPr>
                </a:tc>
                <a:tc>
                  <a:txBody>
                    <a:bodyPr/>
                    <a:lstStyle/>
                    <a:p>
                      <a:r>
                        <a:rPr sz="1950">
                          <a:solidFill>
                            <a:srgbClr val="172030"/>
                          </a:solidFill>
                          <a:latin typeface="Arial"/>
                          <a:ea typeface="Arial"/>
                          <a:cs typeface="Arial"/>
                        </a:rPr>
                        <a:t>Кәдімгі іздеу</a:t>
                      </a:r>
                    </a:p>
                  </a:txBody>
                  <a:tcPr marL="133350" marR="133350" marT="95250" marB="95250">
                    <a:solidFill>
                      <a:srgbClr val="FFFFFF"/>
                    </a:solidFill>
                  </a:tcPr>
                </a:tc>
                <a:tc>
                  <a:txBody>
                    <a:bodyPr/>
                    <a:lstStyle/>
                    <a:p>
                      <a:r>
                        <a:rPr sz="1950">
                          <a:solidFill>
                            <a:srgbClr val="172030"/>
                          </a:solidFill>
                          <a:latin typeface="Arial"/>
                          <a:ea typeface="Arial"/>
                          <a:cs typeface="Arial"/>
                        </a:rPr>
                        <a:t>Pro: $20/ай не $200/жыл</a:t>
                      </a:r>
                    </a:p>
                  </a:txBody>
                  <a:tcPr marL="133350" marR="133350" marT="95250" marB="95250">
                    <a:solidFill>
                      <a:srgbClr val="FFFFFF"/>
                    </a:solidFill>
                  </a:tcPr>
                </a:tc>
              </a:tr>
              <a:tr h="974725">
                <a:tc>
                  <a:txBody>
                    <a:bodyPr/>
                    <a:lstStyle/>
                    <a:p>
                      <a:r>
                        <a:rPr sz="1950">
                          <a:solidFill>
                            <a:srgbClr val="172030"/>
                          </a:solidFill>
                          <a:latin typeface="Arial"/>
                          <a:ea typeface="Arial"/>
                          <a:cs typeface="Arial"/>
                        </a:rPr>
                        <a:t>Grok</a:t>
                      </a:r>
                    </a:p>
                  </a:txBody>
                  <a:tcPr marL="133350" marR="133350" marT="95250" marB="95250">
                    <a:solidFill>
                      <a:srgbClr val="EEF2E8"/>
                    </a:solidFill>
                  </a:tcPr>
                </a:tc>
                <a:tc>
                  <a:txBody>
                    <a:bodyPr/>
                    <a:lstStyle/>
                    <a:p>
                      <a:r>
                        <a:rPr sz="1950">
                          <a:solidFill>
                            <a:srgbClr val="172030"/>
                          </a:solidFill>
                          <a:latin typeface="Arial"/>
                          <a:ea typeface="Arial"/>
                          <a:cs typeface="Arial"/>
                        </a:rPr>
                        <a:t>Чат, веб-іздеу, дауыс</a:t>
                      </a:r>
                    </a:p>
                    <a:p>
                      <a:r>
                        <a:rPr sz="1950">
                          <a:solidFill>
                            <a:srgbClr val="172030"/>
                          </a:solidFill>
                          <a:latin typeface="Arial"/>
                          <a:ea typeface="Arial"/>
                          <a:cs typeface="Arial"/>
                        </a:rPr>
                        <a:t>шектеулерімен</a:t>
                      </a:r>
                    </a:p>
                  </a:txBody>
                  <a:tcPr marL="133350" marR="133350" marT="95250" marB="95250">
                    <a:solidFill>
                      <a:srgbClr val="EEF2E8"/>
                    </a:solidFill>
                  </a:tcPr>
                </a:tc>
                <a:tc>
                  <a:txBody>
                    <a:bodyPr/>
                    <a:lstStyle/>
                    <a:p>
                      <a:r>
                        <a:rPr sz="1950">
                          <a:solidFill>
                            <a:srgbClr val="172030"/>
                          </a:solidFill>
                          <a:latin typeface="Arial"/>
                          <a:ea typeface="Arial"/>
                          <a:cs typeface="Arial"/>
                        </a:rPr>
                        <a:t>SuperGrok: $30/ай</a:t>
                      </a:r>
                    </a:p>
                  </a:txBody>
                  <a:tcPr marL="133350" marR="133350" marT="95250" marB="95250">
                    <a:solidFill>
                      <a:srgbClr val="EEF2E8"/>
                    </a:solidFill>
                  </a:tcPr>
                </a:tc>
              </a:tr>
            </a:tbl>
          </a:graphicData>
        </a:graphic>
      </p:graphicFrame>
      <p:sp>
        <p:nvSpPr>
          <p:cNvPr id="4" name="Text Ақылы нұсқада да лимит бар. ">
            <a:extLst xmlns:a="http://schemas.openxmlformats.org/drawingml/2006/main">
              <a:ext uri="{FF2B5EF4-FFF2-40B4-BE49-F238E27FC236}">
                <a16:creationId xmlns:a16="http://schemas.microsoft.com/office/drawing/2014/main" id="{B2700521-2C5B-4B79-B048-B00870D7BDA1}"/>
              </a:ext>
            </a:extLst>
          </p:cNvPr>
          <p:cNvSpPr>
            <a:spLocks xmlns:a="http://schemas.openxmlformats.org/drawingml/2006/main" noGrp="1"/>
          </p:cNvSpPr>
          <p:nvPr/>
        </p:nvSpPr>
        <p:spPr>
          <a:xfrm xmlns:a="http://schemas.openxmlformats.org/drawingml/2006/main">
            <a:off x="704850" y="485775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456B24"/>
                </a:solidFill>
                <a:latin typeface="Arial"/>
                <a:ea typeface="Arial"/>
                <a:cs typeface="Arial"/>
              </a:defRPr>
            </a:pPr>
            <a:r>
              <a:rPr sz="2325" b="1">
                <a:solidFill>
                  <a:srgbClr val="456B24"/>
                </a:solidFill>
                <a:latin typeface="Arial"/>
                <a:ea typeface="Arial"/>
                <a:cs typeface="Arial"/>
              </a:rPr>
              <a:t>Ақылы нұсқада да лимит бар. Жауап пен дереккөзді бәрібір тексереміз.</a:t>
            </a:r>
          </a:p>
        </p:txBody>
      </p:sp>
      <p:sp>
        <p:nvSpPr>
          <p:cNvPr id="5" name="Text USD: 15.09.2026 бағдары. Қаз">
            <a:extLst xmlns:a="http://schemas.openxmlformats.org/drawingml/2006/main">
              <a:ext uri="{FF2B5EF4-FFF2-40B4-BE49-F238E27FC236}">
                <a16:creationId xmlns:a16="http://schemas.microsoft.com/office/drawing/2014/main" id="{D369C2EE-2468-4BBE-AF9F-0A491AFCECE7}"/>
              </a:ext>
            </a:extLst>
          </p:cNvPr>
          <p:cNvSpPr>
            <a:spLocks xmlns:a="http://schemas.openxmlformats.org/drawingml/2006/main" noGrp="1"/>
          </p:cNvSpPr>
          <p:nvPr/>
        </p:nvSpPr>
        <p:spPr>
          <a:xfrm xmlns:a="http://schemas.openxmlformats.org/drawingml/2006/main">
            <a:off x="704850" y="60198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96273"/>
                </a:solidFill>
                <a:latin typeface="Arial"/>
                <a:ea typeface="Arial"/>
                <a:cs typeface="Arial"/>
              </a:defRPr>
            </a:pPr>
            <a:r>
              <a:rPr sz="1575" b="0">
                <a:solidFill>
                  <a:srgbClr val="596273"/>
                </a:solidFill>
                <a:latin typeface="Arial"/>
                <a:ea typeface="Arial"/>
                <a:cs typeface="Arial"/>
              </a:rPr>
              <a:t>USD: 15.09.2026 бағдары. Қазақстандағы қорытынды бағаны аккаунттан тексеріңіз.</a:t>
            </a:r>
          </a:p>
        </p:txBody>
      </p:sp>
    </p:spTree>
    <p:extLst>
      <p:ext uri="{BB962C8B-B14F-4D97-AF65-F5344CB8AC3E}">
        <p14:creationId xmlns:p14="http://schemas.microsoft.com/office/powerpoint/2010/main" val="155803544"/>
      </p:ext>
    </p:extLst>
  </p:cSld>
</p:sld>
</file>

<file path=ppt/slides/slide43.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5" name="Text Gamma: слайдтар және AI кред">
            <a:extLst xmlns:a="http://schemas.openxmlformats.org/drawingml/2006/main">
              <a:ext uri="{FF2B5EF4-FFF2-40B4-BE49-F238E27FC236}">
                <a16:creationId xmlns:a16="http://schemas.microsoft.com/office/drawing/2014/main" id="{39BE4AAC-34D2-4F3B-A8FD-A58DB283C31D}"/>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Gamma: слайдтар және AI кредиттері</a:t>
            </a:r>
          </a:p>
        </p:txBody>
      </p:sp>
      <p:sp>
        <p:nvSpPr>
          <p:cNvPr id="2" name="Plans page 42">
            <a:extLst xmlns:a="http://schemas.openxmlformats.org/drawingml/2006/main">
              <a:ext uri="{FF2B5EF4-FFF2-40B4-BE49-F238E27FC236}">
                <a16:creationId xmlns:a16="http://schemas.microsoft.com/office/drawing/2014/main" id="{47CAEFC2-63F2-4E54-9FE8-BF431BDD605E}"/>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43</a:t>
            </a:r>
          </a:p>
        </p:txBody>
      </p:sp>
      <p:graphicFrame>
        <p:nvGraphicFramePr>
          <p:cNvPr id="9" name=""/>
          <p:cNvGraphicFramePr/>
          <p:nvPr/>
        </p:nvGraphicFramePr>
        <p:xfrm>
          <a:off xmlns:a="http://schemas.openxmlformats.org/drawingml/2006/main" x="704850" y="1590675"/>
          <a:ext xmlns:a="http://schemas.openxmlformats.org/drawingml/2006/main" cx="10763250" cy="3267075"/>
        </p:xfrm>
        <a:graphic xmlns:a="http://schemas.openxmlformats.org/drawingml/2006/main">
          <a:graphicData uri="http://schemas.openxmlformats.org/drawingml/2006/table">
            <a:tbl>
              <a:tblPr/>
              <a:tblGrid>
                <a:gridCol w="2190750"/>
                <a:gridCol w="8572500"/>
              </a:tblGrid>
              <a:tr h="816769">
                <a:tc>
                  <a:txBody>
                    <a:bodyPr/>
                    <a:lstStyle/>
                    <a:p>
                      <a:r>
                        <a:rPr sz="2100" b="1">
                          <a:solidFill>
                            <a:srgbClr val="172030"/>
                          </a:solidFill>
                          <a:latin typeface="Arial"/>
                          <a:ea typeface="Arial"/>
                          <a:cs typeface="Arial"/>
                        </a:rPr>
                        <a:t>Тариф</a:t>
                      </a:r>
                    </a:p>
                  </a:txBody>
                  <a:tcPr marL="133350" marR="133350" marT="95250" marB="95250">
                    <a:solidFill>
                      <a:srgbClr val="D6F879"/>
                    </a:solidFill>
                  </a:tcPr>
                </a:tc>
                <a:tc>
                  <a:txBody>
                    <a:bodyPr/>
                    <a:lstStyle/>
                    <a:p>
                      <a:r>
                        <a:rPr sz="2100" b="1">
                          <a:solidFill>
                            <a:srgbClr val="172030"/>
                          </a:solidFill>
                          <a:latin typeface="Arial"/>
                          <a:ea typeface="Arial"/>
                          <a:cs typeface="Arial"/>
                        </a:rPr>
                        <a:t>Не үшін</a:t>
                      </a:r>
                    </a:p>
                  </a:txBody>
                  <a:tcPr marL="133350" marR="133350" marT="95250" marB="95250">
                    <a:solidFill>
                      <a:srgbClr val="D6F879"/>
                    </a:solidFill>
                  </a:tcPr>
                </a:tc>
              </a:tr>
              <a:tr h="816769">
                <a:tc>
                  <a:txBody>
                    <a:bodyPr/>
                    <a:lstStyle/>
                    <a:p>
                      <a:r>
                        <a:rPr sz="2100">
                          <a:solidFill>
                            <a:srgbClr val="172030"/>
                          </a:solidFill>
                          <a:latin typeface="Arial"/>
                          <a:ea typeface="Arial"/>
                          <a:cs typeface="Arial"/>
                        </a:rPr>
                        <a:t>Free</a:t>
                      </a:r>
                    </a:p>
                  </a:txBody>
                  <a:tcPr marL="133350" marR="133350" marT="95250" marB="95250">
                    <a:solidFill>
                      <a:srgbClr val="FFFFFF"/>
                    </a:solidFill>
                  </a:tcPr>
                </a:tc>
                <a:tc>
                  <a:txBody>
                    <a:bodyPr/>
                    <a:lstStyle/>
                    <a:p>
                      <a:r>
                        <a:rPr sz="2100">
                          <a:solidFill>
                            <a:srgbClr val="172030"/>
                          </a:solidFill>
                          <a:latin typeface="Arial"/>
                          <a:ea typeface="Arial"/>
                          <a:cs typeface="Arial"/>
                        </a:rPr>
                        <a:t>Бір сұрауға 10 слайдқа дейін; бастапқы кредиттер</a:t>
                      </a:r>
                    </a:p>
                  </a:txBody>
                  <a:tcPr marL="133350" marR="133350" marT="95250" marB="95250">
                    <a:solidFill>
                      <a:srgbClr val="FFFFFF"/>
                    </a:solidFill>
                  </a:tcPr>
                </a:tc>
              </a:tr>
              <a:tr h="816769">
                <a:tc>
                  <a:txBody>
                    <a:bodyPr/>
                    <a:lstStyle/>
                    <a:p>
                      <a:r>
                        <a:rPr sz="2100">
                          <a:solidFill>
                            <a:srgbClr val="172030"/>
                          </a:solidFill>
                          <a:latin typeface="Arial"/>
                          <a:ea typeface="Arial"/>
                          <a:cs typeface="Arial"/>
                        </a:rPr>
                        <a:t>Plus</a:t>
                      </a:r>
                    </a:p>
                  </a:txBody>
                  <a:tcPr marL="133350" marR="133350" marT="95250" marB="95250">
                    <a:solidFill>
                      <a:srgbClr val="EEF2E8"/>
                    </a:solidFill>
                  </a:tcPr>
                </a:tc>
                <a:tc>
                  <a:txBody>
                    <a:bodyPr/>
                    <a:lstStyle/>
                    <a:p>
                      <a:r>
                        <a:rPr sz="2100">
                          <a:solidFill>
                            <a:srgbClr val="172030"/>
                          </a:solidFill>
                          <a:latin typeface="Arial"/>
                          <a:ea typeface="Arial"/>
                          <a:cs typeface="Arial"/>
                        </a:rPr>
                        <a:t>Gamma белгісінсіз; ай сайын кредит</a:t>
                      </a:r>
                    </a:p>
                  </a:txBody>
                  <a:tcPr marL="133350" marR="133350" marT="95250" marB="95250">
                    <a:solidFill>
                      <a:srgbClr val="EEF2E8"/>
                    </a:solidFill>
                  </a:tcPr>
                </a:tc>
              </a:tr>
              <a:tr h="816769">
                <a:tc>
                  <a:txBody>
                    <a:bodyPr/>
                    <a:lstStyle/>
                    <a:p>
                      <a:r>
                        <a:rPr sz="2100">
                          <a:solidFill>
                            <a:srgbClr val="172030"/>
                          </a:solidFill>
                          <a:latin typeface="Arial"/>
                          <a:ea typeface="Arial"/>
                          <a:cs typeface="Arial"/>
                        </a:rPr>
                        <a:t>Pro</a:t>
                      </a:r>
                    </a:p>
                  </a:txBody>
                  <a:tcPr marL="133350" marR="133350" marT="95250" marB="95250">
                    <a:solidFill>
                      <a:srgbClr val="FFFFFF"/>
                    </a:solidFill>
                  </a:tcPr>
                </a:tc>
                <a:tc>
                  <a:txBody>
                    <a:bodyPr/>
                    <a:lstStyle/>
                    <a:p>
                      <a:r>
                        <a:rPr sz="2100">
                          <a:solidFill>
                            <a:srgbClr val="172030"/>
                          </a:solidFill>
                          <a:latin typeface="Arial"/>
                          <a:ea typeface="Arial"/>
                          <a:cs typeface="Arial"/>
                        </a:rPr>
                        <a:t>Безендіру баптауы мен мүмкіндік көбірек</a:t>
                      </a:r>
                    </a:p>
                  </a:txBody>
                  <a:tcPr marL="133350" marR="133350" marT="95250" marB="95250">
                    <a:solidFill>
                      <a:srgbClr val="FFFFFF"/>
                    </a:solidFill>
                  </a:tcPr>
                </a:tc>
              </a:tr>
            </a:tbl>
          </a:graphicData>
        </a:graphic>
      </p:graphicFrame>
      <p:sp>
        <p:nvSpPr>
          <p:cNvPr id="4" name="Text Нақты бағаны Gamma-да тексер">
            <a:extLst xmlns:a="http://schemas.openxmlformats.org/drawingml/2006/main">
              <a:ext uri="{FF2B5EF4-FFF2-40B4-BE49-F238E27FC236}">
                <a16:creationId xmlns:a16="http://schemas.microsoft.com/office/drawing/2014/main" id="{7A0471B5-D930-4799-9EC2-279B49CB47BE}"/>
              </a:ext>
            </a:extLst>
          </p:cNvPr>
          <p:cNvSpPr>
            <a:spLocks xmlns:a="http://schemas.openxmlformats.org/drawingml/2006/main" noGrp="1"/>
          </p:cNvSpPr>
          <p:nvPr/>
        </p:nvSpPr>
        <p:spPr>
          <a:xfrm xmlns:a="http://schemas.openxmlformats.org/drawingml/2006/main">
            <a:off x="704850" y="522922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456B24"/>
                </a:solidFill>
                <a:latin typeface="Arial"/>
                <a:ea typeface="Arial"/>
                <a:cs typeface="Arial"/>
              </a:defRPr>
            </a:pPr>
            <a:r>
              <a:rPr sz="2325" b="1">
                <a:solidFill>
                  <a:srgbClr val="456B24"/>
                </a:solidFill>
                <a:latin typeface="Arial"/>
                <a:ea typeface="Arial"/>
                <a:cs typeface="Arial"/>
              </a:rPr>
              <a:t>Нақты бағаны Gamma-да тексереміз: ай не жыл, төленетін сома.</a:t>
            </a:r>
          </a:p>
        </p:txBody>
      </p:sp>
    </p:spTree>
    <p:extLst>
      <p:ext uri="{BB962C8B-B14F-4D97-AF65-F5344CB8AC3E}">
        <p14:creationId xmlns:p14="http://schemas.microsoft.com/office/powerpoint/2010/main" val="1882318902"/>
      </p:ext>
    </p:extLst>
  </p:cSld>
</p:sld>
</file>

<file path=ppt/slides/slide44.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6" name="Text Ай мен жыл: бағаны салыстыру">
            <a:extLst xmlns:a="http://schemas.openxmlformats.org/drawingml/2006/main">
              <a:ext uri="{FF2B5EF4-FFF2-40B4-BE49-F238E27FC236}">
                <a16:creationId xmlns:a16="http://schemas.microsoft.com/office/drawing/2014/main" id="{92B964B9-E23E-481B-8CEF-1010AFB1B934}"/>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Ай мен жыл: бағаны салыстыру</a:t>
            </a:r>
          </a:p>
        </p:txBody>
      </p:sp>
      <p:sp>
        <p:nvSpPr>
          <p:cNvPr id="2" name="Plans page 43">
            <a:extLst xmlns:a="http://schemas.openxmlformats.org/drawingml/2006/main">
              <a:ext uri="{FF2B5EF4-FFF2-40B4-BE49-F238E27FC236}">
                <a16:creationId xmlns:a16="http://schemas.microsoft.com/office/drawing/2014/main" id="{82DC716F-6523-4EA9-9BA3-074E7878AAA7}"/>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44</a:t>
            </a:r>
          </a:p>
        </p:txBody>
      </p:sp>
      <p:graphicFrame>
        <p:nvGraphicFramePr>
          <p:cNvPr id="10" name=""/>
          <p:cNvGraphicFramePr/>
          <p:nvPr/>
        </p:nvGraphicFramePr>
        <p:xfrm>
          <a:off xmlns:a="http://schemas.openxmlformats.org/drawingml/2006/main" x="704850" y="1600200"/>
          <a:ext xmlns:a="http://schemas.openxmlformats.org/drawingml/2006/main" cx="10763250" cy="2619375"/>
        </p:xfrm>
        <a:graphic xmlns:a="http://schemas.openxmlformats.org/drawingml/2006/main">
          <a:graphicData uri="http://schemas.openxmlformats.org/drawingml/2006/table">
            <a:tbl>
              <a:tblPr/>
              <a:tblGrid>
                <a:gridCol w="4095750"/>
                <a:gridCol w="6667500"/>
              </a:tblGrid>
              <a:tr h="873125">
                <a:tc>
                  <a:txBody>
                    <a:bodyPr/>
                    <a:lstStyle/>
                    <a:p>
                      <a:r>
                        <a:rPr sz="2250" b="1">
                          <a:solidFill>
                            <a:srgbClr val="172030"/>
                          </a:solidFill>
                          <a:latin typeface="Arial"/>
                          <a:ea typeface="Arial"/>
                          <a:cs typeface="Arial"/>
                        </a:rPr>
                        <a:t>Perplexity Pro</a:t>
                      </a:r>
                    </a:p>
                  </a:txBody>
                  <a:tcPr marL="133350" marR="133350" marT="95250" marB="95250">
                    <a:solidFill>
                      <a:srgbClr val="D6F879"/>
                    </a:solidFill>
                  </a:tcPr>
                </a:tc>
                <a:tc>
                  <a:txBody>
                    <a:bodyPr/>
                    <a:lstStyle/>
                    <a:p>
                      <a:r>
                        <a:rPr sz="2250" b="1">
                          <a:solidFill>
                            <a:srgbClr val="172030"/>
                          </a:solidFill>
                          <a:latin typeface="Arial"/>
                          <a:ea typeface="Arial"/>
                          <a:cs typeface="Arial"/>
                        </a:rPr>
                        <a:t>Қанша төленеді</a:t>
                      </a:r>
                    </a:p>
                  </a:txBody>
                  <a:tcPr marL="133350" marR="133350" marT="95250" marB="95250">
                    <a:solidFill>
                      <a:srgbClr val="D6F879"/>
                    </a:solidFill>
                  </a:tcPr>
                </a:tc>
              </a:tr>
              <a:tr h="873125">
                <a:tc>
                  <a:txBody>
                    <a:bodyPr/>
                    <a:lstStyle/>
                    <a:p>
                      <a:r>
                        <a:rPr sz="2250">
                          <a:solidFill>
                            <a:srgbClr val="172030"/>
                          </a:solidFill>
                          <a:latin typeface="Arial"/>
                          <a:ea typeface="Arial"/>
                          <a:cs typeface="Arial"/>
                        </a:rPr>
                        <a:t>Ай сайын</a:t>
                      </a:r>
                    </a:p>
                  </a:txBody>
                  <a:tcPr marL="133350" marR="133350" marT="95250" marB="95250">
                    <a:solidFill>
                      <a:srgbClr val="FFFFFF"/>
                    </a:solidFill>
                  </a:tcPr>
                </a:tc>
                <a:tc>
                  <a:txBody>
                    <a:bodyPr/>
                    <a:lstStyle/>
                    <a:p>
                      <a:r>
                        <a:rPr sz="2250">
                          <a:solidFill>
                            <a:srgbClr val="172030"/>
                          </a:solidFill>
                          <a:latin typeface="Arial"/>
                          <a:ea typeface="Arial"/>
                          <a:cs typeface="Arial"/>
                        </a:rPr>
                        <a:t>Толық жылға $20 × 12 = $240</a:t>
                      </a:r>
                    </a:p>
                  </a:txBody>
                  <a:tcPr marL="133350" marR="133350" marT="95250" marB="95250">
                    <a:solidFill>
                      <a:srgbClr val="FFFFFF"/>
                    </a:solidFill>
                  </a:tcPr>
                </a:tc>
              </a:tr>
              <a:tr h="873125">
                <a:tc>
                  <a:txBody>
                    <a:bodyPr/>
                    <a:lstStyle/>
                    <a:p>
                      <a:r>
                        <a:rPr sz="2250">
                          <a:solidFill>
                            <a:srgbClr val="172030"/>
                          </a:solidFill>
                          <a:latin typeface="Arial"/>
                          <a:ea typeface="Arial"/>
                          <a:cs typeface="Arial"/>
                        </a:rPr>
                        <a:t>Жылдық тариф</a:t>
                      </a:r>
                    </a:p>
                  </a:txBody>
                  <a:tcPr marL="133350" marR="133350" marT="95250" marB="95250">
                    <a:solidFill>
                      <a:srgbClr val="EEF2E8"/>
                    </a:solidFill>
                  </a:tcPr>
                </a:tc>
                <a:tc>
                  <a:txBody>
                    <a:bodyPr/>
                    <a:lstStyle/>
                    <a:p>
                      <a:r>
                        <a:rPr sz="2250">
                          <a:solidFill>
                            <a:srgbClr val="172030"/>
                          </a:solidFill>
                          <a:latin typeface="Arial"/>
                          <a:ea typeface="Arial"/>
                          <a:cs typeface="Arial"/>
                        </a:rPr>
                        <a:t>Жыл үшін $200 бірден</a:t>
                      </a:r>
                    </a:p>
                  </a:txBody>
                  <a:tcPr marL="133350" marR="133350" marT="95250" marB="95250">
                    <a:solidFill>
                      <a:srgbClr val="EEF2E8"/>
                    </a:solidFill>
                  </a:tcPr>
                </a:tc>
              </a:tr>
            </a:tbl>
          </a:graphicData>
        </a:graphic>
      </p:graphicFrame>
      <p:sp>
        <p:nvSpPr>
          <p:cNvPr id="4" name="Text Айына $200 / 12 ≈ $16,67 — т">
            <a:extLst xmlns:a="http://schemas.openxmlformats.org/drawingml/2006/main">
              <a:ext uri="{FF2B5EF4-FFF2-40B4-BE49-F238E27FC236}">
                <a16:creationId xmlns:a16="http://schemas.microsoft.com/office/drawing/2014/main" id="{3E5C3D91-5A62-4FC3-9088-99E8E6DB2906}"/>
              </a:ext>
            </a:extLst>
          </p:cNvPr>
          <p:cNvSpPr>
            <a:spLocks xmlns:a="http://schemas.openxmlformats.org/drawingml/2006/main" noGrp="1"/>
          </p:cNvSpPr>
          <p:nvPr/>
        </p:nvSpPr>
        <p:spPr>
          <a:xfrm xmlns:a="http://schemas.openxmlformats.org/drawingml/2006/main">
            <a:off x="704850" y="45815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456B24"/>
                </a:solidFill>
                <a:latin typeface="Arial"/>
                <a:ea typeface="Arial"/>
                <a:cs typeface="Arial"/>
              </a:defRPr>
            </a:pPr>
            <a:r>
              <a:rPr sz="2475" b="1">
                <a:solidFill>
                  <a:srgbClr val="456B24"/>
                </a:solidFill>
                <a:latin typeface="Arial"/>
                <a:ea typeface="Arial"/>
                <a:cs typeface="Arial"/>
              </a:rPr>
              <a:t>Айына $200 / 12 ≈ $16,67 — тек айлық балама.</a:t>
            </a:r>
          </a:p>
        </p:txBody>
      </p:sp>
      <p:sp>
        <p:nvSpPr>
          <p:cNvPr id="5" name="Text Бір ай қажет пе? $20 және $2">
            <a:extLst xmlns:a="http://schemas.openxmlformats.org/drawingml/2006/main">
              <a:ext uri="{FF2B5EF4-FFF2-40B4-BE49-F238E27FC236}">
                <a16:creationId xmlns:a16="http://schemas.microsoft.com/office/drawing/2014/main" id="{3FFDE570-8F76-406D-97C6-1BA3E2469FE1}"/>
              </a:ext>
            </a:extLst>
          </p:cNvPr>
          <p:cNvSpPr>
            <a:spLocks xmlns:a="http://schemas.openxmlformats.org/drawingml/2006/main" noGrp="1"/>
          </p:cNvSpPr>
          <p:nvPr/>
        </p:nvSpPr>
        <p:spPr>
          <a:xfrm xmlns:a="http://schemas.openxmlformats.org/drawingml/2006/main">
            <a:off x="704850" y="56292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2030"/>
                </a:solidFill>
                <a:latin typeface="Arial"/>
                <a:ea typeface="Arial"/>
                <a:cs typeface="Arial"/>
              </a:defRPr>
            </a:pPr>
            <a:r>
              <a:rPr sz="2175" b="0">
                <a:solidFill>
                  <a:srgbClr val="172030"/>
                </a:solidFill>
                <a:latin typeface="Arial"/>
                <a:ea typeface="Arial"/>
                <a:cs typeface="Arial"/>
              </a:rPr>
              <a:t>Бір ай қажет пе? $20 және $200 шығынын салыстырамыз.</a:t>
            </a:r>
          </a:p>
        </p:txBody>
      </p:sp>
    </p:spTree>
    <p:extLst>
      <p:ext uri="{BB962C8B-B14F-4D97-AF65-F5344CB8AC3E}">
        <p14:creationId xmlns:p14="http://schemas.microsoft.com/office/powerpoint/2010/main" val="365198297"/>
      </p:ext>
    </p:extLst>
  </p:cSld>
</p:sld>
</file>

<file path=ppt/slides/slide45.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8" name="Text Артық шығынсыз жазылым таңда">
            <a:extLst xmlns:a="http://schemas.openxmlformats.org/drawingml/2006/main">
              <a:ext uri="{FF2B5EF4-FFF2-40B4-BE49-F238E27FC236}">
                <a16:creationId xmlns:a16="http://schemas.microsoft.com/office/drawing/2014/main" id="{6D5750A6-FDE5-4345-9686-BE68701A99FE}"/>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Артық шығынсыз жазылым таңдау</a:t>
            </a:r>
          </a:p>
        </p:txBody>
      </p:sp>
      <p:sp>
        <p:nvSpPr>
          <p:cNvPr id="2" name="Plans page 44">
            <a:extLst xmlns:a="http://schemas.openxmlformats.org/drawingml/2006/main">
              <a:ext uri="{FF2B5EF4-FFF2-40B4-BE49-F238E27FC236}">
                <a16:creationId xmlns:a16="http://schemas.microsoft.com/office/drawing/2014/main" id="{C63FED6F-ACFC-4293-A8DD-CAB63955A288}"/>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45</a:t>
            </a:r>
          </a:p>
        </p:txBody>
      </p:sp>
      <p:sp>
        <p:nvSpPr>
          <p:cNvPr id="3" name="Text 1. Үш міндетім: не істеймін ">
            <a:extLst xmlns:a="http://schemas.openxmlformats.org/drawingml/2006/main">
              <a:ext uri="{FF2B5EF4-FFF2-40B4-BE49-F238E27FC236}">
                <a16:creationId xmlns:a16="http://schemas.microsoft.com/office/drawing/2014/main" id="{261115A0-8510-4ABE-A687-46AD7C782867}"/>
              </a:ext>
            </a:extLst>
          </p:cNvPr>
          <p:cNvSpPr>
            <a:spLocks xmlns:a="http://schemas.openxmlformats.org/drawingml/2006/main" noGrp="1"/>
          </p:cNvSpPr>
          <p:nvPr/>
        </p:nvSpPr>
        <p:spPr>
          <a:xfrm xmlns:a="http://schemas.openxmlformats.org/drawingml/2006/main">
            <a:off x="704850" y="158115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456B24"/>
                </a:solidFill>
                <a:latin typeface="Arial"/>
                <a:ea typeface="Arial"/>
                <a:cs typeface="Arial"/>
              </a:defRPr>
            </a:pPr>
            <a:r>
              <a:rPr sz="2400" b="1">
                <a:solidFill>
                  <a:srgbClr val="456B24"/>
                </a:solidFill>
                <a:latin typeface="Arial"/>
                <a:ea typeface="Arial"/>
                <a:cs typeface="Arial"/>
              </a:rPr>
              <a:t>1. Үш міндетім: не істеймін және қаншалықты жиі.</a:t>
            </a:r>
          </a:p>
        </p:txBody>
      </p:sp>
      <p:sp>
        <p:nvSpPr>
          <p:cNvPr id="4" name="Text 2. Тегін сынау: не шықты, не">
            <a:extLst xmlns:a="http://schemas.openxmlformats.org/drawingml/2006/main">
              <a:ext uri="{FF2B5EF4-FFF2-40B4-BE49-F238E27FC236}">
                <a16:creationId xmlns:a16="http://schemas.microsoft.com/office/drawing/2014/main" id="{E8942D32-4B39-4793-95B8-D7649582A526}"/>
              </a:ext>
            </a:extLst>
          </p:cNvPr>
          <p:cNvSpPr>
            <a:spLocks xmlns:a="http://schemas.openxmlformats.org/drawingml/2006/main" noGrp="1"/>
          </p:cNvSpPr>
          <p:nvPr/>
        </p:nvSpPr>
        <p:spPr>
          <a:xfrm xmlns:a="http://schemas.openxmlformats.org/drawingml/2006/main">
            <a:off x="704850" y="257175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2030"/>
                </a:solidFill>
                <a:latin typeface="Arial"/>
                <a:ea typeface="Arial"/>
                <a:cs typeface="Arial"/>
              </a:defRPr>
            </a:pPr>
            <a:r>
              <a:rPr sz="2400" b="0">
                <a:solidFill>
                  <a:srgbClr val="172030"/>
                </a:solidFill>
                <a:latin typeface="Arial"/>
                <a:ea typeface="Arial"/>
                <a:cs typeface="Arial"/>
              </a:rPr>
              <a:t>2. Тегін сынау: не шықты, не жетіспеді.</a:t>
            </a:r>
          </a:p>
        </p:txBody>
      </p:sp>
      <p:sp>
        <p:nvSpPr>
          <p:cNvPr id="5" name="Text 3. Нақты функция қажет болса">
            <a:extLst xmlns:a="http://schemas.openxmlformats.org/drawingml/2006/main">
              <a:ext uri="{FF2B5EF4-FFF2-40B4-BE49-F238E27FC236}">
                <a16:creationId xmlns:a16="http://schemas.microsoft.com/office/drawing/2014/main" id="{9F923AEF-C41A-432B-8FD5-1270419CF3DD}"/>
              </a:ext>
            </a:extLst>
          </p:cNvPr>
          <p:cNvSpPr>
            <a:spLocks xmlns:a="http://schemas.openxmlformats.org/drawingml/2006/main" noGrp="1"/>
          </p:cNvSpPr>
          <p:nvPr/>
        </p:nvSpPr>
        <p:spPr>
          <a:xfrm xmlns:a="http://schemas.openxmlformats.org/drawingml/2006/main">
            <a:off x="704850" y="356235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456B24"/>
                </a:solidFill>
                <a:latin typeface="Arial"/>
                <a:ea typeface="Arial"/>
                <a:cs typeface="Arial"/>
              </a:defRPr>
            </a:pPr>
            <a:r>
              <a:rPr sz="2400" b="1">
                <a:solidFill>
                  <a:srgbClr val="456B24"/>
                </a:solidFill>
                <a:latin typeface="Arial"/>
                <a:ea typeface="Arial"/>
                <a:cs typeface="Arial"/>
              </a:rPr>
              <a:t>3. Нақты функция қажет болса, бір ақылы ай.</a:t>
            </a:r>
          </a:p>
        </p:txBody>
      </p:sp>
      <p:sp>
        <p:nvSpPr>
          <p:cNvPr id="6" name="Text 4. Соманы, лимитті және келе">
            <a:extLst xmlns:a="http://schemas.openxmlformats.org/drawingml/2006/main">
              <a:ext uri="{FF2B5EF4-FFF2-40B4-BE49-F238E27FC236}">
                <a16:creationId xmlns:a16="http://schemas.microsoft.com/office/drawing/2014/main" id="{BD649CDA-BF86-414E-B067-AC54B058363F}"/>
              </a:ext>
            </a:extLst>
          </p:cNvPr>
          <p:cNvSpPr>
            <a:spLocks xmlns:a="http://schemas.openxmlformats.org/drawingml/2006/main" noGrp="1"/>
          </p:cNvSpPr>
          <p:nvPr/>
        </p:nvSpPr>
        <p:spPr>
          <a:xfrm xmlns:a="http://schemas.openxmlformats.org/drawingml/2006/main">
            <a:off x="704850" y="455295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2030"/>
                </a:solidFill>
                <a:latin typeface="Arial"/>
                <a:ea typeface="Arial"/>
                <a:cs typeface="Arial"/>
              </a:defRPr>
            </a:pPr>
            <a:r>
              <a:rPr sz="2400" b="0">
                <a:solidFill>
                  <a:srgbClr val="172030"/>
                </a:solidFill>
                <a:latin typeface="Arial"/>
                <a:ea typeface="Arial"/>
                <a:cs typeface="Arial"/>
              </a:rPr>
              <a:t>4. Соманы, лимитті және келесі төлемді тексеру.</a:t>
            </a:r>
          </a:p>
        </p:txBody>
      </p:sp>
      <p:sp>
        <p:nvSpPr>
          <p:cNvPr id="7" name="Text Кітапханада: №49 сұрау нұсқа">
            <a:extLst xmlns:a="http://schemas.openxmlformats.org/drawingml/2006/main">
              <a:ext uri="{FF2B5EF4-FFF2-40B4-BE49-F238E27FC236}">
                <a16:creationId xmlns:a16="http://schemas.microsoft.com/office/drawing/2014/main" id="{FDF65A92-329A-4A50-884E-595B48102B07}"/>
              </a:ext>
            </a:extLst>
          </p:cNvPr>
          <p:cNvSpPr>
            <a:spLocks xmlns:a="http://schemas.openxmlformats.org/drawingml/2006/main" noGrp="1"/>
          </p:cNvSpPr>
          <p:nvPr/>
        </p:nvSpPr>
        <p:spPr>
          <a:xfrm xmlns:a="http://schemas.openxmlformats.org/drawingml/2006/main">
            <a:off x="704850" y="59150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96273"/>
                </a:solidFill>
                <a:latin typeface="Arial"/>
                <a:ea typeface="Arial"/>
                <a:cs typeface="Arial"/>
              </a:defRPr>
            </a:pPr>
            <a:r>
              <a:rPr sz="1875" b="0">
                <a:solidFill>
                  <a:srgbClr val="596273"/>
                </a:solidFill>
                <a:latin typeface="Arial"/>
                <a:ea typeface="Arial"/>
                <a:cs typeface="Arial"/>
              </a:rPr>
              <a:t>Кітапханада: №49 сұрау нұсқаларыңызды салыстыруға көмектеседі.</a:t>
            </a:r>
          </a:p>
        </p:txBody>
      </p:sp>
    </p:spTree>
    <p:extLst>
      <p:ext uri="{BB962C8B-B14F-4D97-AF65-F5344CB8AC3E}">
        <p14:creationId xmlns:p14="http://schemas.microsoft.com/office/powerpoint/2010/main" val="119044293"/>
      </p:ext>
    </p:extLst>
  </p:cSld>
</p:sld>
</file>

<file path=ppt/slides/slide46.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6" name="Text ЖИ көмегімен өз сайтыңыз">
            <a:extLst xmlns:a="http://schemas.openxmlformats.org/drawingml/2006/main">
              <a:ext uri="{FF2B5EF4-FFF2-40B4-BE49-F238E27FC236}">
                <a16:creationId xmlns:a16="http://schemas.microsoft.com/office/drawing/2014/main" id="{5DCB3E3B-1D08-4110-A5B4-C1688B7888DC}"/>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ЖИ көмегімен өз сайтыңыз</a:t>
            </a:r>
          </a:p>
        </p:txBody>
      </p:sp>
      <p:sp>
        <p:nvSpPr>
          <p:cNvPr id="2" name="Plans page 45">
            <a:extLst xmlns:a="http://schemas.openxmlformats.org/drawingml/2006/main">
              <a:ext uri="{FF2B5EF4-FFF2-40B4-BE49-F238E27FC236}">
                <a16:creationId xmlns:a16="http://schemas.microsoft.com/office/drawing/2014/main" id="{DF50CA6B-6C77-47A3-98BD-C8EFEA390B6C}"/>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46</a:t>
            </a:r>
          </a:p>
        </p:txBody>
      </p:sp>
      <p:sp>
        <p:nvSpPr>
          <p:cNvPr id="3" name="Text Идея → алғашқы файл → қарау ">
            <a:extLst xmlns:a="http://schemas.openxmlformats.org/drawingml/2006/main">
              <a:ext uri="{FF2B5EF4-FFF2-40B4-BE49-F238E27FC236}">
                <a16:creationId xmlns:a16="http://schemas.microsoft.com/office/drawing/2014/main" id="{FAF8869C-5B79-4E0E-AF60-FF256BFDA5F3}"/>
              </a:ext>
            </a:extLst>
          </p:cNvPr>
          <p:cNvSpPr>
            <a:spLocks xmlns:a="http://schemas.openxmlformats.org/drawingml/2006/main" noGrp="1"/>
          </p:cNvSpPr>
          <p:nvPr/>
        </p:nvSpPr>
        <p:spPr>
          <a:xfrm xmlns:a="http://schemas.openxmlformats.org/drawingml/2006/main">
            <a:off x="704850" y="15144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456B24"/>
                </a:solidFill>
                <a:latin typeface="Arial"/>
                <a:ea typeface="Arial"/>
                <a:cs typeface="Arial"/>
              </a:defRPr>
            </a:pPr>
            <a:r>
              <a:rPr sz="2475" b="1">
                <a:solidFill>
                  <a:srgbClr val="456B24"/>
                </a:solidFill>
                <a:latin typeface="Arial"/>
                <a:ea typeface="Arial"/>
                <a:cs typeface="Arial"/>
              </a:rPr>
              <a:t>Идея → алғашқы файл → қарау → нақты түзету</a:t>
            </a:r>
          </a:p>
        </p:txBody>
      </p:sp>
      <p:sp>
        <p:nvSpPr>
          <p:cNvPr id="4" name="Text «Хоббиім туралы бет жаса. Мә">
            <a:extLst xmlns:a="http://schemas.openxmlformats.org/drawingml/2006/main">
              <a:ext uri="{FF2B5EF4-FFF2-40B4-BE49-F238E27FC236}">
                <a16:creationId xmlns:a16="http://schemas.microsoft.com/office/drawing/2014/main" id="{26285145-0CE6-4FFC-A1CB-FCD73E4F6473}"/>
              </a:ext>
            </a:extLst>
          </p:cNvPr>
          <p:cNvSpPr>
            <a:spLocks xmlns:a="http://schemas.openxmlformats.org/drawingml/2006/main" noGrp="1"/>
          </p:cNvSpPr>
          <p:nvPr/>
        </p:nvSpPr>
        <p:spPr>
          <a:xfrm xmlns:a="http://schemas.openxmlformats.org/drawingml/2006/main">
            <a:off x="704850" y="2714625"/>
            <a:ext cx="10668000" cy="2105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172030"/>
                </a:solidFill>
                <a:latin typeface="Arial"/>
                <a:ea typeface="Arial"/>
                <a:cs typeface="Arial"/>
              </a:defRPr>
            </a:pPr>
            <a:r>
              <a:rPr sz="2550" b="0">
                <a:solidFill>
                  <a:srgbClr val="172030"/>
                </a:solidFill>
                <a:latin typeface="Arial"/>
                <a:ea typeface="Arial"/>
                <a:cs typeface="Arial"/>
              </a:rPr>
              <a:t>«Хоббиім туралы бет жаса. Мәтіні ірі, үш бөлімі бар, телефонда ыңғайлы болсын. Тіркелусіз және сыртқы кітапханасыз бір index.html дайында». </a:t>
            </a:r>
          </a:p>
        </p:txBody>
      </p:sp>
      <p:sp>
        <p:nvSpPr>
          <p:cNvPr id="5" name="Text Жергілікті файл өзіңізде ашы">
            <a:extLst xmlns:a="http://schemas.openxmlformats.org/drawingml/2006/main">
              <a:ext uri="{FF2B5EF4-FFF2-40B4-BE49-F238E27FC236}">
                <a16:creationId xmlns:a16="http://schemas.microsoft.com/office/drawing/2014/main" id="{7BFC9384-4962-4489-B2F3-FBB11A9EA902}"/>
              </a:ext>
            </a:extLst>
          </p:cNvPr>
          <p:cNvSpPr>
            <a:spLocks xmlns:a="http://schemas.openxmlformats.org/drawingml/2006/main" noGrp="1"/>
          </p:cNvSpPr>
          <p:nvPr/>
        </p:nvSpPr>
        <p:spPr>
          <a:xfrm xmlns:a="http://schemas.openxmlformats.org/drawingml/2006/main">
            <a:off x="704850" y="53435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2030"/>
                </a:solidFill>
                <a:latin typeface="Arial"/>
                <a:ea typeface="Arial"/>
                <a:cs typeface="Arial"/>
              </a:defRPr>
            </a:pPr>
            <a:r>
              <a:rPr sz="2175" b="0">
                <a:solidFill>
                  <a:srgbClr val="172030"/>
                </a:solidFill>
                <a:latin typeface="Arial"/>
                <a:ea typeface="Arial"/>
                <a:cs typeface="Arial"/>
              </a:rPr>
              <a:t>Жергілікті файл өзіңізде ашылады. Сілтеме үшін жариялау қажет.</a:t>
            </a:r>
          </a:p>
        </p:txBody>
      </p:sp>
    </p:spTree>
    <p:extLst>
      <p:ext uri="{BB962C8B-B14F-4D97-AF65-F5344CB8AC3E}">
        <p14:creationId xmlns:p14="http://schemas.microsoft.com/office/powerpoint/2010/main" val="1248989360"/>
      </p:ext>
    </p:extLst>
  </p:cSld>
</p:sld>
</file>

<file path=ppt/slides/slide47.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6" name="Text Балаға сабақ оқуға көмектесу">
            <a:extLst xmlns:a="http://schemas.openxmlformats.org/drawingml/2006/main">
              <a:ext uri="{FF2B5EF4-FFF2-40B4-BE49-F238E27FC236}">
                <a16:creationId xmlns:a16="http://schemas.microsoft.com/office/drawing/2014/main" id="{10E1EDA5-EFA1-423F-8C7D-A274E3AB2A4F}"/>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Балаға сабақ оқуға көмектесу</a:t>
            </a:r>
          </a:p>
        </p:txBody>
      </p:sp>
      <p:sp>
        <p:nvSpPr>
          <p:cNvPr id="2" name="Plans page 46">
            <a:extLst xmlns:a="http://schemas.openxmlformats.org/drawingml/2006/main">
              <a:ext uri="{FF2B5EF4-FFF2-40B4-BE49-F238E27FC236}">
                <a16:creationId xmlns:a16="http://schemas.microsoft.com/office/drawing/2014/main" id="{5236956B-F6A4-4321-8DD6-7E145F9AAE13}"/>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47</a:t>
            </a:r>
          </a:p>
        </p:txBody>
      </p:sp>
      <p:sp>
        <p:nvSpPr>
          <p:cNvPr id="3" name="Text Бір қате → түсінікті түсінді">
            <a:extLst xmlns:a="http://schemas.openxmlformats.org/drawingml/2006/main">
              <a:ext uri="{FF2B5EF4-FFF2-40B4-BE49-F238E27FC236}">
                <a16:creationId xmlns:a16="http://schemas.microsoft.com/office/drawing/2014/main" id="{CF39233F-D78E-46E1-A3B4-336E72CECFC7}"/>
              </a:ext>
            </a:extLst>
          </p:cNvPr>
          <p:cNvSpPr>
            <a:spLocks xmlns:a="http://schemas.openxmlformats.org/drawingml/2006/main" noGrp="1"/>
          </p:cNvSpPr>
          <p:nvPr/>
        </p:nvSpPr>
        <p:spPr>
          <a:xfrm xmlns:a="http://schemas.openxmlformats.org/drawingml/2006/main">
            <a:off x="704850" y="15144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456B24"/>
                </a:solidFill>
                <a:latin typeface="Arial"/>
                <a:ea typeface="Arial"/>
                <a:cs typeface="Arial"/>
              </a:defRPr>
            </a:pPr>
            <a:r>
              <a:rPr sz="2400" b="1">
                <a:solidFill>
                  <a:srgbClr val="456B24"/>
                </a:solidFill>
                <a:latin typeface="Arial"/>
                <a:ea typeface="Arial"/>
                <a:cs typeface="Arial"/>
              </a:rPr>
              <a:t>Бір қате → түсінікті түсіндірме → ұқсас есептер</a:t>
            </a:r>
          </a:p>
        </p:txBody>
      </p:sp>
      <p:sp>
        <p:nvSpPr>
          <p:cNvPr id="4" name="Text «[Сынып] үшін [тақырып] бойы">
            <a:extLst xmlns:a="http://schemas.openxmlformats.org/drawingml/2006/main">
              <a:ext uri="{FF2B5EF4-FFF2-40B4-BE49-F238E27FC236}">
                <a16:creationId xmlns:a16="http://schemas.microsoft.com/office/drawing/2014/main" id="{EA2A8D4E-F9E5-4EAF-872F-5031C7768BF9}"/>
              </a:ext>
            </a:extLst>
          </p:cNvPr>
          <p:cNvSpPr>
            <a:spLocks xmlns:a="http://schemas.openxmlformats.org/drawingml/2006/main" noGrp="1"/>
          </p:cNvSpPr>
          <p:nvPr/>
        </p:nvSpPr>
        <p:spPr>
          <a:xfrm xmlns:a="http://schemas.openxmlformats.org/drawingml/2006/main">
            <a:off x="704850" y="2771775"/>
            <a:ext cx="10668000" cy="201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172030"/>
                </a:solidFill>
                <a:latin typeface="Arial"/>
                <a:ea typeface="Arial"/>
                <a:cs typeface="Arial"/>
              </a:defRPr>
            </a:pPr>
            <a:r>
              <a:rPr sz="2550" b="0">
                <a:solidFill>
                  <a:srgbClr val="172030"/>
                </a:solidFill>
                <a:latin typeface="Arial"/>
                <a:ea typeface="Arial"/>
                <a:cs typeface="Arial"/>
              </a:rPr>
              <a:t>«[Сынып] үшін [тақырып] бойынша 30 есеп жаса: 10 есептен үш деңгей. Алдымен жауапсыз алғашқы 10 есепті бер. Шешімі бар кілт ата-анаға бөлек болсын». </a:t>
            </a:r>
          </a:p>
        </p:txBody>
      </p:sp>
      <p:sp>
        <p:nvSpPr>
          <p:cNvPr id="5" name="Text Ата-ана жауап кілтін тексере">
            <a:extLst xmlns:a="http://schemas.openxmlformats.org/drawingml/2006/main">
              <a:ext uri="{FF2B5EF4-FFF2-40B4-BE49-F238E27FC236}">
                <a16:creationId xmlns:a16="http://schemas.microsoft.com/office/drawing/2014/main" id="{68E2789D-4D6F-4073-8A23-022C6EF996AA}"/>
              </a:ext>
            </a:extLst>
          </p:cNvPr>
          <p:cNvSpPr>
            <a:spLocks xmlns:a="http://schemas.openxmlformats.org/drawingml/2006/main" noGrp="1"/>
          </p:cNvSpPr>
          <p:nvPr/>
        </p:nvSpPr>
        <p:spPr>
          <a:xfrm xmlns:a="http://schemas.openxmlformats.org/drawingml/2006/main">
            <a:off x="704850" y="529590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72030"/>
                </a:solidFill>
                <a:latin typeface="Arial"/>
                <a:ea typeface="Arial"/>
                <a:cs typeface="Arial"/>
              </a:defRPr>
            </a:pPr>
            <a:r>
              <a:rPr sz="2250" b="0">
                <a:solidFill>
                  <a:srgbClr val="172030"/>
                </a:solidFill>
                <a:latin typeface="Arial"/>
                <a:ea typeface="Arial"/>
                <a:cs typeface="Arial"/>
              </a:rPr>
              <a:t>Ата-ана жауап кілтін тексереді. Бала бір жолы 5–10 есеп шығарады.</a:t>
            </a:r>
          </a:p>
        </p:txBody>
      </p:sp>
    </p:spTree>
    <p:extLst>
      <p:ext uri="{BB962C8B-B14F-4D97-AF65-F5344CB8AC3E}">
        <p14:creationId xmlns:p14="http://schemas.microsoft.com/office/powerpoint/2010/main" val="1128782619"/>
      </p:ext>
    </p:extLst>
  </p:cSld>
</p:sld>
</file>

<file path=ppt/slides/slide48.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6" name="Text 30 сұраудан тұратын кітапхан">
            <a:extLst xmlns:a="http://schemas.openxmlformats.org/drawingml/2006/main">
              <a:ext uri="{FF2B5EF4-FFF2-40B4-BE49-F238E27FC236}">
                <a16:creationId xmlns:a16="http://schemas.microsoft.com/office/drawing/2014/main" id="{DFDFD283-E267-46EB-B297-253E6C819954}"/>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60 сценарийден тұратын кітапхана</a:t>
            </a:r>
          </a:p>
        </p:txBody>
      </p:sp>
      <p:sp>
        <p:nvSpPr>
          <p:cNvPr id="2" name="Text 31">
            <a:extLst xmlns:a="http://schemas.openxmlformats.org/drawingml/2006/main">
              <a:ext uri="{FF2B5EF4-FFF2-40B4-BE49-F238E27FC236}">
                <a16:creationId xmlns:a16="http://schemas.microsoft.com/office/drawing/2014/main" id="{25F255D2-3E0F-47F7-B377-1C3CF6C4FA2B}"/>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48</a:t>
            </a:r>
          </a:p>
        </p:txBody>
      </p:sp>
      <p:sp>
        <p:nvSpPr>
          <p:cNvPr id="3" name="Text AI-library-KZ-RU.html">
            <a:extLst xmlns:a="http://schemas.openxmlformats.org/drawingml/2006/main">
              <a:ext uri="{FF2B5EF4-FFF2-40B4-BE49-F238E27FC236}">
                <a16:creationId xmlns:a16="http://schemas.microsoft.com/office/drawing/2014/main" id="{E8536CEA-0D8A-4416-ABB9-8EE0CA50CBB2}"/>
              </a:ext>
            </a:extLst>
          </p:cNvPr>
          <p:cNvSpPr>
            <a:spLocks xmlns:a="http://schemas.openxmlformats.org/drawingml/2006/main" noGrp="1"/>
          </p:cNvSpPr>
          <p:nvPr/>
        </p:nvSpPr>
        <p:spPr>
          <a:xfrm xmlns:a="http://schemas.openxmlformats.org/drawingml/2006/main">
            <a:off x="704850" y="15621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456B24"/>
                </a:solidFill>
                <a:latin typeface="Arial"/>
                <a:ea typeface="Arial"/>
                <a:cs typeface="Arial"/>
              </a:defRPr>
            </a:pPr>
            <a:r>
              <a:rPr sz="2700" b="1">
                <a:solidFill>
                  <a:srgbClr val="456B24"/>
                </a:solidFill>
                <a:latin typeface="Arial"/>
                <a:ea typeface="Arial"/>
                <a:cs typeface="Arial"/>
              </a:rPr>
              <a:t>AI-library-KZ-RU.html</a:t>
            </a:r>
          </a:p>
        </p:txBody>
      </p:sp>
      <p:sp>
        <p:nvSpPr>
          <p:cNvPr id="4" name="Text Бір файл&#10;&#10;Қазақша / Русский&#10;">
            <a:extLst xmlns:a="http://schemas.openxmlformats.org/drawingml/2006/main">
              <a:ext uri="{FF2B5EF4-FFF2-40B4-BE49-F238E27FC236}">
                <a16:creationId xmlns:a16="http://schemas.microsoft.com/office/drawing/2014/main" id="{CF05946F-6C5B-4D31-B14D-E6A4C8E65F21}"/>
              </a:ext>
            </a:extLst>
          </p:cNvPr>
          <p:cNvSpPr>
            <a:spLocks xmlns:a="http://schemas.openxmlformats.org/drawingml/2006/main" noGrp="1"/>
          </p:cNvSpPr>
          <p:nvPr/>
        </p:nvSpPr>
        <p:spPr>
          <a:xfrm xmlns:a="http://schemas.openxmlformats.org/drawingml/2006/main">
            <a:off x="704850" y="2524125"/>
            <a:ext cx="5619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456B24"/>
                </a:solidFill>
                <a:latin typeface="Arial"/>
                <a:ea typeface="Arial"/>
                <a:cs typeface="Arial"/>
              </a:defRPr>
            </a:pPr>
            <a:r>
              <a:rPr sz="2925" b="1">
                <a:solidFill>
                  <a:srgbClr val="456B24"/>
                </a:solidFill>
                <a:latin typeface="Arial"/>
                <a:ea typeface="Arial"/>
                <a:cs typeface="Arial"/>
              </a:rPr>
              <a:t>Бір файл</a:t>
            </a:r>
          </a:p>
          <a:p xmlns:a="http://schemas.openxmlformats.org/drawingml/2006/main">
            <a:r>
              <a:t/>
            </a:r>
          </a:p>
          <a:p xmlns:a="http://schemas.openxmlformats.org/drawingml/2006/main">
            <a:pPr>
              <a:buNone/>
              <a:defRPr sz="2925" b="1">
                <a:solidFill>
                  <a:srgbClr val="456B24"/>
                </a:solidFill>
                <a:latin typeface="Arial"/>
                <a:ea typeface="Arial"/>
                <a:cs typeface="Arial"/>
              </a:defRPr>
            </a:pPr>
            <a:r>
              <a:rPr sz="2925" b="1">
                <a:solidFill>
                  <a:srgbClr val="456B24"/>
                </a:solidFill>
                <a:latin typeface="Arial"/>
                <a:ea typeface="Arial"/>
                <a:cs typeface="Arial"/>
              </a:rPr>
              <a:t>Қазақша / Русский</a:t>
            </a:r>
          </a:p>
          <a:p xmlns:a="http://schemas.openxmlformats.org/drawingml/2006/main">
            <a:r>
              <a:t/>
            </a:r>
          </a:p>
          <a:p xmlns:a="http://schemas.openxmlformats.org/drawingml/2006/main">
            <a:pPr>
              <a:buNone/>
              <a:defRPr sz="2925" b="1">
                <a:solidFill>
                  <a:srgbClr val="456B24"/>
                </a:solidFill>
                <a:latin typeface="Arial"/>
                <a:ea typeface="Arial"/>
                <a:cs typeface="Arial"/>
              </a:defRPr>
            </a:pPr>
            <a:r>
              <a:rPr sz="2925" b="1">
                <a:solidFill>
                  <a:srgbClr val="456B24"/>
                </a:solidFill>
                <a:latin typeface="Arial"/>
                <a:ea typeface="Arial"/>
                <a:cs typeface="Arial"/>
              </a:rPr>
              <a:t>60 дайын сұрау</a:t>
            </a:r>
          </a:p>
        </p:txBody>
      </p:sp>
      <p:sp>
        <p:nvSpPr>
          <p:cNvPr id="5" name="Text Тілді және мазмұннан&#10;тақырып">
            <a:extLst xmlns:a="http://schemas.openxmlformats.org/drawingml/2006/main">
              <a:ext uri="{FF2B5EF4-FFF2-40B4-BE49-F238E27FC236}">
                <a16:creationId xmlns:a16="http://schemas.microsoft.com/office/drawing/2014/main" id="{35B29D7C-8E0B-4D1F-A534-A62B9E11BB11}"/>
              </a:ext>
            </a:extLst>
          </p:cNvPr>
          <p:cNvSpPr>
            <a:spLocks xmlns:a="http://schemas.openxmlformats.org/drawingml/2006/main" noGrp="1"/>
          </p:cNvSpPr>
          <p:nvPr/>
        </p:nvSpPr>
        <p:spPr>
          <a:xfrm xmlns:a="http://schemas.openxmlformats.org/drawingml/2006/main">
            <a:off x="6953250" y="2543175"/>
            <a:ext cx="4429125"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456B24"/>
                </a:solidFill>
                <a:latin typeface="Arial"/>
                <a:ea typeface="Arial"/>
                <a:cs typeface="Arial"/>
              </a:defRPr>
            </a:pPr>
            <a:r>
              <a:rPr sz="2325" b="1">
                <a:solidFill>
                  <a:srgbClr val="456B24"/>
                </a:solidFill>
                <a:latin typeface="Arial"/>
                <a:ea typeface="Arial"/>
                <a:cs typeface="Arial"/>
              </a:rPr>
              <a:t>Тілді және мазмұннан</a:t>
            </a:r>
          </a:p>
          <a:p xmlns:a="http://schemas.openxmlformats.org/drawingml/2006/main">
            <a:pPr>
              <a:buNone/>
              <a:defRPr sz="2325" b="1">
                <a:solidFill>
                  <a:srgbClr val="456B24"/>
                </a:solidFill>
                <a:latin typeface="Arial"/>
                <a:ea typeface="Arial"/>
                <a:cs typeface="Arial"/>
              </a:defRPr>
            </a:pPr>
            <a:r>
              <a:rPr sz="2325" b="1">
                <a:solidFill>
                  <a:srgbClr val="456B24"/>
                </a:solidFill>
                <a:latin typeface="Arial"/>
                <a:ea typeface="Arial"/>
                <a:cs typeface="Arial"/>
              </a:rPr>
              <a:t>тақырыпты таңдаңыз</a:t>
            </a:r>
          </a:p>
          <a:p xmlns:a="http://schemas.openxmlformats.org/drawingml/2006/main">
            <a:r>
              <a:t/>
            </a:r>
          </a:p>
          <a:p xmlns:a="http://schemas.openxmlformats.org/drawingml/2006/main">
            <a:pPr>
              <a:buNone/>
              <a:defRPr sz="2325" b="1">
                <a:solidFill>
                  <a:srgbClr val="456B24"/>
                </a:solidFill>
                <a:latin typeface="Arial"/>
                <a:ea typeface="Arial"/>
                <a:cs typeface="Arial"/>
              </a:defRPr>
            </a:pPr>
            <a:r>
              <a:rPr sz="2325" b="1">
                <a:solidFill>
                  <a:srgbClr val="456B24"/>
                </a:solidFill>
                <a:latin typeface="Arial"/>
                <a:ea typeface="Arial"/>
                <a:cs typeface="Arial"/>
              </a:rPr>
              <a:t>Сұрауды таңдалған</a:t>
            </a:r>
          </a:p>
          <a:p xmlns:a="http://schemas.openxmlformats.org/drawingml/2006/main">
            <a:pPr>
              <a:buNone/>
              <a:defRPr sz="2325" b="1">
                <a:solidFill>
                  <a:srgbClr val="456B24"/>
                </a:solidFill>
                <a:latin typeface="Arial"/>
                <a:ea typeface="Arial"/>
                <a:cs typeface="Arial"/>
              </a:defRPr>
            </a:pPr>
            <a:r>
              <a:rPr sz="2325" b="1">
                <a:solidFill>
                  <a:srgbClr val="456B24"/>
                </a:solidFill>
                <a:latin typeface="Arial"/>
                <a:ea typeface="Arial"/>
                <a:cs typeface="Arial"/>
              </a:rPr>
              <a:t>сервиске көшіріңіз</a:t>
            </a:r>
          </a:p>
          <a:p xmlns:a="http://schemas.openxmlformats.org/drawingml/2006/main">
            <a:r>
              <a:t/>
            </a:r>
          </a:p>
          <a:p xmlns:a="http://schemas.openxmlformats.org/drawingml/2006/main">
            <a:pPr>
              <a:buNone/>
              <a:defRPr sz="2325" b="1">
                <a:solidFill>
                  <a:srgbClr val="456B24"/>
                </a:solidFill>
                <a:latin typeface="Arial"/>
                <a:ea typeface="Arial"/>
                <a:cs typeface="Arial"/>
              </a:defRPr>
            </a:pPr>
            <a:r>
              <a:rPr sz="2325" b="1">
                <a:solidFill>
                  <a:srgbClr val="456B24"/>
                </a:solidFill>
                <a:latin typeface="Arial"/>
                <a:ea typeface="Arial"/>
                <a:cs typeface="Arial"/>
              </a:rPr>
              <a:t>Нәтижені тексеріңіз</a:t>
            </a:r>
          </a:p>
        </p:txBody>
      </p:sp>
    </p:spTree>
    <p:extLst>
      <p:ext uri="{BB962C8B-B14F-4D97-AF65-F5344CB8AC3E}">
        <p14:creationId xmlns:p14="http://schemas.microsoft.com/office/powerpoint/2010/main" val="1465723587"/>
      </p:ext>
    </p:extLst>
  </p:cSld>
</p:sld>
</file>

<file path=ppt/slides/slide49.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5" name="Text Ертең нені қайталайсыз">
            <a:extLst xmlns:a="http://schemas.openxmlformats.org/drawingml/2006/main">
              <a:ext uri="{FF2B5EF4-FFF2-40B4-BE49-F238E27FC236}">
                <a16:creationId xmlns:a16="http://schemas.microsoft.com/office/drawing/2014/main" id="{49AFDF1A-05E5-4B0E-823C-651A4A929F30}"/>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030"/>
                </a:solidFill>
                <a:latin typeface="Arial"/>
                <a:ea typeface="Arial"/>
                <a:cs typeface="Arial"/>
              </a:defRPr>
            </a:pPr>
            <a:r>
              <a:rPr sz="3225" b="1">
                <a:solidFill>
                  <a:srgbClr val="172030"/>
                </a:solidFill>
                <a:latin typeface="Arial"/>
                <a:ea typeface="Arial"/>
                <a:cs typeface="Arial"/>
              </a:rPr>
              <a:t>Ертең нені қайталайсыз</a:t>
            </a:r>
          </a:p>
        </p:txBody>
      </p:sp>
      <p:sp>
        <p:nvSpPr>
          <p:cNvPr id="2" name="Text 32">
            <a:extLst xmlns:a="http://schemas.openxmlformats.org/drawingml/2006/main">
              <a:ext uri="{FF2B5EF4-FFF2-40B4-BE49-F238E27FC236}">
                <a16:creationId xmlns:a16="http://schemas.microsoft.com/office/drawing/2014/main" id="{2B764EC0-8995-464B-B9DD-65AE185098E8}"/>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96273"/>
                </a:solidFill>
                <a:latin typeface="Arial"/>
                <a:ea typeface="Arial"/>
                <a:cs typeface="Arial"/>
              </a:defRPr>
            </a:pPr>
            <a:r>
              <a:rPr sz="1425" b="0">
                <a:solidFill>
                  <a:srgbClr val="596273"/>
                </a:solidFill>
                <a:latin typeface="Arial"/>
                <a:ea typeface="Arial"/>
                <a:cs typeface="Arial"/>
              </a:rPr>
              <a:t>49</a:t>
            </a:r>
          </a:p>
        </p:txBody>
      </p:sp>
      <p:sp>
        <p:nvSpPr>
          <p:cNvPr id="3" name="Text Бір міндет.&#10;Өз сұрауыңыз.&#10;Те">
            <a:extLst xmlns:a="http://schemas.openxmlformats.org/drawingml/2006/main">
              <a:ext uri="{FF2B5EF4-FFF2-40B4-BE49-F238E27FC236}">
                <a16:creationId xmlns:a16="http://schemas.microsoft.com/office/drawing/2014/main" id="{5BEFD3D4-8841-4C7D-8EA8-BD02165CF3E5}"/>
              </a:ext>
            </a:extLst>
          </p:cNvPr>
          <p:cNvSpPr>
            <a:spLocks xmlns:a="http://schemas.openxmlformats.org/drawingml/2006/main" noGrp="1"/>
          </p:cNvSpPr>
          <p:nvPr/>
        </p:nvSpPr>
        <p:spPr>
          <a:xfrm xmlns:a="http://schemas.openxmlformats.org/drawingml/2006/main">
            <a:off x="704850" y="1714500"/>
            <a:ext cx="10668000" cy="2552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825" b="1">
                <a:solidFill>
                  <a:srgbClr val="456B24"/>
                </a:solidFill>
                <a:latin typeface="Arial"/>
                <a:ea typeface="Arial"/>
                <a:cs typeface="Arial"/>
              </a:defRPr>
            </a:pPr>
            <a:r>
              <a:rPr sz="3825" b="1">
                <a:solidFill>
                  <a:srgbClr val="456B24"/>
                </a:solidFill>
                <a:latin typeface="Arial"/>
                <a:ea typeface="Arial"/>
                <a:cs typeface="Arial"/>
              </a:rPr>
              <a:t>Бір міндет.</a:t>
            </a:r>
          </a:p>
          <a:p xmlns:a="http://schemas.openxmlformats.org/drawingml/2006/main">
            <a:pPr>
              <a:buNone/>
              <a:defRPr sz="3825" b="1">
                <a:solidFill>
                  <a:srgbClr val="456B24"/>
                </a:solidFill>
                <a:latin typeface="Arial"/>
                <a:ea typeface="Arial"/>
                <a:cs typeface="Arial"/>
              </a:defRPr>
            </a:pPr>
            <a:r>
              <a:rPr sz="3825" b="1">
                <a:solidFill>
                  <a:srgbClr val="456B24"/>
                </a:solidFill>
                <a:latin typeface="Arial"/>
                <a:ea typeface="Arial"/>
                <a:cs typeface="Arial"/>
              </a:rPr>
              <a:t>Өз сұрауыңыз.</a:t>
            </a:r>
          </a:p>
          <a:p xmlns:a="http://schemas.openxmlformats.org/drawingml/2006/main">
            <a:pPr>
              <a:buNone/>
              <a:defRPr sz="3825" b="1">
                <a:solidFill>
                  <a:srgbClr val="456B24"/>
                </a:solidFill>
                <a:latin typeface="Arial"/>
                <a:ea typeface="Arial"/>
                <a:cs typeface="Arial"/>
              </a:defRPr>
            </a:pPr>
            <a:r>
              <a:rPr sz="3825" b="1">
                <a:solidFill>
                  <a:srgbClr val="456B24"/>
                </a:solidFill>
                <a:latin typeface="Arial"/>
                <a:ea typeface="Arial"/>
                <a:cs typeface="Arial"/>
              </a:rPr>
              <a:t>Тексерілген нәтиже.</a:t>
            </a:r>
          </a:p>
        </p:txBody>
      </p:sp>
      <p:sp>
        <p:nvSpPr>
          <p:cNvPr id="4" name="Text Презентация мен кітапхана сі">
            <a:extLst xmlns:a="http://schemas.openxmlformats.org/drawingml/2006/main">
              <a:ext uri="{FF2B5EF4-FFF2-40B4-BE49-F238E27FC236}">
                <a16:creationId xmlns:a16="http://schemas.microsoft.com/office/drawing/2014/main" id="{F0A3027F-6888-457E-AEEA-BEC2765FF31E}"/>
              </a:ext>
            </a:extLst>
          </p:cNvPr>
          <p:cNvSpPr>
            <a:spLocks xmlns:a="http://schemas.openxmlformats.org/drawingml/2006/main" noGrp="1"/>
          </p:cNvSpPr>
          <p:nvPr/>
        </p:nvSpPr>
        <p:spPr>
          <a:xfrm xmlns:a="http://schemas.openxmlformats.org/drawingml/2006/main">
            <a:off x="704850" y="51911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72030"/>
                </a:solidFill>
                <a:latin typeface="Arial"/>
                <a:ea typeface="Arial"/>
                <a:cs typeface="Arial"/>
              </a:defRPr>
            </a:pPr>
            <a:r>
              <a:rPr sz="2325" b="0">
                <a:solidFill>
                  <a:srgbClr val="172030"/>
                </a:solidFill>
                <a:latin typeface="Arial"/>
                <a:ea typeface="Arial"/>
                <a:cs typeface="Arial"/>
              </a:rPr>
              <a:t>Презентация мен кітапхана сізде қалады.</a:t>
            </a:r>
          </a:p>
          <a:p xmlns:a="http://schemas.openxmlformats.org/drawingml/2006/main">
            <a:pPr>
              <a:buNone/>
              <a:defRPr sz="2325" b="0">
                <a:solidFill>
                  <a:srgbClr val="172030"/>
                </a:solidFill>
                <a:latin typeface="Arial"/>
                <a:ea typeface="Arial"/>
                <a:cs typeface="Arial"/>
              </a:defRPr>
            </a:pPr>
            <a:r>
              <a:rPr sz="2325" b="0">
                <a:solidFill>
                  <a:srgbClr val="172030"/>
                </a:solidFill>
                <a:latin typeface="Arial"/>
                <a:ea typeface="Arial"/>
                <a:cs typeface="Arial"/>
              </a:rPr>
              <a:t>Толық практика вебинарда жалғасады.</a:t>
            </a:r>
          </a:p>
        </p:txBody>
      </p:sp>
    </p:spTree>
    <p:extLst>
      <p:ext uri="{BB962C8B-B14F-4D97-AF65-F5344CB8AC3E}">
        <p14:creationId xmlns:p14="http://schemas.microsoft.com/office/powerpoint/2010/main" val="1414921548"/>
      </p:ext>
    </p:extLst>
  </p:cSld>
</p:sld>
</file>

<file path=ppt/slides/slide50.xml><?xml version="1.0" encoding="utf-8"?>
<p:sld xmlns:p="http://schemas.openxmlformats.org/presentationml/2006/main">
  <p:cSld>
    <p:bg>
      <p:bgPr>
        <a:solidFill xmlns:a="http://schemas.openxmlformats.org/drawingml/2006/main">
          <a:srgbClr val="101624"/>
        </a:solidFill>
      </p:bgPr>
    </p:bg>
    <p:spTree>
      <p:nvGrpSpPr>
        <p:cNvPr id="1" name=""/>
        <p:cNvGrpSpPr/>
        <p:nvPr/>
      </p:nvGrpSpPr>
      <p:grpSpPr>
        <a:xfrm xmlns:a="http://schemas.openxmlformats.org/drawingml/2006/main"/>
      </p:grpSpPr>
      <p:sp>
        <p:nvSpPr>
          <p:cNvPr id="10" name="Materials title">
            <a:extLst xmlns:a="http://schemas.openxmlformats.org/drawingml/2006/main">
              <a:ext uri="{FF2B5EF4-FFF2-40B4-BE49-F238E27FC236}">
                <a16:creationId xmlns:a16="http://schemas.microsoft.com/office/drawing/2014/main" id="{8A667AFC-3672-4133-A787-B07DFF50F9A1}"/>
              </a:ext>
            </a:extLst>
          </p:cNvPr>
          <p:cNvSpPr>
            <a:spLocks xmlns:a="http://schemas.openxmlformats.org/drawingml/2006/main" noGrp="1"/>
          </p:cNvSpPr>
          <p:nvPr/>
        </p:nvSpPr>
        <p:spPr>
          <a:xfrm xmlns:a="http://schemas.openxmlformats.org/drawingml/2006/main">
            <a:off x="609600" y="3810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F5F6F1"/>
                </a:solidFill>
                <a:latin typeface="Arial"/>
                <a:ea typeface="Arial"/>
                <a:cs typeface="Arial"/>
              </a:defRPr>
            </a:pPr>
            <a:r>
              <a:rPr sz="3225" b="1">
                <a:solidFill>
                  <a:srgbClr val="F5F6F1"/>
                </a:solidFill>
                <a:latin typeface="Arial"/>
                <a:ea typeface="Arial"/>
                <a:cs typeface="Arial"/>
              </a:rPr>
              <a:t>Шеберлік сабағының материалдары</a:t>
            </a:r>
          </a:p>
        </p:txBody>
      </p:sp>
      <p:sp>
        <p:nvSpPr>
          <p:cNvPr id="2" name="Materials Екі тілдегі презентациял">
            <a:extLst xmlns:a="http://schemas.openxmlformats.org/drawingml/2006/main">
              <a:ext uri="{FF2B5EF4-FFF2-40B4-BE49-F238E27FC236}">
                <a16:creationId xmlns:a16="http://schemas.microsoft.com/office/drawing/2014/main" id="{B33BEF1F-AC7B-4131-BB98-C84ABB29B795}"/>
              </a:ext>
            </a:extLst>
          </p:cNvPr>
          <p:cNvSpPr>
            <a:spLocks xmlns:a="http://schemas.openxmlformats.org/drawingml/2006/main" noGrp="1"/>
          </p:cNvSpPr>
          <p:nvPr/>
        </p:nvSpPr>
        <p:spPr>
          <a:xfrm xmlns:a="http://schemas.openxmlformats.org/drawingml/2006/main">
            <a:off x="704850" y="1800225"/>
            <a:ext cx="685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D6F879"/>
                </a:solidFill>
                <a:latin typeface="Arial"/>
                <a:ea typeface="Arial"/>
                <a:cs typeface="Arial"/>
              </a:defRPr>
            </a:pPr>
            <a:r>
              <a:rPr sz="2400" b="1">
                <a:solidFill>
                  <a:srgbClr val="D6F879"/>
                </a:solidFill>
                <a:latin typeface="Arial"/>
                <a:ea typeface="Arial"/>
                <a:cs typeface="Arial"/>
              </a:rPr>
              <a:t>Екі тілдегі презентациялар</a:t>
            </a:r>
          </a:p>
        </p:txBody>
      </p:sp>
      <p:sp>
        <p:nvSpPr>
          <p:cNvPr id="3" name="Materials 60 сценарийден тұратын к">
            <a:extLst xmlns:a="http://schemas.openxmlformats.org/drawingml/2006/main">
              <a:ext uri="{FF2B5EF4-FFF2-40B4-BE49-F238E27FC236}">
                <a16:creationId xmlns:a16="http://schemas.microsoft.com/office/drawing/2014/main" id="{DAD04DCE-9693-4044-AFB9-9F2BAC4E2541}"/>
              </a:ext>
            </a:extLst>
          </p:cNvPr>
          <p:cNvSpPr>
            <a:spLocks xmlns:a="http://schemas.openxmlformats.org/drawingml/2006/main" noGrp="1"/>
          </p:cNvSpPr>
          <p:nvPr/>
        </p:nvSpPr>
        <p:spPr>
          <a:xfrm xmlns:a="http://schemas.openxmlformats.org/drawingml/2006/main">
            <a:off x="704850" y="2543175"/>
            <a:ext cx="685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F5F6F1"/>
                </a:solidFill>
                <a:latin typeface="Arial"/>
                <a:ea typeface="Arial"/>
                <a:cs typeface="Arial"/>
              </a:defRPr>
            </a:pPr>
            <a:r>
              <a:rPr sz="2400" b="0">
                <a:solidFill>
                  <a:srgbClr val="F5F6F1"/>
                </a:solidFill>
                <a:latin typeface="Arial"/>
                <a:ea typeface="Arial"/>
                <a:cs typeface="Arial"/>
              </a:rPr>
              <a:t>60 сценарийден тұратын кітапхана</a:t>
            </a:r>
          </a:p>
        </p:txBody>
      </p:sp>
      <p:sp>
        <p:nvSpPr>
          <p:cNvPr id="4" name="Materials Excel және Word оқу файл">
            <a:extLst xmlns:a="http://schemas.openxmlformats.org/drawingml/2006/main">
              <a:ext uri="{FF2B5EF4-FFF2-40B4-BE49-F238E27FC236}">
                <a16:creationId xmlns:a16="http://schemas.microsoft.com/office/drawing/2014/main" id="{9144EAE3-8DF8-4D48-9112-C45FDEBF3259}"/>
              </a:ext>
            </a:extLst>
          </p:cNvPr>
          <p:cNvSpPr>
            <a:spLocks xmlns:a="http://schemas.openxmlformats.org/drawingml/2006/main" noGrp="1"/>
          </p:cNvSpPr>
          <p:nvPr/>
        </p:nvSpPr>
        <p:spPr>
          <a:xfrm xmlns:a="http://schemas.openxmlformats.org/drawingml/2006/main">
            <a:off x="704850" y="3286125"/>
            <a:ext cx="685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F5F6F1"/>
                </a:solidFill>
                <a:latin typeface="Arial"/>
                <a:ea typeface="Arial"/>
                <a:cs typeface="Arial"/>
              </a:defRPr>
            </a:pPr>
            <a:r>
              <a:rPr sz="2400" b="0">
                <a:solidFill>
                  <a:srgbClr val="F5F6F1"/>
                </a:solidFill>
                <a:latin typeface="Arial"/>
                <a:ea typeface="Arial"/>
                <a:cs typeface="Arial"/>
              </a:rPr>
              <a:t>Excel және Word оқу файлдары</a:t>
            </a:r>
          </a:p>
        </p:txBody>
      </p:sp>
      <p:sp>
        <p:nvSpPr>
          <p:cNvPr id="5" name="Materials Практикаға арналған нұсқ">
            <a:extLst xmlns:a="http://schemas.openxmlformats.org/drawingml/2006/main">
              <a:ext uri="{FF2B5EF4-FFF2-40B4-BE49-F238E27FC236}">
                <a16:creationId xmlns:a16="http://schemas.microsoft.com/office/drawing/2014/main" id="{18D59B31-122F-4A48-9ADE-E0962077C284}"/>
              </a:ext>
            </a:extLst>
          </p:cNvPr>
          <p:cNvSpPr>
            <a:spLocks xmlns:a="http://schemas.openxmlformats.org/drawingml/2006/main" noGrp="1"/>
          </p:cNvSpPr>
          <p:nvPr/>
        </p:nvSpPr>
        <p:spPr>
          <a:xfrm xmlns:a="http://schemas.openxmlformats.org/drawingml/2006/main">
            <a:off x="704850" y="4029075"/>
            <a:ext cx="685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F5F6F1"/>
                </a:solidFill>
                <a:latin typeface="Arial"/>
                <a:ea typeface="Arial"/>
                <a:cs typeface="Arial"/>
              </a:defRPr>
            </a:pPr>
            <a:r>
              <a:rPr sz="2400" b="0">
                <a:solidFill>
                  <a:srgbClr val="F5F6F1"/>
                </a:solidFill>
                <a:latin typeface="Arial"/>
                <a:ea typeface="Arial"/>
                <a:cs typeface="Arial"/>
              </a:rPr>
              <a:t>Практикаға арналған нұсқаулық</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701673e7de64129"/>
          <a:stretch xmlns:a="http://schemas.openxmlformats.org/drawingml/2006/main"/>
        </p:blipFill>
        <p:spPr>
          <a:xfrm xmlns:a="http://schemas.openxmlformats.org/drawingml/2006/main">
            <a:off x="8029575" y="1457325"/>
            <a:ext cx="3429000" cy="3429000"/>
          </a:xfrm>
          <a:prstGeom xmlns:a="http://schemas.openxmlformats.org/drawingml/2006/main" prst="rect">
            <a:avLst/>
          </a:prstGeom>
        </p:spPr>
      </p:pic>
      <p:sp>
        <p:nvSpPr>
          <p:cNvPr id="7" name="Scan QR">
            <a:extLst xmlns:a="http://schemas.openxmlformats.org/drawingml/2006/main">
              <a:ext uri="{FF2B5EF4-FFF2-40B4-BE49-F238E27FC236}">
                <a16:creationId xmlns:a16="http://schemas.microsoft.com/office/drawing/2014/main" id="{A30327D0-557C-4FC9-B8CD-8E0BFBB931B5}"/>
              </a:ext>
            </a:extLst>
          </p:cNvPr>
          <p:cNvSpPr>
            <a:spLocks xmlns:a="http://schemas.openxmlformats.org/drawingml/2006/main" noGrp="1"/>
          </p:cNvSpPr>
          <p:nvPr/>
        </p:nvSpPr>
        <p:spPr>
          <a:xfrm xmlns:a="http://schemas.openxmlformats.org/drawingml/2006/main">
            <a:off x="7905750" y="5000625"/>
            <a:ext cx="371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BDC7D4"/>
                </a:solidFill>
                <a:latin typeface="Arial"/>
                <a:ea typeface="Arial"/>
                <a:cs typeface="Arial"/>
              </a:defRPr>
            </a:pPr>
            <a:r>
              <a:rPr sz="1875" b="0">
                <a:solidFill>
                  <a:srgbClr val="BDC7D4"/>
                </a:solidFill>
                <a:latin typeface="Arial"/>
                <a:ea typeface="Arial"/>
                <a:cs typeface="Arial"/>
              </a:rPr>
              <a:t>Телефон камерасын бағыттаңыз</a:t>
            </a:r>
          </a:p>
        </p:txBody>
      </p:sp>
      <p:sp>
        <p:nvSpPr>
          <p:cNvPr id="8" name="Website URL">
            <a:extLst xmlns:a="http://schemas.openxmlformats.org/drawingml/2006/main">
              <a:ext uri="{FF2B5EF4-FFF2-40B4-BE49-F238E27FC236}">
                <a16:creationId xmlns:a16="http://schemas.microsoft.com/office/drawing/2014/main" id="{D146D652-BCB6-4743-BAF4-E167684244B9}"/>
              </a:ext>
            </a:extLst>
          </p:cNvPr>
          <p:cNvSpPr>
            <a:spLocks xmlns:a="http://schemas.openxmlformats.org/drawingml/2006/main" noGrp="1"/>
          </p:cNvSpPr>
          <p:nvPr/>
        </p:nvSpPr>
        <p:spPr>
          <a:xfrm xmlns:a="http://schemas.openxmlformats.org/drawingml/2006/main">
            <a:off x="704850" y="587692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D6F879"/>
                </a:solidFill>
                <a:latin typeface="Arial"/>
                <a:ea typeface="Arial"/>
                <a:cs typeface="Arial"/>
              </a:defRPr>
            </a:pPr>
            <a:r>
              <a:rPr sz="1875" b="0">
                <a:solidFill>
                  <a:srgbClr val="D6F879"/>
                </a:solidFill>
                <a:latin typeface="Arial"/>
                <a:ea typeface="Arial"/>
                <a:cs typeface="Arial"/>
              </a:rPr>
              <a:t>nursultannurmukhamet.github.io/ai-masterclass-materials/</a:t>
            </a:r>
          </a:p>
        </p:txBody>
      </p:sp>
      <p:sp>
        <p:nvSpPr>
          <p:cNvPr id="9" name="Materials page 50">
            <a:extLst xmlns:a="http://schemas.openxmlformats.org/drawingml/2006/main">
              <a:ext uri="{FF2B5EF4-FFF2-40B4-BE49-F238E27FC236}">
                <a16:creationId xmlns:a16="http://schemas.microsoft.com/office/drawing/2014/main" id="{90506BEC-2043-4C86-9E51-AAC7DCE7F72D}"/>
              </a:ext>
            </a:extLst>
          </p:cNvPr>
          <p:cNvSpPr>
            <a:spLocks xmlns:a="http://schemas.openxmlformats.org/drawingml/2006/main" noGrp="1"/>
          </p:cNvSpPr>
          <p:nvPr/>
        </p:nvSpPr>
        <p:spPr>
          <a:xfrm xmlns:a="http://schemas.openxmlformats.org/drawingml/2006/main">
            <a:off x="11191875" y="64008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BDC7D4"/>
                </a:solidFill>
                <a:latin typeface="Arial"/>
                <a:ea typeface="Arial"/>
                <a:cs typeface="Arial"/>
              </a:defRPr>
            </a:pPr>
            <a:r>
              <a:rPr sz="1425" b="0">
                <a:solidFill>
                  <a:srgbClr val="BDC7D4"/>
                </a:solidFill>
                <a:latin typeface="Arial"/>
                <a:ea typeface="Arial"/>
                <a:cs typeface="Arial"/>
              </a:rPr>
              <a:t>50</a:t>
            </a:r>
          </a:p>
        </p:txBody>
      </p:sp>
    </p:spTree>
    <p:extLst>
      <p:ext uri="{BB962C8B-B14F-4D97-AF65-F5344CB8AC3E}">
        <p14:creationId xmlns:p14="http://schemas.microsoft.com/office/powerpoint/2010/main" val="17956683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2026-09-16T11:17:57.4730000Z</dcterms:created>
  <dcterms:modified xsi:type="dcterms:W3CDTF">2026-09-16T11:17:57.4730000Z</dcterms:modified>
</coreProperties>
</file>